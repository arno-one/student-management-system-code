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各位老师好，今天汇报的不是一个会聊天的功能，而是一套嵌入学生管理系统的 Agent 工程化子系统。它从 v1.0 MVP 演进到 v2.3，核心变化是从单点能力走向可控、可扩展、可观测、可回归的长期运行体系。</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先给结论：当前交付已经从功能点升级为工程能力矩阵。系统沉淀了 11 类意图、8 个业务工具、3 个 Persona、3 类结构化卡片，并且有验收、测试和回归证据支撑这些能力不是孤立演示。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这套 Agent 的价值不只看功能数量，而要看四个可验证维度：可控、可扩展、可观测、可回归。Planner、Executor 和 HITL 提供控制力，BaseTool 和卡片协议提供扩展力，AgentTask 与反馈面板提供观测力，UI 回归和 Playwright 提供回归能力。</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架构上最重要的判断，是把 `agent_system` 做成独立子系统，而不是侵入原有学生、成绩、班级和就业模块。这样 Agent 能持续迭代，但原业务主干仍保持边界清晰，降低了后续改造的风险。</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系统没有让大模型自由拍板调用工具，而是让意图分类、计划生成和注册表驱动执行。这样做的目的，是把“不调用、调错、重复调用”这三类风险收敛到确定链路里，让每一步都可以追踪和降级。</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RAG 也不是简单接入向量库，而是一条问答质量工程链。它从入库切片、混合召回、CrossEncoder 精排，到 small-to-big 上下文扩展、来源引用和资料不足拒答，都是围绕“答得准，也知道什么时候不能乱答”来设计的。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v2.0 的真正转折不是新增几个工具，而是统一底座。BaseTool、ToolContext、工具注册表和 PlanStep 链式执行，让后续天气、邮件、通勤、周边服务以及 Supervisor 协作都能用同一种方式接入。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 v1.0 到 v2.3，系统经历的是一条从可运行到可运营的路线。v1.0 先跑通最小闭环，v2.0 统一底座，v2.1 建立反馈和监控，v2.2 补长期可用能力，v2.3 则把体验、监控和协作进一步收口。</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验收结论可以直接给出：21 项验收条目全部通过，通过率为百分之百。这里的通过不是只看演示效果，而是把必须完成、推荐完成、可选扩展和非功能要求都放进同一张证据表里核对。</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非功能验收说明，这不是一次性 Demo。稳定性来自独立边界和降级策略，可维护性来自分层目录和独立模型，可扩展性来自统一工具契约，安全性来自权限、白名单和 HITL，用户体验则由流式回复、全局入口和结构化卡片共同支撑。</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系统好不好用，不靠主观感觉，而要看任务、反馈、监控和健康状态。AgentTask 记录任务链路，AgentFeedback 收集用户评价，Provider、意图、工具和 MCP 健康状态让问题能从指标回到具体链路。</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Supervisor 的价值在于证明多 Agent 协作已经跨域跑通，但它没有急着做大而全的平台。当前用路线规划加邮件通知作为最小闭环，让 Supervisor 负责拆解和汇总，MapAgent 与通信 Agent 复用已有工具，邮件发送前仍由 HITL 兜住风险。</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交付物不是一组截图，而是一条可以复查的证据链。需求与迭代文档说明范围，模型和接口说明系统边界，测试文档和协议规范说明能力可以被重复验证和继续扩展。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现场演示建议先从用户体验进入，再切到后台治理，最后回到架构价值。这样观众先看到系统能解决什么问题，再看到为什么它不是偶然能跑通，最后理解 Planner、BaseTool、HITL 和 Supervisor 的工程意义。</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当前最小闭环已经闭上，后续重点不应只是继续横向加功能，而是治理复杂度。下一阶段建议继续完善能力目录、扩展结构化卡片、沉淀可复用测试数据，并把监控面板从定位问题推进到辅助决策。</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回到最后一句话，我们做的不是一个会聊天的功能，而是一套能在真实业务系统里长期运行、持续扩展，并且可以被管理和优化的 Agent 子系统。它已经具备长期运行、风险治理、观测运维和回归验证的工程化落地能力。</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f1464a5c82d4453.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7ad635170420ef.jpg"/>
  <Relationship Id="rId3" Type="http://schemas.openxmlformats.org/officeDocument/2006/relationships/image" Target="../media/image_04bb4896db6148d8.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b2720c6a0ac7cab.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dc2dadf852197e3.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7ad635170420ef.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ff6f79349fe1c78.jpg"/>
  <Relationship Id="rId3"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05070D">
                    <a:alpha val="96000"/>
                  </a:srgbClr>
                </a:gs>
                <a:gs pos="55000">
                  <a:srgbClr val="05070D">
                    <a:alpha val="64000"/>
                  </a:srgbClr>
                </a:gs>
                <a:gs pos="100000">
                  <a:srgbClr val="05070D">
                    <a:alpha val="18000"/>
                  </a:srgbClr>
                </a:gs>
              </a:gsLst>
              <a:lin ang="0" scaled="1"/>
            </a:gradFill>
            <a:ln>
              <a:noFill/>
            </a:ln>
          </p:spPr>
        </p:sp>
        <p:sp>
          <p:nvSpPr>
            <p:cNvPr id="5" name="Freeform 5"/>
            <p:cNvSpPr/>
            <p:nvPr/>
          </p:nvSpPr>
          <p:spPr>
            <a:xfrm>
              <a:off x="533400" y="381000"/>
              <a:ext cx="10896600" cy="6096000"/>
            </a:xfrm>
            <a:custGeom>
              <a:avLst/>
              <a:gdLst/>
              <a:ahLst/>
              <a:cxnLst/>
              <a:rect l="l" t="t" r="r" b="b"/>
              <a:pathLst>
                <a:path w="10896600" h="6096000">
                  <a:moveTo>
                    <a:pt x="0" y="381000"/>
                  </a:moveTo>
                  <a:lnTo>
                    <a:pt x="10706100" y="381000"/>
                  </a:lnTo>
                  <a:moveTo>
                    <a:pt x="0" y="5715000"/>
                  </a:moveTo>
                  <a:lnTo>
                    <a:pt x="10706100" y="5715000"/>
                  </a:lnTo>
                  <a:moveTo>
                    <a:pt x="381000" y="0"/>
                  </a:moveTo>
                  <a:lnTo>
                    <a:pt x="381000" y="6096000"/>
                  </a:lnTo>
                  <a:moveTo>
                    <a:pt x="10896600" y="0"/>
                  </a:moveTo>
                  <a:lnTo>
                    <a:pt x="10896600" y="6096000"/>
                  </a:lnTo>
                </a:path>
              </a:pathLst>
            </a:custGeom>
            <a:noFill/>
            <a:ln w="9525">
              <a:solidFill>
                <a:srgbClr val="1C2A3D"/>
              </a:solidFill>
              <a:prstDash val="lgDash"/>
            </a:ln>
          </p:spPr>
        </p:sp>
      </p:grpSp>
      <p:grpSp>
        <p:nvGrpSpPr>
          <p:cNvPr id="10" name="Group 10"/>
          <p:cNvGrpSpPr/>
          <p:nvPr/>
        </p:nvGrpSpPr>
        <p:grpSpPr>
          <a:xfrm>
            <a:off x="666750" y="1168718"/>
            <a:ext cx="9339468" cy="4245863"/>
            <a:chOff x="666750" y="1168718"/>
            <a:chExt cx="9339468" cy="4245863"/>
          </a:xfrm>
        </p:grpSpPr>
        <p:sp>
          <p:nvSpPr>
            <p:cNvPr id="7" name="TextBox 7"/>
            <p:cNvSpPr txBox="1"/>
            <p:nvPr/>
          </p:nvSpPr>
          <p:spPr>
            <a:xfrm>
              <a:off x="697992" y="1168718"/>
              <a:ext cx="4869160" cy="264033"/>
            </a:xfrm>
            <a:prstGeom prst="rect">
              <a:avLst/>
            </a:prstGeom>
            <a:noFill/>
            <a:ln>
              <a:noFill/>
            </a:ln>
          </p:spPr>
          <p:txBody>
            <a:bodyPr wrap="none" lIns="0" tIns="0" rIns="0" bIns="0" anchor="t" anchorCtr="0">
              <a:spAutoFit/>
            </a:bodyPr>
            <a:lstStyle/>
            <a:p>
              <a:pPr algn="l"/>
              <a:r>
                <a:rPr lang="en-US" sz="1350" spc="150" dirty="0">
                  <a:solidFill>
                    <a:srgbClr val="7DD3FC"/>
                  </a:solidFill>
                  <a:latin typeface="Consolas"/>
                  <a:ea typeface="Consolas"/>
                  <a:cs typeface="Consolas"/>
                </a:rPr>
                <a:t>AGENT SYSTEM BLUEPRINT · v1.0 MVP -&gt; v2.3</a:t>
              </a:r>
            </a:p>
          </p:txBody>
        </p:sp>
        <p:sp>
          <p:nvSpPr>
            <p:cNvPr id="8" name="TextBox 8"/>
            <p:cNvSpPr txBox="1"/>
            <p:nvPr/>
          </p:nvSpPr>
          <p:spPr>
            <a:xfrm>
              <a:off x="666750" y="1717358"/>
              <a:ext cx="4958715" cy="2943225"/>
            </a:xfrm>
            <a:prstGeom prst="rect">
              <a:avLst/>
            </a:prstGeom>
            <a:noFill/>
            <a:ln>
              <a:noFill/>
            </a:ln>
          </p:spPr>
          <p:txBody>
            <a:bodyPr wrap="square" lIns="0" tIns="0" rIns="0" bIns="0" anchor="t" anchorCtr="0"/>
            <a:lstStyle/>
            <a:p>
              <a:pPr algn="l">
                <a:lnSpc>
                  <a:spcPts val="6900"/>
                </a:lnSpc>
              </a:pPr>
              <a:r>
                <a:rPr lang="zh-CN" sz="6150" b="1" dirty="0">
                  <a:solidFill>
                    <a:srgbClr val="F8FAFC"/>
                  </a:solidFill>
                  <a:latin typeface="Arial"/>
                  <a:ea typeface="Microsoft YaHei"/>
                  <a:cs typeface="Arial"/>
                </a:rPr>
                <a:t>学生管理系统</a:t>
              </a:r>
              <a:r>
                <a:rPr lang="zh-CN" sz="6150" b="1" dirty="0">
                  <a:solidFill>
                    <a:srgbClr val="F8FAFC"/>
                  </a:solidFill>
                  <a:latin typeface="Arial"/>
                  <a:ea typeface="Microsoft YaHei"/>
                  <a:cs typeface="Arial"/>
                </a:rPr>
                <a:t>Agent 子系</a:t>
              </a:r>
              <a:r>
                <a:rPr lang="zh-CN" sz="6150" b="1" dirty="0">
                  <a:solidFill>
                    <a:srgbClr val="7DD3FC"/>
                  </a:solidFill>
                  <a:latin typeface="Arial"/>
                  <a:ea typeface="Microsoft YaHei"/>
                  <a:cs typeface="Arial"/>
                </a:rPr>
                <a:t>工程化蓝</a:t>
              </a:r>
            </a:p>
          </p:txBody>
        </p:sp>
        <p:sp>
          <p:nvSpPr>
            <p:cNvPr id="9" name="TextBox 9"/>
            <p:cNvSpPr txBox="1"/>
            <p:nvPr/>
          </p:nvSpPr>
          <p:spPr>
            <a:xfrm>
              <a:off x="710946" y="4915852"/>
              <a:ext cx="9295272" cy="498729"/>
            </a:xfrm>
            <a:prstGeom prst="rect">
              <a:avLst/>
            </a:prstGeom>
            <a:noFill/>
            <a:ln>
              <a:noFill/>
            </a:ln>
          </p:spPr>
          <p:txBody>
            <a:bodyPr wrap="none" lIns="0" tIns="0" rIns="0" bIns="0" anchor="t" anchorCtr="0">
              <a:spAutoFit/>
            </a:bodyPr>
            <a:lstStyle/>
            <a:p>
              <a:pPr algn="l"/>
              <a:r>
                <a:rPr lang="zh-CN" sz="2550" dirty="0">
                  <a:solidFill>
                    <a:srgbClr val="B6C2D2"/>
                  </a:solidFill>
                  <a:latin typeface="Arial"/>
                  <a:ea typeface="Microsoft YaHei"/>
                  <a:cs typeface="Arial"/>
                </a:rPr>
                <a:t>从系统里加一个聊天框”到“落地一套可运营?Agent 工程体系</a:t>
              </a:r>
            </a:p>
          </p:txBody>
        </p:sp>
      </p:grpSp>
      <p:grpSp>
        <p:nvGrpSpPr>
          <p:cNvPr id="22" name="Group 22"/>
          <p:cNvGrpSpPr/>
          <p:nvPr/>
        </p:nvGrpSpPr>
        <p:grpSpPr>
          <a:xfrm>
            <a:off x="704850" y="5676900"/>
            <a:ext cx="5429250" cy="438150"/>
            <a:chOff x="704850" y="5676900"/>
            <a:chExt cx="5429250" cy="438150"/>
          </a:xfrm>
        </p:grpSpPr>
        <p:sp>
          <p:nvSpPr>
            <p:cNvPr id="11" name="Rectangle 11"/>
            <p:cNvSpPr/>
            <p:nvPr/>
          </p:nvSpPr>
          <p:spPr>
            <a:xfrm>
              <a:off x="704850" y="5676900"/>
              <a:ext cx="1619250" cy="438150"/>
            </a:xfrm>
            <a:prstGeom prst="roundRect">
              <a:avLst>
                <a:gd name="adj" fmla="val 13043"/>
              </a:avLst>
            </a:prstGeom>
            <a:solidFill>
              <a:srgbClr val="111827"/>
            </a:solidFill>
            <a:ln w="9525">
              <a:solidFill>
                <a:srgbClr val="2A3A52"/>
              </a:solidFill>
            </a:ln>
          </p:spPr>
        </p:sp>
        <p:sp>
          <p:nvSpPr>
            <p:cNvPr id="12" name="Freeform 12"/>
            <p:cNvSpPr/>
            <p:nvPr/>
          </p:nvSpPr>
          <p:spPr>
            <a:xfrm>
              <a:off x="876300" y="578167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22C55E"/>
            </a:solidFill>
            <a:ln>
              <a:noFill/>
            </a:ln>
          </p:spPr>
        </p:sp>
        <p:sp>
          <p:nvSpPr>
            <p:cNvPr id="13" name="TextBox 13"/>
            <p:cNvSpPr txBox="1"/>
            <p:nvPr/>
          </p:nvSpPr>
          <p:spPr>
            <a:xfrm>
              <a:off x="1193292" y="5816918"/>
              <a:ext cx="940575" cy="264033"/>
            </a:xfrm>
            <a:prstGeom prst="rect">
              <a:avLst/>
            </a:prstGeom>
            <a:noFill/>
            <a:ln>
              <a:noFill/>
            </a:ln>
          </p:spPr>
          <p:txBody>
            <a:bodyPr wrap="none" lIns="0" tIns="0" rIns="0" bIns="0" anchor="t" anchorCtr="0">
              <a:spAutoFit/>
            </a:bodyPr>
            <a:lstStyle/>
            <a:p>
              <a:pPr algn="l"/>
              <a:r>
                <a:rPr lang="zh-CN" sz="1350" dirty="0">
                  <a:solidFill>
                    <a:srgbClr val="F8FAFC"/>
                  </a:solidFill>
                  <a:latin typeface="Arial"/>
                  <a:ea typeface="Microsoft YaHei"/>
                  <a:cs typeface="Arial"/>
                </a:rPr>
                <a:t>21项全通过</a:t>
              </a:r>
            </a:p>
          </p:txBody>
        </p:sp>
        <p:sp>
          <p:nvSpPr>
            <p:cNvPr id="14" name="Rectangle 14"/>
            <p:cNvSpPr/>
            <p:nvPr/>
          </p:nvSpPr>
          <p:spPr>
            <a:xfrm>
              <a:off x="2514600" y="5676900"/>
              <a:ext cx="1619250" cy="438150"/>
            </a:xfrm>
            <a:prstGeom prst="roundRect">
              <a:avLst>
                <a:gd name="adj" fmla="val 13043"/>
              </a:avLst>
            </a:prstGeom>
            <a:solidFill>
              <a:srgbClr val="111827"/>
            </a:solidFill>
            <a:ln w="9525">
              <a:solidFill>
                <a:srgbClr val="2A3A52"/>
              </a:solidFill>
            </a:ln>
          </p:spPr>
        </p:sp>
        <p:sp>
          <p:nvSpPr>
            <p:cNvPr id="15" name="Freeform 15"/>
            <p:cNvSpPr/>
            <p:nvPr/>
          </p:nvSpPr>
          <p:spPr>
            <a:xfrm>
              <a:off x="2686050" y="5781675"/>
              <a:ext cx="228600" cy="214312"/>
            </a:xfrm>
            <a:custGeom>
              <a:avLst/>
              <a:gdLst/>
              <a:ahLst/>
              <a:cxnLst/>
              <a:rect l="l" t="t" r="r" b="b"/>
              <a:pathLst>
                <a:path w="228600" h="214312">
                  <a:moveTo>
                    <a:pt x="128588" y="0"/>
                  </a:moveTo>
                  <a:lnTo>
                    <a:pt x="128588" y="28575"/>
                  </a:lnTo>
                  <a:lnTo>
                    <a:pt x="185738" y="28575"/>
                  </a:lnTo>
                  <a:lnTo>
                    <a:pt x="228600" y="121444"/>
                  </a:lnTo>
                  <a:lnTo>
                    <a:pt x="185738" y="214312"/>
                  </a:lnTo>
                  <a:lnTo>
                    <a:pt x="42862" y="214312"/>
                  </a:lnTo>
                  <a:lnTo>
                    <a:pt x="0" y="121444"/>
                  </a:lnTo>
                  <a:lnTo>
                    <a:pt x="42862" y="28575"/>
                  </a:lnTo>
                  <a:lnTo>
                    <a:pt x="100012" y="28575"/>
                  </a:lnTo>
                  <a:lnTo>
                    <a:pt x="100012" y="0"/>
                  </a:lnTo>
                  <a:lnTo>
                    <a:pt x="128588" y="0"/>
                  </a:lnTo>
                  <a:close/>
                  <a:moveTo>
                    <a:pt x="65693" y="167712"/>
                  </a:moveTo>
                  <a:lnTo>
                    <a:pt x="114300" y="175190"/>
                  </a:lnTo>
                  <a:lnTo>
                    <a:pt x="162908" y="167712"/>
                  </a:lnTo>
                  <a:lnTo>
                    <a:pt x="158561" y="139469"/>
                  </a:lnTo>
                  <a:lnTo>
                    <a:pt x="114300" y="146278"/>
                  </a:lnTo>
                  <a:lnTo>
                    <a:pt x="70038" y="139469"/>
                  </a:lnTo>
                  <a:lnTo>
                    <a:pt x="65693" y="167712"/>
                  </a:lnTo>
                  <a:close/>
                  <a:moveTo>
                    <a:pt x="100012" y="96441"/>
                  </a:moveTo>
                  <a:cubicBezTo>
                    <a:pt x="100012" y="106304"/>
                    <a:pt x="92017" y="114300"/>
                    <a:pt x="82153" y="114300"/>
                  </a:cubicBezTo>
                  <a:cubicBezTo>
                    <a:pt x="72290" y="114300"/>
                    <a:pt x="64294" y="106304"/>
                    <a:pt x="64294" y="96441"/>
                  </a:cubicBezTo>
                  <a:cubicBezTo>
                    <a:pt x="64294" y="86577"/>
                    <a:pt x="72290" y="78581"/>
                    <a:pt x="82153" y="78581"/>
                  </a:cubicBezTo>
                  <a:cubicBezTo>
                    <a:pt x="92017" y="78581"/>
                    <a:pt x="100012" y="86577"/>
                    <a:pt x="100012" y="96441"/>
                  </a:cubicBezTo>
                  <a:close/>
                  <a:moveTo>
                    <a:pt x="146447" y="114300"/>
                  </a:moveTo>
                  <a:cubicBezTo>
                    <a:pt x="156311" y="114300"/>
                    <a:pt x="164306" y="106304"/>
                    <a:pt x="164306" y="96441"/>
                  </a:cubicBezTo>
                  <a:cubicBezTo>
                    <a:pt x="164306" y="86577"/>
                    <a:pt x="156311" y="78581"/>
                    <a:pt x="146447" y="78581"/>
                  </a:cubicBezTo>
                  <a:cubicBezTo>
                    <a:pt x="136583" y="78581"/>
                    <a:pt x="128588" y="86577"/>
                    <a:pt x="128588" y="96441"/>
                  </a:cubicBezTo>
                  <a:cubicBezTo>
                    <a:pt x="128588" y="106304"/>
                    <a:pt x="136583" y="114300"/>
                    <a:pt x="146447" y="114300"/>
                  </a:cubicBezTo>
                  <a:close/>
                </a:path>
              </a:pathLst>
            </a:custGeom>
            <a:solidFill>
              <a:srgbClr val="7DD3FC"/>
            </a:solidFill>
            <a:ln>
              <a:noFill/>
            </a:ln>
          </p:spPr>
        </p:sp>
        <p:sp>
          <p:nvSpPr>
            <p:cNvPr id="16" name="TextBox 16"/>
            <p:cNvSpPr txBox="1"/>
            <p:nvPr/>
          </p:nvSpPr>
          <p:spPr>
            <a:xfrm>
              <a:off x="3003042" y="5816918"/>
              <a:ext cx="840619" cy="264033"/>
            </a:xfrm>
            <a:prstGeom prst="rect">
              <a:avLst/>
            </a:prstGeom>
            <a:noFill/>
            <a:ln>
              <a:noFill/>
            </a:ln>
          </p:spPr>
          <p:txBody>
            <a:bodyPr wrap="none" lIns="0" tIns="0" rIns="0" bIns="0" anchor="t" anchorCtr="0">
              <a:spAutoFit/>
            </a:bodyPr>
            <a:lstStyle/>
            <a:p>
              <a:pPr algn="l"/>
              <a:r>
                <a:rPr lang="zh-CN" sz="1350" dirty="0">
                  <a:solidFill>
                    <a:srgbClr val="F8FAFC"/>
                  </a:solidFill>
                  <a:latin typeface="Arial"/>
                  <a:ea typeface="Microsoft YaHei"/>
                  <a:cs typeface="Arial"/>
                </a:rPr>
                <a:t>8个工具链</a:t>
              </a:r>
            </a:p>
          </p:txBody>
        </p:sp>
        <p:sp>
          <p:nvSpPr>
            <p:cNvPr id="17" name="Rectangle 17"/>
            <p:cNvSpPr/>
            <p:nvPr/>
          </p:nvSpPr>
          <p:spPr>
            <a:xfrm>
              <a:off x="4324350" y="5676900"/>
              <a:ext cx="1809750" cy="438150"/>
            </a:xfrm>
            <a:prstGeom prst="roundRect">
              <a:avLst>
                <a:gd name="adj" fmla="val 13043"/>
              </a:avLst>
            </a:prstGeom>
            <a:solidFill>
              <a:srgbClr val="111827"/>
            </a:solidFill>
            <a:ln w="9525">
              <a:solidFill>
                <a:srgbClr val="2A3A52"/>
              </a:solidFill>
            </a:ln>
          </p:spPr>
        </p:sp>
        <p:grpSp>
          <p:nvGrpSpPr>
            <p:cNvPr id="20" name="Group 20"/>
            <p:cNvGrpSpPr/>
            <p:nvPr/>
          </p:nvGrpSpPr>
          <p:grpSpPr>
            <a:xfrm>
              <a:off x="4510088" y="5795962"/>
              <a:ext cx="200025" cy="200025"/>
              <a:chOff x="4510088" y="5795962"/>
              <a:chExt cx="200025" cy="200025"/>
            </a:xfrm>
          </p:grpSpPr>
          <p:sp>
            <p:nvSpPr>
              <p:cNvPr id="18" name="Freeform 18"/>
              <p:cNvSpPr/>
              <p:nvPr/>
            </p:nvSpPr>
            <p:spPr>
              <a:xfrm>
                <a:off x="4510088" y="5795962"/>
                <a:ext cx="200025" cy="200025"/>
              </a:xfrm>
              <a:custGeom>
                <a:avLst/>
                <a:gdLst/>
                <a:ahLst/>
                <a:cxnLst/>
                <a:rect l="l" t="t" r="r" b="b"/>
                <a:pathLst>
                  <a:path w="200025" h="200025">
                    <a:moveTo>
                      <a:pt x="0" y="0"/>
                    </a:moveTo>
                    <a:lnTo>
                      <a:pt x="0" y="200025"/>
                    </a:lnTo>
                    <a:lnTo>
                      <a:pt x="200025" y="200025"/>
                    </a:lnTo>
                    <a:lnTo>
                      <a:pt x="200025" y="171450"/>
                    </a:lnTo>
                    <a:lnTo>
                      <a:pt x="28575" y="171450"/>
                    </a:lnTo>
                    <a:lnTo>
                      <a:pt x="28575" y="0"/>
                    </a:lnTo>
                    <a:lnTo>
                      <a:pt x="0" y="0"/>
                    </a:lnTo>
                    <a:close/>
                  </a:path>
                </a:pathLst>
              </a:custGeom>
              <a:solidFill>
                <a:srgbClr val="F59E0B"/>
              </a:solidFill>
              <a:ln>
                <a:noFill/>
              </a:ln>
            </p:spPr>
          </p:sp>
          <p:sp>
            <p:nvSpPr>
              <p:cNvPr id="19" name="Freeform 19"/>
              <p:cNvSpPr/>
              <p:nvPr/>
            </p:nvSpPr>
            <p:spPr>
              <a:xfrm>
                <a:off x="4567238" y="5824538"/>
                <a:ext cx="142875" cy="114300"/>
              </a:xfrm>
              <a:custGeom>
                <a:avLst/>
                <a:gdLst/>
                <a:ahLst/>
                <a:cxnLst/>
                <a:rect l="l" t="t" r="r" b="b"/>
                <a:pathLst>
                  <a:path w="142875" h="114300">
                    <a:moveTo>
                      <a:pt x="0" y="57150"/>
                    </a:moveTo>
                    <a:lnTo>
                      <a:pt x="28575" y="28575"/>
                    </a:lnTo>
                    <a:lnTo>
                      <a:pt x="71438" y="71438"/>
                    </a:lnTo>
                    <a:lnTo>
                      <a:pt x="142875" y="0"/>
                    </a:lnTo>
                    <a:lnTo>
                      <a:pt x="142875" y="114300"/>
                    </a:lnTo>
                    <a:lnTo>
                      <a:pt x="0" y="114300"/>
                    </a:lnTo>
                    <a:lnTo>
                      <a:pt x="0" y="57150"/>
                    </a:lnTo>
                    <a:close/>
                  </a:path>
                </a:pathLst>
              </a:custGeom>
              <a:solidFill>
                <a:srgbClr val="F59E0B"/>
              </a:solidFill>
              <a:ln>
                <a:noFill/>
              </a:ln>
            </p:spPr>
          </p:sp>
        </p:grpSp>
        <p:sp>
          <p:nvSpPr>
            <p:cNvPr id="21" name="TextBox 21"/>
            <p:cNvSpPr txBox="1"/>
            <p:nvPr/>
          </p:nvSpPr>
          <p:spPr>
            <a:xfrm>
              <a:off x="4812792" y="5816918"/>
              <a:ext cx="740664" cy="264033"/>
            </a:xfrm>
            <a:prstGeom prst="rect">
              <a:avLst/>
            </a:prstGeom>
            <a:noFill/>
            <a:ln>
              <a:noFill/>
            </a:ln>
          </p:spPr>
          <p:txBody>
            <a:bodyPr wrap="none" lIns="0" tIns="0" rIns="0" bIns="0" anchor="t" anchorCtr="0">
              <a:spAutoFit/>
            </a:bodyPr>
            <a:lstStyle/>
            <a:p>
              <a:pPr algn="l"/>
              <a:r>
                <a:rPr lang="zh-CN" sz="1350" dirty="0">
                  <a:solidFill>
                    <a:srgbClr val="F8FAFC"/>
                  </a:solidFill>
                  <a:latin typeface="Arial"/>
                  <a:ea typeface="Microsoft YaHei"/>
                  <a:cs typeface="Arial"/>
                </a:rPr>
                <a:t>可观测运</a:t>
              </a:r>
            </a:p>
          </p:txBody>
        </p:sp>
      </p:grpSp>
      <p:sp>
        <p:nvSpPr>
          <p:cNvPr id="23" name="TextBox 23"/>
          <p:cNvSpPr txBox="1"/>
          <p:nvPr/>
        </p:nvSpPr>
        <p:spPr>
          <a:xfrm>
            <a:off x="698754" y="6385560"/>
            <a:ext cx="5088026"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Source: Agent系统介绍演讲?html.md + Agent系统验收说明文档.md</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6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0" y="0"/>
              <a:ext cx="12192000" cy="6858000"/>
            </a:xfrm>
            <a:custGeom>
              <a:avLst/>
              <a:gdLst/>
              <a:ahLst/>
              <a:cxnLst/>
              <a:rect l="l" t="t" r="r" b="b"/>
              <a:pathLst>
                <a:path w="12192000" h="6858000">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9525">
              <a:solidFill>
                <a:srgbClr val="1C2A3D"/>
              </a:solidFill>
              <a:custDash>
                <a:ds d="200000" sp="1000000"/>
              </a:custDash>
            </a:ln>
          </p:spPr>
        </p:sp>
      </p:grpSp>
      <p:grpSp>
        <p:nvGrpSpPr>
          <p:cNvPr id="7" name="Group 7"/>
          <p:cNvGrpSpPr/>
          <p:nvPr/>
        </p:nvGrpSpPr>
        <p:grpSpPr>
          <a:xfrm>
            <a:off x="514350" y="264795"/>
            <a:ext cx="7755865" cy="946594"/>
            <a:chOff x="514350" y="264795"/>
            <a:chExt cx="7755865" cy="946594"/>
          </a:xfrm>
        </p:grpSpPr>
        <p:sp>
          <p:nvSpPr>
            <p:cNvPr id="5" name="TextBox 5"/>
            <p:cNvSpPr txBox="1"/>
            <p:nvPr/>
          </p:nvSpPr>
          <p:spPr>
            <a:xfrm>
              <a:off x="514350" y="264795"/>
              <a:ext cx="775586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核心交付已经升级为工程能力矩</a:t>
              </a:r>
            </a:p>
          </p:txBody>
        </p:sp>
        <p:sp>
          <p:nvSpPr>
            <p:cNvPr id="6" name="TextBox 6"/>
            <p:cNvSpPr txBox="1"/>
            <p:nvPr/>
          </p:nvSpPr>
          <p:spPr>
            <a:xfrm>
              <a:off x="544068" y="888682"/>
              <a:ext cx="556983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能力、协议治理回归四类资产共同证明：这不是单点功能</a:t>
              </a:r>
            </a:p>
          </p:txBody>
        </p:sp>
      </p:grpSp>
      <p:grpSp>
        <p:nvGrpSpPr>
          <p:cNvPr id="12" name="Group 12"/>
          <p:cNvGrpSpPr/>
          <p:nvPr/>
        </p:nvGrpSpPr>
        <p:grpSpPr>
          <a:xfrm>
            <a:off x="609600" y="1466850"/>
            <a:ext cx="2476500" cy="1676400"/>
            <a:chOff x="609600" y="1466850"/>
            <a:chExt cx="2476500" cy="1676400"/>
          </a:xfrm>
        </p:grpSpPr>
        <p:sp>
          <p:nvSpPr>
            <p:cNvPr id="8" name="Rectangle 8"/>
            <p:cNvSpPr/>
            <p:nvPr/>
          </p:nvSpPr>
          <p:spPr>
            <a:xfrm>
              <a:off x="609600" y="1466850"/>
              <a:ext cx="2476500" cy="1676400"/>
            </a:xfrm>
            <a:prstGeom prst="roundRect">
              <a:avLst>
                <a:gd name="adj" fmla="val 3409"/>
              </a:avLst>
            </a:prstGeom>
            <a:solidFill>
              <a:srgbClr val="111827"/>
            </a:solidFill>
            <a:ln w="14288">
              <a:solidFill>
                <a:srgbClr val="2A3A52"/>
              </a:solidFill>
            </a:ln>
          </p:spPr>
        </p:sp>
        <p:sp>
          <p:nvSpPr>
            <p:cNvPr id="9" name="Freeform 9"/>
            <p:cNvSpPr/>
            <p:nvPr/>
          </p:nvSpPr>
          <p:spPr>
            <a:xfrm>
              <a:off x="907056" y="1571511"/>
              <a:ext cx="323850" cy="303609"/>
            </a:xfrm>
            <a:custGeom>
              <a:avLst/>
              <a:gdLst/>
              <a:ahLst/>
              <a:cxnLst/>
              <a:rect l="l" t="t" r="r" b="b"/>
              <a:pathLst>
                <a:path w="323850" h="303609">
                  <a:moveTo>
                    <a:pt x="182166" y="0"/>
                  </a:moveTo>
                  <a:lnTo>
                    <a:pt x="182166" y="40481"/>
                  </a:lnTo>
                  <a:lnTo>
                    <a:pt x="263128" y="40481"/>
                  </a:lnTo>
                  <a:lnTo>
                    <a:pt x="323850" y="172045"/>
                  </a:lnTo>
                  <a:lnTo>
                    <a:pt x="263128" y="303609"/>
                  </a:lnTo>
                  <a:lnTo>
                    <a:pt x="60722" y="303609"/>
                  </a:lnTo>
                  <a:lnTo>
                    <a:pt x="0" y="172045"/>
                  </a:lnTo>
                  <a:lnTo>
                    <a:pt x="60722" y="40481"/>
                  </a:lnTo>
                  <a:lnTo>
                    <a:pt x="141684" y="40481"/>
                  </a:lnTo>
                  <a:lnTo>
                    <a:pt x="141684" y="0"/>
                  </a:lnTo>
                  <a:lnTo>
                    <a:pt x="182166" y="0"/>
                  </a:lnTo>
                  <a:close/>
                  <a:moveTo>
                    <a:pt x="93065" y="237593"/>
                  </a:moveTo>
                  <a:lnTo>
                    <a:pt x="161925" y="248186"/>
                  </a:lnTo>
                  <a:lnTo>
                    <a:pt x="230786" y="237593"/>
                  </a:lnTo>
                  <a:lnTo>
                    <a:pt x="224628" y="197581"/>
                  </a:lnTo>
                  <a:lnTo>
                    <a:pt x="161925" y="207228"/>
                  </a:lnTo>
                  <a:lnTo>
                    <a:pt x="99221" y="197581"/>
                  </a:lnTo>
                  <a:lnTo>
                    <a:pt x="93065" y="237593"/>
                  </a:lnTo>
                  <a:close/>
                  <a:moveTo>
                    <a:pt x="141684" y="136624"/>
                  </a:moveTo>
                  <a:cubicBezTo>
                    <a:pt x="141684" y="150598"/>
                    <a:pt x="130357" y="161925"/>
                    <a:pt x="116384" y="161925"/>
                  </a:cubicBezTo>
                  <a:cubicBezTo>
                    <a:pt x="102410" y="161925"/>
                    <a:pt x="91083" y="150598"/>
                    <a:pt x="91083" y="136624"/>
                  </a:cubicBezTo>
                  <a:cubicBezTo>
                    <a:pt x="91083" y="122651"/>
                    <a:pt x="102410" y="111323"/>
                    <a:pt x="116384" y="111323"/>
                  </a:cubicBezTo>
                  <a:cubicBezTo>
                    <a:pt x="130357" y="111323"/>
                    <a:pt x="141684" y="122651"/>
                    <a:pt x="141684" y="136624"/>
                  </a:cubicBezTo>
                  <a:close/>
                  <a:moveTo>
                    <a:pt x="207466" y="161925"/>
                  </a:moveTo>
                  <a:cubicBezTo>
                    <a:pt x="221441" y="161925"/>
                    <a:pt x="232767" y="150598"/>
                    <a:pt x="232767" y="136624"/>
                  </a:cubicBezTo>
                  <a:cubicBezTo>
                    <a:pt x="232767" y="122651"/>
                    <a:pt x="221441" y="111323"/>
                    <a:pt x="207466" y="111323"/>
                  </a:cubicBezTo>
                  <a:cubicBezTo>
                    <a:pt x="193493" y="111323"/>
                    <a:pt x="182166" y="122651"/>
                    <a:pt x="182166" y="136624"/>
                  </a:cubicBezTo>
                  <a:cubicBezTo>
                    <a:pt x="182166" y="150598"/>
                    <a:pt x="193493" y="161925"/>
                    <a:pt x="207466" y="161925"/>
                  </a:cubicBezTo>
                  <a:close/>
                </a:path>
              </a:pathLst>
            </a:custGeom>
            <a:solidFill>
              <a:srgbClr val="7DD3FC"/>
            </a:solidFill>
            <a:ln>
              <a:noFill/>
            </a:ln>
          </p:spPr>
        </p:sp>
        <p:sp>
          <p:nvSpPr>
            <p:cNvPr id="10" name="TextBox 10"/>
            <p:cNvSpPr txBox="1"/>
            <p:nvPr/>
          </p:nvSpPr>
          <p:spPr>
            <a:xfrm>
              <a:off x="819150" y="1975485"/>
              <a:ext cx="924371" cy="1104900"/>
            </a:xfrm>
            <a:prstGeom prst="rect">
              <a:avLst/>
            </a:prstGeom>
            <a:noFill/>
            <a:ln>
              <a:noFill/>
            </a:ln>
          </p:spPr>
          <p:txBody>
            <a:bodyPr wrap="none" lIns="0" tIns="0" rIns="0" bIns="0" anchor="t" anchorCtr="0">
              <a:spAutoFit/>
            </a:bodyPr>
            <a:lstStyle/>
            <a:p>
              <a:pPr algn="l"/>
              <a:r>
                <a:rPr lang="en-US" sz="5700" b="1" dirty="0">
                  <a:solidFill>
                    <a:srgbClr val="7DD3FC"/>
                  </a:solidFill>
                  <a:latin typeface="Arial"/>
                  <a:ea typeface="Arial"/>
                  <a:cs typeface="Arial"/>
                </a:rPr>
                <a:t>11</a:t>
              </a:r>
            </a:p>
          </p:txBody>
        </p:sp>
        <p:sp>
          <p:nvSpPr>
            <p:cNvPr id="11" name="TextBox 11"/>
            <p:cNvSpPr txBox="1"/>
            <p:nvPr/>
          </p:nvSpPr>
          <p:spPr>
            <a:xfrm>
              <a:off x="829056" y="2739390"/>
              <a:ext cx="987552" cy="352044"/>
            </a:xfrm>
            <a:prstGeom prst="rect">
              <a:avLst/>
            </a:prstGeom>
            <a:noFill/>
            <a:ln>
              <a:noFill/>
            </a:ln>
          </p:spPr>
          <p:txBody>
            <a:bodyPr wrap="none" lIns="0" tIns="0" rIns="0" bIns="0" anchor="t" anchorCtr="0">
              <a:spAutoFit/>
            </a:bodyPr>
            <a:lstStyle/>
            <a:p>
              <a:pPr algn="l"/>
              <a:r>
                <a:rPr lang="zh-CN" sz="1800" dirty="0">
                  <a:solidFill>
                    <a:srgbClr val="B6C2D2"/>
                  </a:solidFill>
                  <a:latin typeface="Arial"/>
                  <a:ea typeface="Microsoft YaHei"/>
                  <a:cs typeface="Arial"/>
                </a:rPr>
                <a:t>意图识别</a:t>
              </a:r>
            </a:p>
          </p:txBody>
        </p:sp>
      </p:grpSp>
      <p:grpSp>
        <p:nvGrpSpPr>
          <p:cNvPr id="17" name="Group 17"/>
          <p:cNvGrpSpPr/>
          <p:nvPr/>
        </p:nvGrpSpPr>
        <p:grpSpPr>
          <a:xfrm>
            <a:off x="3371850" y="1466850"/>
            <a:ext cx="2476500" cy="1676400"/>
            <a:chOff x="3371850" y="1466850"/>
            <a:chExt cx="2476500" cy="1676400"/>
          </a:xfrm>
        </p:grpSpPr>
        <p:sp>
          <p:nvSpPr>
            <p:cNvPr id="13" name="Rectangle 13"/>
            <p:cNvSpPr/>
            <p:nvPr/>
          </p:nvSpPr>
          <p:spPr>
            <a:xfrm>
              <a:off x="3371850" y="1466850"/>
              <a:ext cx="2476500" cy="1676400"/>
            </a:xfrm>
            <a:prstGeom prst="roundRect">
              <a:avLst>
                <a:gd name="adj" fmla="val 3409"/>
              </a:avLst>
            </a:prstGeom>
            <a:solidFill>
              <a:srgbClr val="111827"/>
            </a:solidFill>
            <a:ln w="14288">
              <a:solidFill>
                <a:srgbClr val="2A3A52"/>
              </a:solidFill>
            </a:ln>
          </p:spPr>
        </p:sp>
        <p:sp>
          <p:nvSpPr>
            <p:cNvPr id="14" name="Freeform 14"/>
            <p:cNvSpPr/>
            <p:nvPr/>
          </p:nvSpPr>
          <p:spPr>
            <a:xfrm>
              <a:off x="3703320" y="1619298"/>
              <a:ext cx="283369" cy="283369"/>
            </a:xfrm>
            <a:custGeom>
              <a:avLst/>
              <a:gdLst/>
              <a:ahLst/>
              <a:cxnLst/>
              <a:rect l="l" t="t" r="r" b="b"/>
              <a:pathLst>
                <a:path w="283369" h="283369">
                  <a:moveTo>
                    <a:pt x="283369" y="0"/>
                  </a:moveTo>
                  <a:lnTo>
                    <a:pt x="0" y="0"/>
                  </a:lnTo>
                  <a:lnTo>
                    <a:pt x="0" y="283369"/>
                  </a:lnTo>
                  <a:lnTo>
                    <a:pt x="283369" y="283369"/>
                  </a:lnTo>
                  <a:lnTo>
                    <a:pt x="283369" y="0"/>
                  </a:lnTo>
                  <a:close/>
                  <a:moveTo>
                    <a:pt x="101203" y="80962"/>
                  </a:moveTo>
                  <a:lnTo>
                    <a:pt x="129828" y="109587"/>
                  </a:lnTo>
                  <a:lnTo>
                    <a:pt x="97730" y="141684"/>
                  </a:lnTo>
                  <a:lnTo>
                    <a:pt x="129828" y="173782"/>
                  </a:lnTo>
                  <a:lnTo>
                    <a:pt x="101203" y="202406"/>
                  </a:lnTo>
                  <a:lnTo>
                    <a:pt x="40481" y="141684"/>
                  </a:lnTo>
                  <a:lnTo>
                    <a:pt x="101203" y="80962"/>
                  </a:lnTo>
                  <a:close/>
                  <a:moveTo>
                    <a:pt x="182166" y="80962"/>
                  </a:moveTo>
                  <a:lnTo>
                    <a:pt x="153541" y="109587"/>
                  </a:lnTo>
                  <a:lnTo>
                    <a:pt x="185639" y="141684"/>
                  </a:lnTo>
                  <a:lnTo>
                    <a:pt x="153541" y="173782"/>
                  </a:lnTo>
                  <a:lnTo>
                    <a:pt x="182166" y="202406"/>
                  </a:lnTo>
                  <a:lnTo>
                    <a:pt x="242888" y="141684"/>
                  </a:lnTo>
                  <a:lnTo>
                    <a:pt x="182166" y="80962"/>
                  </a:lnTo>
                  <a:close/>
                </a:path>
              </a:pathLst>
            </a:custGeom>
            <a:solidFill>
              <a:srgbClr val="8B5CF6"/>
            </a:solidFill>
            <a:ln>
              <a:noFill/>
            </a:ln>
          </p:spPr>
        </p:sp>
        <p:sp>
          <p:nvSpPr>
            <p:cNvPr id="15" name="TextBox 15"/>
            <p:cNvSpPr txBox="1"/>
            <p:nvPr/>
          </p:nvSpPr>
          <p:spPr>
            <a:xfrm>
              <a:off x="3581400" y="1975485"/>
              <a:ext cx="481235" cy="1104900"/>
            </a:xfrm>
            <a:prstGeom prst="rect">
              <a:avLst/>
            </a:prstGeom>
            <a:noFill/>
            <a:ln>
              <a:noFill/>
            </a:ln>
          </p:spPr>
          <p:txBody>
            <a:bodyPr wrap="none" lIns="0" tIns="0" rIns="0" bIns="0" anchor="t" anchorCtr="0">
              <a:spAutoFit/>
            </a:bodyPr>
            <a:lstStyle/>
            <a:p>
              <a:pPr algn="l"/>
              <a:r>
                <a:rPr lang="en-US" sz="5700" b="1" dirty="0">
                  <a:solidFill>
                    <a:srgbClr val="8B5CF6"/>
                  </a:solidFill>
                  <a:latin typeface="Arial"/>
                  <a:ea typeface="Arial"/>
                  <a:cs typeface="Arial"/>
                </a:rPr>
                <a:t>8</a:t>
              </a:r>
            </a:p>
          </p:txBody>
        </p:sp>
        <p:sp>
          <p:nvSpPr>
            <p:cNvPr id="16" name="TextBox 16"/>
            <p:cNvSpPr txBox="1"/>
            <p:nvPr/>
          </p:nvSpPr>
          <p:spPr>
            <a:xfrm>
              <a:off x="3591306" y="2739390"/>
              <a:ext cx="987552" cy="352044"/>
            </a:xfrm>
            <a:prstGeom prst="rect">
              <a:avLst/>
            </a:prstGeom>
            <a:noFill/>
            <a:ln>
              <a:noFill/>
            </a:ln>
          </p:spPr>
          <p:txBody>
            <a:bodyPr wrap="none" lIns="0" tIns="0" rIns="0" bIns="0" anchor="t" anchorCtr="0">
              <a:spAutoFit/>
            </a:bodyPr>
            <a:lstStyle/>
            <a:p>
              <a:pPr algn="l"/>
              <a:r>
                <a:rPr lang="zh-CN" sz="1800" dirty="0">
                  <a:solidFill>
                    <a:srgbClr val="B6C2D2"/>
                  </a:solidFill>
                  <a:latin typeface="Arial"/>
                  <a:ea typeface="Microsoft YaHei"/>
                  <a:cs typeface="Arial"/>
                </a:rPr>
                <a:t>业务工具</a:t>
              </a:r>
            </a:p>
          </p:txBody>
        </p:sp>
      </p:grpSp>
      <p:grpSp>
        <p:nvGrpSpPr>
          <p:cNvPr id="26" name="Group 26"/>
          <p:cNvGrpSpPr/>
          <p:nvPr/>
        </p:nvGrpSpPr>
        <p:grpSpPr>
          <a:xfrm>
            <a:off x="6134100" y="1466850"/>
            <a:ext cx="2476500" cy="1676400"/>
            <a:chOff x="6134100" y="1466850"/>
            <a:chExt cx="2476500" cy="1676400"/>
          </a:xfrm>
        </p:grpSpPr>
        <p:sp>
          <p:nvSpPr>
            <p:cNvPr id="18" name="Rectangle 18"/>
            <p:cNvSpPr/>
            <p:nvPr/>
          </p:nvSpPr>
          <p:spPr>
            <a:xfrm>
              <a:off x="6134100" y="1466850"/>
              <a:ext cx="2476500" cy="1676400"/>
            </a:xfrm>
            <a:prstGeom prst="roundRect">
              <a:avLst>
                <a:gd name="adj" fmla="val 3409"/>
              </a:avLst>
            </a:prstGeom>
            <a:solidFill>
              <a:srgbClr val="111827"/>
            </a:solidFill>
            <a:ln w="14288">
              <a:solidFill>
                <a:srgbClr val="2A3A52"/>
              </a:solidFill>
            </a:ln>
          </p:spPr>
        </p:sp>
        <p:grpSp>
          <p:nvGrpSpPr>
            <p:cNvPr id="23" name="Group 23"/>
            <p:cNvGrpSpPr/>
            <p:nvPr/>
          </p:nvGrpSpPr>
          <p:grpSpPr>
            <a:xfrm>
              <a:off x="6404019" y="1633061"/>
              <a:ext cx="323851" cy="283369"/>
              <a:chOff x="6404019" y="1633061"/>
              <a:chExt cx="323851" cy="283369"/>
            </a:xfrm>
          </p:grpSpPr>
          <p:sp>
            <p:nvSpPr>
              <p:cNvPr id="19" name="Freeform 19"/>
              <p:cNvSpPr/>
              <p:nvPr/>
            </p:nvSpPr>
            <p:spPr>
              <a:xfrm>
                <a:off x="6464741" y="1633061"/>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F59E0B"/>
              </a:solidFill>
              <a:ln>
                <a:noFill/>
              </a:ln>
            </p:spPr>
          </p:sp>
          <p:sp>
            <p:nvSpPr>
              <p:cNvPr id="20" name="Freeform 20"/>
              <p:cNvSpPr/>
              <p:nvPr/>
            </p:nvSpPr>
            <p:spPr>
              <a:xfrm>
                <a:off x="6404019" y="1774746"/>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F59E0B"/>
              </a:solidFill>
              <a:ln>
                <a:noFill/>
              </a:ln>
            </p:spPr>
          </p:sp>
          <p:sp>
            <p:nvSpPr>
              <p:cNvPr id="21" name="Freeform 21"/>
              <p:cNvSpPr/>
              <p:nvPr/>
            </p:nvSpPr>
            <p:spPr>
              <a:xfrm>
                <a:off x="6606426" y="1774746"/>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F59E0B"/>
              </a:solidFill>
              <a:ln>
                <a:noFill/>
              </a:ln>
            </p:spPr>
          </p:sp>
          <p:sp>
            <p:nvSpPr>
              <p:cNvPr id="22" name="Freeform 22"/>
              <p:cNvSpPr/>
              <p:nvPr/>
            </p:nvSpPr>
            <p:spPr>
              <a:xfrm>
                <a:off x="6606426" y="1653302"/>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F59E0B"/>
              </a:solidFill>
              <a:ln>
                <a:noFill/>
              </a:ln>
            </p:spPr>
          </p:sp>
        </p:grpSp>
        <p:sp>
          <p:nvSpPr>
            <p:cNvPr id="24" name="TextBox 24"/>
            <p:cNvSpPr txBox="1"/>
            <p:nvPr/>
          </p:nvSpPr>
          <p:spPr>
            <a:xfrm>
              <a:off x="6343650" y="1975485"/>
              <a:ext cx="481235" cy="1104900"/>
            </a:xfrm>
            <a:prstGeom prst="rect">
              <a:avLst/>
            </a:prstGeom>
            <a:noFill/>
            <a:ln>
              <a:noFill/>
            </a:ln>
          </p:spPr>
          <p:txBody>
            <a:bodyPr wrap="none" lIns="0" tIns="0" rIns="0" bIns="0" anchor="t" anchorCtr="0">
              <a:spAutoFit/>
            </a:bodyPr>
            <a:lstStyle/>
            <a:p>
              <a:pPr algn="l"/>
              <a:r>
                <a:rPr lang="en-US" sz="5700" b="1" dirty="0">
                  <a:solidFill>
                    <a:srgbClr val="F59E0B"/>
                  </a:solidFill>
                  <a:latin typeface="Arial"/>
                  <a:ea typeface="Arial"/>
                  <a:cs typeface="Arial"/>
                </a:rPr>
                <a:t>3</a:t>
              </a:r>
            </a:p>
          </p:txBody>
        </p:sp>
        <p:sp>
          <p:nvSpPr>
            <p:cNvPr id="25" name="TextBox 25"/>
            <p:cNvSpPr txBox="1"/>
            <p:nvPr/>
          </p:nvSpPr>
          <p:spPr>
            <a:xfrm>
              <a:off x="6353556" y="2739390"/>
              <a:ext cx="958748" cy="352044"/>
            </a:xfrm>
            <a:prstGeom prst="rect">
              <a:avLst/>
            </a:prstGeom>
            <a:noFill/>
            <a:ln>
              <a:noFill/>
            </a:ln>
          </p:spPr>
          <p:txBody>
            <a:bodyPr wrap="none" lIns="0" tIns="0" rIns="0" bIns="0" anchor="t" anchorCtr="0">
              <a:spAutoFit/>
            </a:bodyPr>
            <a:lstStyle/>
            <a:p>
              <a:pPr algn="l"/>
              <a:r>
                <a:rPr lang="en-US" sz="1800" dirty="0">
                  <a:solidFill>
                    <a:srgbClr val="B6C2D2"/>
                  </a:solidFill>
                  <a:latin typeface="Arial"/>
                  <a:ea typeface="Arial"/>
                  <a:cs typeface="Arial"/>
                </a:rPr>
                <a:t>Persona</a:t>
              </a:r>
            </a:p>
          </p:txBody>
        </p:sp>
      </p:grpSp>
      <p:grpSp>
        <p:nvGrpSpPr>
          <p:cNvPr id="36" name="Group 36"/>
          <p:cNvGrpSpPr/>
          <p:nvPr/>
        </p:nvGrpSpPr>
        <p:grpSpPr>
          <a:xfrm>
            <a:off x="8896350" y="1466850"/>
            <a:ext cx="2476500" cy="1676400"/>
            <a:chOff x="8896350" y="1466850"/>
            <a:chExt cx="2476500" cy="1676400"/>
          </a:xfrm>
        </p:grpSpPr>
        <p:sp>
          <p:nvSpPr>
            <p:cNvPr id="27" name="Rectangle 27"/>
            <p:cNvSpPr/>
            <p:nvPr/>
          </p:nvSpPr>
          <p:spPr>
            <a:xfrm>
              <a:off x="8896350" y="1466850"/>
              <a:ext cx="2476500" cy="1676400"/>
            </a:xfrm>
            <a:prstGeom prst="roundRect">
              <a:avLst>
                <a:gd name="adj" fmla="val 3409"/>
              </a:avLst>
            </a:prstGeom>
            <a:solidFill>
              <a:srgbClr val="111827"/>
            </a:solidFill>
            <a:ln w="14288">
              <a:solidFill>
                <a:srgbClr val="2A3A52"/>
              </a:solidFill>
            </a:ln>
          </p:spPr>
        </p:sp>
        <p:grpSp>
          <p:nvGrpSpPr>
            <p:cNvPr id="33" name="Group 33"/>
            <p:cNvGrpSpPr/>
            <p:nvPr/>
          </p:nvGrpSpPr>
          <p:grpSpPr>
            <a:xfrm>
              <a:off x="9192978" y="1626594"/>
              <a:ext cx="242888" cy="323849"/>
              <a:chOff x="9192978" y="1626594"/>
              <a:chExt cx="242888" cy="323849"/>
            </a:xfrm>
          </p:grpSpPr>
          <p:sp>
            <p:nvSpPr>
              <p:cNvPr id="28" name="Freeform 28"/>
              <p:cNvSpPr/>
              <p:nvPr/>
            </p:nvSpPr>
            <p:spPr>
              <a:xfrm>
                <a:off x="9192978" y="1626594"/>
                <a:ext cx="242888" cy="80962"/>
              </a:xfrm>
              <a:custGeom>
                <a:avLst/>
                <a:gdLst/>
                <a:ahLst/>
                <a:cxnLst/>
                <a:rect l="l" t="t" r="r" b="b"/>
                <a:pathLst>
                  <a:path w="242888" h="80962">
                    <a:moveTo>
                      <a:pt x="242888" y="0"/>
                    </a:moveTo>
                    <a:lnTo>
                      <a:pt x="0" y="0"/>
                    </a:lnTo>
                    <a:lnTo>
                      <a:pt x="0" y="80962"/>
                    </a:lnTo>
                    <a:lnTo>
                      <a:pt x="242888" y="80962"/>
                    </a:lnTo>
                    <a:lnTo>
                      <a:pt x="242888" y="0"/>
                    </a:lnTo>
                    <a:close/>
                  </a:path>
                </a:pathLst>
              </a:custGeom>
              <a:solidFill>
                <a:srgbClr val="22C55E"/>
              </a:solidFill>
              <a:ln>
                <a:noFill/>
              </a:ln>
            </p:spPr>
          </p:sp>
          <p:sp>
            <p:nvSpPr>
              <p:cNvPr id="29" name="Freeform 29"/>
              <p:cNvSpPr/>
              <p:nvPr/>
            </p:nvSpPr>
            <p:spPr>
              <a:xfrm>
                <a:off x="9192978" y="1748038"/>
                <a:ext cx="101203" cy="80962"/>
              </a:xfrm>
              <a:custGeom>
                <a:avLst/>
                <a:gdLst/>
                <a:ahLst/>
                <a:cxnLst/>
                <a:rect l="l" t="t" r="r" b="b"/>
                <a:pathLst>
                  <a:path w="101203" h="80962">
                    <a:moveTo>
                      <a:pt x="0" y="0"/>
                    </a:moveTo>
                    <a:lnTo>
                      <a:pt x="101203" y="0"/>
                    </a:lnTo>
                    <a:lnTo>
                      <a:pt x="101203" y="80962"/>
                    </a:lnTo>
                    <a:lnTo>
                      <a:pt x="0" y="80962"/>
                    </a:lnTo>
                    <a:lnTo>
                      <a:pt x="0" y="0"/>
                    </a:lnTo>
                    <a:close/>
                  </a:path>
                </a:pathLst>
              </a:custGeom>
              <a:solidFill>
                <a:srgbClr val="22C55E"/>
              </a:solidFill>
              <a:ln>
                <a:noFill/>
              </a:ln>
            </p:spPr>
          </p:sp>
          <p:sp>
            <p:nvSpPr>
              <p:cNvPr id="30" name="Freeform 30"/>
              <p:cNvSpPr/>
              <p:nvPr/>
            </p:nvSpPr>
            <p:spPr>
              <a:xfrm>
                <a:off x="9192978" y="1869481"/>
                <a:ext cx="101203" cy="80962"/>
              </a:xfrm>
              <a:custGeom>
                <a:avLst/>
                <a:gdLst/>
                <a:ahLst/>
                <a:cxnLst/>
                <a:rect l="l" t="t" r="r" b="b"/>
                <a:pathLst>
                  <a:path w="101203" h="80962">
                    <a:moveTo>
                      <a:pt x="0" y="0"/>
                    </a:moveTo>
                    <a:lnTo>
                      <a:pt x="101203" y="0"/>
                    </a:lnTo>
                    <a:lnTo>
                      <a:pt x="101203" y="80962"/>
                    </a:lnTo>
                    <a:lnTo>
                      <a:pt x="0" y="80962"/>
                    </a:lnTo>
                    <a:lnTo>
                      <a:pt x="0" y="0"/>
                    </a:lnTo>
                    <a:close/>
                  </a:path>
                </a:pathLst>
              </a:custGeom>
              <a:solidFill>
                <a:srgbClr val="22C55E"/>
              </a:solidFill>
              <a:ln>
                <a:noFill/>
              </a:ln>
            </p:spPr>
          </p:sp>
          <p:sp>
            <p:nvSpPr>
              <p:cNvPr id="31" name="Freeform 31"/>
              <p:cNvSpPr/>
              <p:nvPr/>
            </p:nvSpPr>
            <p:spPr>
              <a:xfrm>
                <a:off x="9334662" y="1869481"/>
                <a:ext cx="101203" cy="80962"/>
              </a:xfrm>
              <a:custGeom>
                <a:avLst/>
                <a:gdLst/>
                <a:ahLst/>
                <a:cxnLst/>
                <a:rect l="l" t="t" r="r" b="b"/>
                <a:pathLst>
                  <a:path w="101203" h="80962">
                    <a:moveTo>
                      <a:pt x="0" y="0"/>
                    </a:moveTo>
                    <a:lnTo>
                      <a:pt x="101203" y="0"/>
                    </a:lnTo>
                    <a:lnTo>
                      <a:pt x="101203" y="80962"/>
                    </a:lnTo>
                    <a:lnTo>
                      <a:pt x="0" y="80962"/>
                    </a:lnTo>
                    <a:lnTo>
                      <a:pt x="0" y="0"/>
                    </a:lnTo>
                    <a:close/>
                  </a:path>
                </a:pathLst>
              </a:custGeom>
              <a:solidFill>
                <a:srgbClr val="22C55E"/>
              </a:solidFill>
              <a:ln>
                <a:noFill/>
              </a:ln>
            </p:spPr>
          </p:sp>
          <p:sp>
            <p:nvSpPr>
              <p:cNvPr id="32" name="Freeform 32"/>
              <p:cNvSpPr/>
              <p:nvPr/>
            </p:nvSpPr>
            <p:spPr>
              <a:xfrm>
                <a:off x="9334662" y="1748038"/>
                <a:ext cx="101203" cy="80962"/>
              </a:xfrm>
              <a:custGeom>
                <a:avLst/>
                <a:gdLst/>
                <a:ahLst/>
                <a:cxnLst/>
                <a:rect l="l" t="t" r="r" b="b"/>
                <a:pathLst>
                  <a:path w="101203" h="80962">
                    <a:moveTo>
                      <a:pt x="101203" y="0"/>
                    </a:moveTo>
                    <a:lnTo>
                      <a:pt x="0" y="0"/>
                    </a:lnTo>
                    <a:lnTo>
                      <a:pt x="0" y="80962"/>
                    </a:lnTo>
                    <a:lnTo>
                      <a:pt x="101203" y="80962"/>
                    </a:lnTo>
                    <a:lnTo>
                      <a:pt x="101203" y="0"/>
                    </a:lnTo>
                    <a:close/>
                  </a:path>
                </a:pathLst>
              </a:custGeom>
              <a:solidFill>
                <a:srgbClr val="22C55E"/>
              </a:solidFill>
              <a:ln>
                <a:noFill/>
              </a:ln>
            </p:spPr>
          </p:sp>
        </p:grpSp>
        <p:sp>
          <p:nvSpPr>
            <p:cNvPr id="34" name="TextBox 34"/>
            <p:cNvSpPr txBox="1"/>
            <p:nvPr/>
          </p:nvSpPr>
          <p:spPr>
            <a:xfrm>
              <a:off x="9105900" y="1975485"/>
              <a:ext cx="481235" cy="1104900"/>
            </a:xfrm>
            <a:prstGeom prst="rect">
              <a:avLst/>
            </a:prstGeom>
            <a:noFill/>
            <a:ln>
              <a:noFill/>
            </a:ln>
          </p:spPr>
          <p:txBody>
            <a:bodyPr wrap="none" lIns="0" tIns="0" rIns="0" bIns="0" anchor="t" anchorCtr="0">
              <a:spAutoFit/>
            </a:bodyPr>
            <a:lstStyle/>
            <a:p>
              <a:pPr algn="l"/>
              <a:r>
                <a:rPr lang="en-US" sz="5700" b="1" dirty="0">
                  <a:solidFill>
                    <a:srgbClr val="22C55E"/>
                  </a:solidFill>
                  <a:latin typeface="Arial"/>
                  <a:ea typeface="Arial"/>
                  <a:cs typeface="Arial"/>
                </a:rPr>
                <a:t>3</a:t>
              </a:r>
            </a:p>
          </p:txBody>
        </p:sp>
        <p:sp>
          <p:nvSpPr>
            <p:cNvPr id="35" name="TextBox 35"/>
            <p:cNvSpPr txBox="1"/>
            <p:nvPr/>
          </p:nvSpPr>
          <p:spPr>
            <a:xfrm>
              <a:off x="9115806" y="2739390"/>
              <a:ext cx="987552" cy="352044"/>
            </a:xfrm>
            <a:prstGeom prst="rect">
              <a:avLst/>
            </a:prstGeom>
            <a:noFill/>
            <a:ln>
              <a:noFill/>
            </a:ln>
          </p:spPr>
          <p:txBody>
            <a:bodyPr wrap="none" lIns="0" tIns="0" rIns="0" bIns="0" anchor="t" anchorCtr="0">
              <a:spAutoFit/>
            </a:bodyPr>
            <a:lstStyle/>
            <a:p>
              <a:pPr algn="l"/>
              <a:r>
                <a:rPr lang="zh-CN" sz="1800" dirty="0">
                  <a:solidFill>
                    <a:srgbClr val="B6C2D2"/>
                  </a:solidFill>
                  <a:latin typeface="Arial"/>
                  <a:ea typeface="Microsoft YaHei"/>
                  <a:cs typeface="Arial"/>
                </a:rPr>
                <a:t>结构化卡</a:t>
              </a:r>
            </a:p>
          </p:txBody>
        </p:sp>
      </p:grpSp>
      <p:grpSp>
        <p:nvGrpSpPr>
          <p:cNvPr id="42" name="Group 42"/>
          <p:cNvGrpSpPr/>
          <p:nvPr/>
        </p:nvGrpSpPr>
        <p:grpSpPr>
          <a:xfrm>
            <a:off x="609600" y="3543300"/>
            <a:ext cx="12095331" cy="1916239"/>
            <a:chOff x="609600" y="3543300"/>
            <a:chExt cx="12095331" cy="1916239"/>
          </a:xfrm>
        </p:grpSpPr>
        <p:sp>
          <p:nvSpPr>
            <p:cNvPr id="37" name="Rectangle 37"/>
            <p:cNvSpPr/>
            <p:nvPr/>
          </p:nvSpPr>
          <p:spPr>
            <a:xfrm>
              <a:off x="609600" y="3543300"/>
              <a:ext cx="10763250" cy="1581150"/>
            </a:xfrm>
            <a:prstGeom prst="roundRect">
              <a:avLst>
                <a:gd name="adj" fmla="val 3614"/>
              </a:avLst>
            </a:prstGeom>
            <a:solidFill>
              <a:srgbClr val="111827"/>
            </a:solidFill>
            <a:ln w="14288">
              <a:solidFill>
                <a:srgbClr val="2A3A52"/>
              </a:solidFill>
            </a:ln>
          </p:spPr>
        </p:sp>
        <p:sp>
          <p:nvSpPr>
            <p:cNvPr id="38" name="TextBox 38"/>
            <p:cNvSpPr txBox="1"/>
            <p:nvPr/>
          </p:nvSpPr>
          <p:spPr>
            <a:xfrm>
              <a:off x="901446" y="3782378"/>
              <a:ext cx="1467688" cy="498729"/>
            </a:xfrm>
            <a:prstGeom prst="rect">
              <a:avLst/>
            </a:prstGeom>
            <a:noFill/>
            <a:ln>
              <a:noFill/>
            </a:ln>
          </p:spPr>
          <p:txBody>
            <a:bodyPr wrap="none" lIns="0" tIns="0" rIns="0" bIns="0" anchor="t" anchorCtr="0">
              <a:spAutoFit/>
            </a:bodyPr>
            <a:lstStyle/>
            <a:p>
              <a:pPr algn="l"/>
              <a:r>
                <a:rPr lang="zh-CN" sz="2550" b="1" dirty="0">
                  <a:solidFill>
                    <a:srgbClr val="F8FAFC"/>
                  </a:solidFill>
                  <a:latin typeface="Arial"/>
                  <a:ea typeface="Microsoft YaHei"/>
                  <a:cs typeface="Arial"/>
                </a:rPr>
                <a:t>验收证据</a:t>
              </a:r>
            </a:p>
          </p:txBody>
        </p:sp>
        <p:sp>
          <p:nvSpPr>
            <p:cNvPr id="39" name="TextBox 39"/>
            <p:cNvSpPr txBox="1"/>
            <p:nvPr/>
          </p:nvSpPr>
          <p:spPr>
            <a:xfrm>
              <a:off x="642090" y="4362288"/>
              <a:ext cx="12062841" cy="410718"/>
            </a:xfrm>
            <a:prstGeom prst="rect">
              <a:avLst/>
            </a:prstGeom>
            <a:noFill/>
            <a:ln>
              <a:noFill/>
            </a:ln>
          </p:spPr>
          <p:txBody>
            <a:bodyPr wrap="none" lIns="0" tIns="0" rIns="0" bIns="0" anchor="t" anchorCtr="0">
              <a:spAutoFit/>
            </a:bodyPr>
            <a:lstStyle/>
            <a:p>
              <a:pPr algn="l"/>
              <a:r>
                <a:rPr lang="zh-CN" sz="2100" dirty="0">
                  <a:solidFill>
                    <a:srgbClr val="B6C2D2"/>
                  </a:solidFill>
                  <a:latin typeface="Arial"/>
                  <a:ea typeface="Microsoft YaHei"/>
                  <a:cs typeface="Arial"/>
                </a:rPr>
                <a:t>21 项验收条目全部过 · 36 份测试文档沉淢 · 172/172 UI 静检查过 · Playwright 4/4 回归通过</a:t>
              </a:r>
            </a:p>
          </p:txBody>
        </p:sp>
        <p:sp>
          <p:nvSpPr>
            <p:cNvPr id="40" name="Line 40"/>
            <p:cNvSpPr/>
            <p:nvPr/>
          </p:nvSpPr>
          <p:spPr>
            <a:xfrm>
              <a:off x="914400" y="4819650"/>
              <a:ext cx="10153650" cy="9525"/>
            </a:xfrm>
            <a:custGeom>
              <a:avLst/>
              <a:gdLst/>
              <a:ahLst/>
              <a:cxnLst/>
              <a:rect l="l" t="t" r="r" b="b"/>
              <a:pathLst>
                <a:path w="10153650" h="9525">
                  <a:moveTo>
                    <a:pt x="0" y="0"/>
                  </a:moveTo>
                  <a:lnTo>
                    <a:pt x="10153650" y="0"/>
                  </a:lnTo>
                </a:path>
              </a:pathLst>
            </a:custGeom>
            <a:noFill/>
            <a:ln w="9525">
              <a:solidFill>
                <a:srgbClr val="2A3A52"/>
              </a:solidFill>
            </a:ln>
          </p:spPr>
        </p:sp>
        <p:sp>
          <p:nvSpPr>
            <p:cNvPr id="41" name="TextBox 41"/>
            <p:cNvSpPr txBox="1"/>
            <p:nvPr/>
          </p:nvSpPr>
          <p:spPr>
            <a:xfrm>
              <a:off x="906018" y="5136832"/>
              <a:ext cx="7992496" cy="322707"/>
            </a:xfrm>
            <a:prstGeom prst="rect">
              <a:avLst/>
            </a:prstGeom>
            <a:noFill/>
            <a:ln>
              <a:noFill/>
            </a:ln>
          </p:spPr>
          <p:txBody>
            <a:bodyPr wrap="none" lIns="0" tIns="0" rIns="0" bIns="0" anchor="t" anchorCtr="0">
              <a:spAutoFit/>
            </a:bodyPr>
            <a:lstStyle/>
            <a:p>
              <a:pPr algn="l"/>
              <a:r>
                <a:rPr lang="en-US" sz="1650" dirty="0">
                  <a:solidFill>
                    <a:srgbClr val="7DD3FC"/>
                  </a:solidFill>
                  <a:latin typeface="Consolas"/>
                  <a:ea typeface="Consolas"/>
                  <a:cs typeface="Consolas"/>
                </a:rPr>
                <a:t>Capability = Intents + Tools + Personas + Cards + Governance + Regression</a:t>
              </a:r>
            </a:p>
          </p:txBody>
        </p:sp>
      </p:grpSp>
      <p:sp>
        <p:nvSpPr>
          <p:cNvPr id="43" name="TextBox 43"/>
          <p:cNvSpPr txBox="1"/>
          <p:nvPr/>
        </p:nvSpPr>
        <p:spPr>
          <a:xfrm>
            <a:off x="527304" y="6309360"/>
            <a:ext cx="4131107" cy="234696"/>
          </a:xfrm>
          <a:prstGeom prst="rect">
            <a:avLst/>
          </a:prstGeom>
          <a:noFill/>
          <a:ln>
            <a:noFill/>
          </a:ln>
        </p:spPr>
        <p:txBody>
          <a:bodyPr wrap="none" lIns="0" tIns="0" rIns="0" bIns="0" anchor="t" anchorCtr="0">
            <a:spAutoFit/>
          </a:bodyPr>
          <a:lstStyle/>
          <a:p>
            <a:pPr algn="l"/>
            <a:r>
              <a:rPr lang="en-US" sz="1200" dirty="0">
                <a:solidFill>
                  <a:srgbClr val="7F8EA3"/>
                </a:solidFill>
                <a:latin typeface="Arial"/>
                <a:ea typeface="Arial"/>
                <a:cs typeface="Arial"/>
              </a:rPr>
              <a:t>P02 · KPI overview adapted from kpi_cards template</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image">
                                      <p:cBhvr>
                                        <p:cTn id="7" dur="400"/>
                                        <p:tgtEl>
                                          <p:spTgt spid="1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image">
                                      <p:cBhvr>
                                        <p:cTn id="11" dur="400"/>
                                        <p:tgtEl>
                                          <p:spTgt spid="1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image">
                                      <p:cBhvr>
                                        <p:cTn id="15" dur="400"/>
                                        <p:tgtEl>
                                          <p:spTgt spid="26"/>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image">
                                      <p:cBhvr>
                                        <p:cTn id="19" dur="400"/>
                                        <p:tgtEl>
                                          <p:spTgt spid="36"/>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left)">
                                      <p:cBhvr>
                                        <p:cTn id="23"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6" grpId="0"/>
      <p:bldP spid="36" grpId="0"/>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111827">
                    <a:alpha val="18000"/>
                  </a:srgbClr>
                </a:gs>
                <a:gs pos="100000">
                  <a:srgbClr val="05070D">
                    <a:alpha val="92000"/>
                  </a:srgbClr>
                </a:gs>
              </a:gsLst>
              <a:path path="circle">
                <a:fillToRect l="50000" t="50000" r="50000" b="50000"/>
              </a:path>
            </a:gradFill>
            <a:ln>
              <a:noFill/>
            </a:ln>
          </p:spPr>
        </p:sp>
      </p:grpSp>
      <p:grpSp>
        <p:nvGrpSpPr>
          <p:cNvPr id="8" name="Group 8"/>
          <p:cNvGrpSpPr/>
          <p:nvPr/>
        </p:nvGrpSpPr>
        <p:grpSpPr>
          <a:xfrm>
            <a:off x="666750" y="360045"/>
            <a:ext cx="6653327" cy="965644"/>
            <a:chOff x="666750" y="360045"/>
            <a:chExt cx="6653327" cy="965644"/>
          </a:xfrm>
        </p:grpSpPr>
        <p:sp>
          <p:nvSpPr>
            <p:cNvPr id="6" name="TextBox 6"/>
            <p:cNvSpPr txBox="1"/>
            <p:nvPr/>
          </p:nvSpPr>
          <p:spPr>
            <a:xfrm>
              <a:off x="666750" y="360045"/>
              <a:ext cx="6653327"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工程价来自四个可验证维度</a:t>
              </a:r>
            </a:p>
          </p:txBody>
        </p:sp>
        <p:sp>
          <p:nvSpPr>
            <p:cNvPr id="7" name="TextBox 7"/>
            <p:cNvSpPr txBox="1"/>
            <p:nvPr/>
          </p:nvSpPr>
          <p:spPr>
            <a:xfrm>
              <a:off x="696468" y="1002982"/>
              <a:ext cx="623620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功能数量只是结果；真正的价是能力能否被控制扩展观测和回归</a:t>
              </a:r>
            </a:p>
          </p:txBody>
        </p:sp>
      </p:grpSp>
      <p:grpSp>
        <p:nvGrpSpPr>
          <p:cNvPr id="11" name="Group 11"/>
          <p:cNvGrpSpPr/>
          <p:nvPr/>
        </p:nvGrpSpPr>
        <p:grpSpPr>
          <a:xfrm>
            <a:off x="1714500" y="2362200"/>
            <a:ext cx="8763000" cy="1162050"/>
            <a:chOff x="1714500" y="2362200"/>
            <a:chExt cx="8763000" cy="1162050"/>
          </a:xfrm>
        </p:grpSpPr>
        <p:sp>
          <p:nvSpPr>
            <p:cNvPr id="9" name="Rectangle 9"/>
            <p:cNvSpPr/>
            <p:nvPr/>
          </p:nvSpPr>
          <p:spPr>
            <a:xfrm>
              <a:off x="1714500" y="2362200"/>
              <a:ext cx="8763000" cy="1162050"/>
            </a:xfrm>
            <a:prstGeom prst="roundRect">
              <a:avLst>
                <a:gd name="adj" fmla="val 6557"/>
              </a:avLst>
            </a:prstGeom>
            <a:solidFill>
              <a:srgbClr val="05070D">
                <a:alpha val="72000"/>
              </a:srgbClr>
            </a:solidFill>
            <a:ln w="14288">
              <a:solidFill>
                <a:srgbClr val="2A3A52"/>
              </a:solidFill>
            </a:ln>
          </p:spPr>
        </p:sp>
        <p:pic>
          <p:nvPicPr>
            <p:cNvPr id="10" name="Image 10"/>
            <p:cNvPicPr>
              <a:picLocks noChangeAspect="1"/>
            </p:cNvPicPr>
            <p:nvPr/>
          </p:nvPicPr>
          <p:blipFill>
            <a:blip r:embed="rId3"/>
            <a:stretch>
              <a:fillRect/>
            </a:stretch>
          </p:blipFill>
          <p:spPr>
            <a:xfrm>
              <a:off x="2358390" y="2724150"/>
              <a:ext cx="7475220" cy="381000"/>
            </a:xfrm>
            <a:prstGeom prst="rect">
              <a:avLst/>
            </a:prstGeom>
          </p:spPr>
        </p:pic>
      </p:grpSp>
      <p:grpSp>
        <p:nvGrpSpPr>
          <p:cNvPr id="24" name="Group 24"/>
          <p:cNvGrpSpPr/>
          <p:nvPr/>
        </p:nvGrpSpPr>
        <p:grpSpPr>
          <a:xfrm>
            <a:off x="1790700" y="4229100"/>
            <a:ext cx="8610600" cy="1066800"/>
            <a:chOff x="1790700" y="4229100"/>
            <a:chExt cx="8610600" cy="1066800"/>
          </a:xfrm>
        </p:grpSpPr>
        <p:sp>
          <p:nvSpPr>
            <p:cNvPr id="12" name="Ellipse 12"/>
            <p:cNvSpPr/>
            <p:nvPr/>
          </p:nvSpPr>
          <p:spPr>
            <a:xfrm>
              <a:off x="1790700" y="4229100"/>
              <a:ext cx="1066800" cy="1066800"/>
            </a:xfrm>
            <a:prstGeom prst="ellipse">
              <a:avLst/>
            </a:prstGeom>
            <a:solidFill>
              <a:srgbClr val="111827"/>
            </a:solidFill>
            <a:ln w="19050">
              <a:solidFill>
                <a:srgbClr val="7DD3FC"/>
              </a:solidFill>
            </a:ln>
          </p:spPr>
        </p:sp>
        <p:sp>
          <p:nvSpPr>
            <p:cNvPr id="13" name="TextBox 13"/>
            <p:cNvSpPr txBox="1"/>
            <p:nvPr/>
          </p:nvSpPr>
          <p:spPr>
            <a:xfrm>
              <a:off x="2241027" y="4482465"/>
              <a:ext cx="166146" cy="352044"/>
            </a:xfrm>
            <a:prstGeom prst="rect">
              <a:avLst/>
            </a:prstGeom>
            <a:noFill/>
            <a:ln>
              <a:noFill/>
            </a:ln>
          </p:spPr>
          <p:txBody>
            <a:bodyPr wrap="none" lIns="0" tIns="0" rIns="0" bIns="0" anchor="t" anchorCtr="0">
              <a:spAutoFit/>
            </a:bodyPr>
            <a:lstStyle/>
            <a:p>
              <a:pPr algn="ctr"/>
              <a:r>
                <a:rPr lang="en-US" sz="1800" b="1" dirty="0">
                  <a:solidFill>
                    <a:srgbClr val="7DD3FC"/>
                  </a:solidFill>
                  <a:latin typeface="Consolas"/>
                  <a:ea typeface="Consolas"/>
                  <a:cs typeface="Consolas"/>
                </a:rPr>
                <a:t>C</a:t>
              </a:r>
            </a:p>
          </p:txBody>
        </p:sp>
        <p:sp>
          <p:nvSpPr>
            <p:cNvPr id="14" name="TextBox 14"/>
            <p:cNvSpPr txBox="1"/>
            <p:nvPr/>
          </p:nvSpPr>
          <p:spPr>
            <a:xfrm>
              <a:off x="20935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可控</a:t>
              </a:r>
            </a:p>
          </p:txBody>
        </p:sp>
        <p:sp>
          <p:nvSpPr>
            <p:cNvPr id="15" name="Ellipse 15"/>
            <p:cNvSpPr/>
            <p:nvPr/>
          </p:nvSpPr>
          <p:spPr>
            <a:xfrm>
              <a:off x="4305300" y="4229100"/>
              <a:ext cx="1066800" cy="1066800"/>
            </a:xfrm>
            <a:prstGeom prst="ellipse">
              <a:avLst/>
            </a:prstGeom>
            <a:solidFill>
              <a:srgbClr val="111827"/>
            </a:solidFill>
            <a:ln w="19050">
              <a:solidFill>
                <a:srgbClr val="8B5CF6"/>
              </a:solidFill>
            </a:ln>
          </p:spPr>
        </p:sp>
        <p:sp>
          <p:nvSpPr>
            <p:cNvPr id="16" name="TextBox 16"/>
            <p:cNvSpPr txBox="1"/>
            <p:nvPr/>
          </p:nvSpPr>
          <p:spPr>
            <a:xfrm>
              <a:off x="4755627" y="4482465"/>
              <a:ext cx="166146" cy="352044"/>
            </a:xfrm>
            <a:prstGeom prst="rect">
              <a:avLst/>
            </a:prstGeom>
            <a:noFill/>
            <a:ln>
              <a:noFill/>
            </a:ln>
          </p:spPr>
          <p:txBody>
            <a:bodyPr wrap="none" lIns="0" tIns="0" rIns="0" bIns="0" anchor="t" anchorCtr="0">
              <a:spAutoFit/>
            </a:bodyPr>
            <a:lstStyle/>
            <a:p>
              <a:pPr algn="ctr"/>
              <a:r>
                <a:rPr lang="en-US" sz="1800" b="1" dirty="0">
                  <a:solidFill>
                    <a:srgbClr val="8B5CF6"/>
                  </a:solidFill>
                  <a:latin typeface="Consolas"/>
                  <a:ea typeface="Consolas"/>
                  <a:cs typeface="Consolas"/>
                </a:rPr>
                <a:t>X</a:t>
              </a:r>
            </a:p>
          </p:txBody>
        </p:sp>
        <p:sp>
          <p:nvSpPr>
            <p:cNvPr id="17" name="TextBox 17"/>
            <p:cNvSpPr txBox="1"/>
            <p:nvPr/>
          </p:nvSpPr>
          <p:spPr>
            <a:xfrm>
              <a:off x="46081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可扩</a:t>
              </a:r>
            </a:p>
          </p:txBody>
        </p:sp>
        <p:sp>
          <p:nvSpPr>
            <p:cNvPr id="18" name="Ellipse 18"/>
            <p:cNvSpPr/>
            <p:nvPr/>
          </p:nvSpPr>
          <p:spPr>
            <a:xfrm>
              <a:off x="6819900" y="4229100"/>
              <a:ext cx="1066800" cy="1066800"/>
            </a:xfrm>
            <a:prstGeom prst="ellipse">
              <a:avLst/>
            </a:prstGeom>
            <a:solidFill>
              <a:srgbClr val="111827"/>
            </a:solidFill>
            <a:ln w="19050">
              <a:solidFill>
                <a:srgbClr val="F59E0B"/>
              </a:solidFill>
            </a:ln>
          </p:spPr>
        </p:sp>
        <p:sp>
          <p:nvSpPr>
            <p:cNvPr id="19" name="TextBox 19"/>
            <p:cNvSpPr txBox="1"/>
            <p:nvPr/>
          </p:nvSpPr>
          <p:spPr>
            <a:xfrm>
              <a:off x="7243343" y="4482465"/>
              <a:ext cx="219913" cy="352044"/>
            </a:xfrm>
            <a:prstGeom prst="rect">
              <a:avLst/>
            </a:prstGeom>
            <a:noFill/>
            <a:ln>
              <a:noFill/>
            </a:ln>
          </p:spPr>
          <p:txBody>
            <a:bodyPr wrap="none" lIns="0" tIns="0" rIns="0" bIns="0" anchor="t" anchorCtr="0">
              <a:spAutoFit/>
            </a:bodyPr>
            <a:lstStyle/>
            <a:p>
              <a:pPr algn="ctr"/>
              <a:r>
                <a:rPr lang="en-US" sz="1800" b="1" dirty="0">
                  <a:solidFill>
                    <a:srgbClr val="F59E0B"/>
                  </a:solidFill>
                  <a:latin typeface="Consolas"/>
                  <a:ea typeface="Consolas"/>
                  <a:cs typeface="Consolas"/>
                </a:rPr>
                <a:t>O</a:t>
              </a:r>
            </a:p>
          </p:txBody>
        </p:sp>
        <p:sp>
          <p:nvSpPr>
            <p:cNvPr id="20" name="TextBox 20"/>
            <p:cNvSpPr txBox="1"/>
            <p:nvPr/>
          </p:nvSpPr>
          <p:spPr>
            <a:xfrm>
              <a:off x="71227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可观</a:t>
              </a:r>
            </a:p>
          </p:txBody>
        </p:sp>
        <p:sp>
          <p:nvSpPr>
            <p:cNvPr id="21" name="Ellipse 21"/>
            <p:cNvSpPr/>
            <p:nvPr/>
          </p:nvSpPr>
          <p:spPr>
            <a:xfrm>
              <a:off x="9334500" y="4229100"/>
              <a:ext cx="1066800" cy="1066800"/>
            </a:xfrm>
            <a:prstGeom prst="ellipse">
              <a:avLst/>
            </a:prstGeom>
            <a:solidFill>
              <a:srgbClr val="111827"/>
            </a:solidFill>
            <a:ln w="19050">
              <a:solidFill>
                <a:srgbClr val="22C55E"/>
              </a:solidFill>
            </a:ln>
          </p:spPr>
        </p:sp>
        <p:sp>
          <p:nvSpPr>
            <p:cNvPr id="22" name="TextBox 22"/>
            <p:cNvSpPr txBox="1"/>
            <p:nvPr/>
          </p:nvSpPr>
          <p:spPr>
            <a:xfrm>
              <a:off x="9784827" y="4482465"/>
              <a:ext cx="166146" cy="352044"/>
            </a:xfrm>
            <a:prstGeom prst="rect">
              <a:avLst/>
            </a:prstGeom>
            <a:noFill/>
            <a:ln>
              <a:noFill/>
            </a:ln>
          </p:spPr>
          <p:txBody>
            <a:bodyPr wrap="none" lIns="0" tIns="0" rIns="0" bIns="0" anchor="t" anchorCtr="0">
              <a:spAutoFit/>
            </a:bodyPr>
            <a:lstStyle/>
            <a:p>
              <a:pPr algn="ctr"/>
              <a:r>
                <a:rPr lang="en-US" sz="1800" b="1" dirty="0">
                  <a:solidFill>
                    <a:srgbClr val="22C55E"/>
                  </a:solidFill>
                  <a:latin typeface="Consolas"/>
                  <a:ea typeface="Consolas"/>
                  <a:cs typeface="Consolas"/>
                </a:rPr>
                <a:t>R</a:t>
              </a:r>
            </a:p>
          </p:txBody>
        </p:sp>
        <p:sp>
          <p:nvSpPr>
            <p:cNvPr id="23" name="TextBox 23"/>
            <p:cNvSpPr txBox="1"/>
            <p:nvPr/>
          </p:nvSpPr>
          <p:spPr>
            <a:xfrm>
              <a:off x="96373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可回</a:t>
              </a:r>
            </a:p>
          </p:txBody>
        </p:sp>
      </p:grpSp>
      <p:grpSp>
        <p:nvGrpSpPr>
          <p:cNvPr id="26" name="Group 26"/>
          <p:cNvGrpSpPr/>
          <p:nvPr/>
        </p:nvGrpSpPr>
        <p:grpSpPr>
          <a:xfrm>
            <a:off x="1945681" y="5706428"/>
            <a:ext cx="8300638" cy="498729"/>
            <a:chOff x="1945681" y="5706428"/>
            <a:chExt cx="8300638" cy="498729"/>
          </a:xfrm>
        </p:grpSpPr>
        <p:sp>
          <p:nvSpPr>
            <p:cNvPr id="25" name="TextBox 25"/>
            <p:cNvSpPr txBox="1"/>
            <p:nvPr/>
          </p:nvSpPr>
          <p:spPr>
            <a:xfrm>
              <a:off x="1945681" y="5706428"/>
              <a:ext cx="8300638" cy="498729"/>
            </a:xfrm>
            <a:prstGeom prst="rect">
              <a:avLst/>
            </a:prstGeom>
            <a:noFill/>
            <a:ln>
              <a:noFill/>
            </a:ln>
          </p:spPr>
          <p:txBody>
            <a:bodyPr wrap="none" lIns="0" tIns="0" rIns="0" bIns="0" anchor="t" anchorCtr="0">
              <a:spAutoFit/>
            </a:bodyPr>
            <a:lstStyle/>
            <a:p>
              <a:pPr algn="ctr"/>
              <a:r>
                <a:rPr lang="zh-CN" sz="2550" b="1" dirty="0">
                  <a:solidFill>
                    <a:srgbClr val="F59E0B"/>
                  </a:solidFill>
                  <a:latin typeface="Arial"/>
                  <a:ea typeface="Microsoft YaHei"/>
                  <a:cs typeface="Arial"/>
                </a:rPr>
                <a:t>Agent 的价值不在会说话”，而在“能被工程化治理”</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heel(4)">
                                      <p:cBhvr>
                                        <p:cTn id="11" dur="400"/>
                                        <p:tgtEl>
                                          <p:spTgt spid="2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4"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71500" y="1257300"/>
              <a:ext cx="7620000" cy="4572000"/>
            </a:xfrm>
            <a:custGeom>
              <a:avLst/>
              <a:gdLst/>
              <a:ahLst/>
              <a:cxnLst/>
              <a:rect l="l" t="t" r="r" b="b"/>
              <a:pathLst>
                <a:path w="7620000" h="4572000">
                  <a:moveTo>
                    <a:pt x="0" y="0"/>
                  </a:moveTo>
                  <a:lnTo>
                    <a:pt x="7620000" y="0"/>
                  </a:lnTo>
                  <a:moveTo>
                    <a:pt x="0" y="1143000"/>
                  </a:moveTo>
                  <a:lnTo>
                    <a:pt x="7620000" y="1143000"/>
                  </a:lnTo>
                  <a:moveTo>
                    <a:pt x="0" y="2286000"/>
                  </a:moveTo>
                  <a:lnTo>
                    <a:pt x="7620000" y="2286000"/>
                  </a:lnTo>
                  <a:moveTo>
                    <a:pt x="0" y="3429000"/>
                  </a:moveTo>
                  <a:lnTo>
                    <a:pt x="7620000" y="3429000"/>
                  </a:lnTo>
                  <a:moveTo>
                    <a:pt x="0" y="4572000"/>
                  </a:moveTo>
                  <a:lnTo>
                    <a:pt x="7620000" y="4572000"/>
                  </a:lnTo>
                </a:path>
              </a:pathLst>
            </a:custGeom>
            <a:solidFill>
              <a:srgbClr val="000000"/>
            </a:solidFill>
            <a:ln w="9525">
              <a:solidFill>
                <a:srgbClr val="1C2A3D"/>
              </a:solidFill>
              <a:prstDash val="lgDash"/>
            </a:ln>
          </p:spPr>
        </p:sp>
      </p:grpSp>
      <p:grpSp>
        <p:nvGrpSpPr>
          <p:cNvPr id="7" name="Group 7"/>
          <p:cNvGrpSpPr/>
          <p:nvPr/>
        </p:nvGrpSpPr>
        <p:grpSpPr>
          <a:xfrm>
            <a:off x="514350" y="264795"/>
            <a:ext cx="10268403" cy="946594"/>
            <a:chOff x="514350" y="264795"/>
            <a:chExt cx="10268403" cy="946594"/>
          </a:xfrm>
        </p:grpSpPr>
        <p:sp>
          <p:nvSpPr>
            <p:cNvPr id="5" name="TextBox 5"/>
            <p:cNvSpPr txBox="1"/>
            <p:nvPr/>
          </p:nvSpPr>
          <p:spPr>
            <a:xfrm>
              <a:off x="514350" y="264795"/>
              <a:ext cx="10268403"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屢部嫁接让 Agent 演进不污染原业务主干</a:t>
              </a:r>
            </a:p>
          </p:txBody>
        </p:sp>
        <p:sp>
          <p:nvSpPr>
            <p:cNvPr id="6" name="TextBox 6"/>
            <p:cNvSpPr txBox="1"/>
            <p:nvPr/>
          </p:nvSpPr>
          <p:spPr>
            <a:xfrm>
              <a:off x="544068" y="888682"/>
              <a:ext cx="784476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`agent_system/` 与原?API / service / DAO 平行存在，边界清晰，风险可控</a:t>
              </a:r>
            </a:p>
          </p:txBody>
        </p:sp>
      </p:grpSp>
      <p:grpSp>
        <p:nvGrpSpPr>
          <p:cNvPr id="20" name="Group 20"/>
          <p:cNvGrpSpPr/>
          <p:nvPr/>
        </p:nvGrpSpPr>
        <p:grpSpPr>
          <a:xfrm>
            <a:off x="666750" y="1485900"/>
            <a:ext cx="7620000" cy="4248150"/>
            <a:chOff x="666750" y="1485900"/>
            <a:chExt cx="7620000" cy="4248150"/>
          </a:xfrm>
        </p:grpSpPr>
        <p:sp>
          <p:nvSpPr>
            <p:cNvPr id="8" name="Rectangle 8"/>
            <p:cNvSpPr/>
            <p:nvPr/>
          </p:nvSpPr>
          <p:spPr>
            <a:xfrm>
              <a:off x="666750" y="1485900"/>
              <a:ext cx="7620000" cy="819150"/>
            </a:xfrm>
            <a:prstGeom prst="roundRect">
              <a:avLst>
                <a:gd name="adj" fmla="val 6977"/>
              </a:avLst>
            </a:prstGeom>
            <a:solidFill>
              <a:srgbClr val="111827"/>
            </a:solidFill>
            <a:ln w="9525">
              <a:solidFill>
                <a:srgbClr val="7DD3FC"/>
              </a:solidFill>
            </a:ln>
          </p:spPr>
        </p:sp>
        <p:sp>
          <p:nvSpPr>
            <p:cNvPr id="9" name="TextBox 9"/>
            <p:cNvSpPr txBox="1"/>
            <p:nvPr/>
          </p:nvSpPr>
          <p:spPr>
            <a:xfrm>
              <a:off x="868680" y="1628775"/>
              <a:ext cx="1082040" cy="293370"/>
            </a:xfrm>
            <a:prstGeom prst="rect">
              <a:avLst/>
            </a:prstGeom>
            <a:noFill/>
            <a:ln>
              <a:noFill/>
            </a:ln>
          </p:spPr>
          <p:txBody>
            <a:bodyPr wrap="none" lIns="0" tIns="0" rIns="0" bIns="0" anchor="t" anchorCtr="0">
              <a:spAutoFit/>
            </a:bodyPr>
            <a:lstStyle/>
            <a:p>
              <a:pPr algn="l"/>
              <a:r>
                <a:rPr lang="en-US" sz="1500" dirty="0">
                  <a:solidFill>
                    <a:srgbClr val="7DD3FC"/>
                  </a:solidFill>
                  <a:latin typeface="Consolas"/>
                  <a:ea typeface="Consolas"/>
                  <a:cs typeface="Consolas"/>
                </a:rPr>
                <a:t>01 · ENTRY</a:t>
              </a:r>
            </a:p>
          </p:txBody>
        </p:sp>
        <p:sp>
          <p:nvSpPr>
            <p:cNvPr id="10" name="TextBox 10"/>
            <p:cNvSpPr txBox="1"/>
            <p:nvPr/>
          </p:nvSpPr>
          <p:spPr>
            <a:xfrm>
              <a:off x="865632" y="1887855"/>
              <a:ext cx="5402986"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FloatingAgent / `/agent` / SSE Stream</a:t>
              </a:r>
            </a:p>
          </p:txBody>
        </p:sp>
        <p:sp>
          <p:nvSpPr>
            <p:cNvPr id="11" name="Rectangle 11"/>
            <p:cNvSpPr/>
            <p:nvPr/>
          </p:nvSpPr>
          <p:spPr>
            <a:xfrm>
              <a:off x="666750" y="2628900"/>
              <a:ext cx="7620000" cy="819150"/>
            </a:xfrm>
            <a:prstGeom prst="roundRect">
              <a:avLst>
                <a:gd name="adj" fmla="val 6977"/>
              </a:avLst>
            </a:prstGeom>
            <a:solidFill>
              <a:srgbClr val="111827"/>
            </a:solidFill>
            <a:ln w="9525">
              <a:solidFill>
                <a:srgbClr val="8B5CF6"/>
              </a:solidFill>
            </a:ln>
          </p:spPr>
        </p:sp>
        <p:sp>
          <p:nvSpPr>
            <p:cNvPr id="12" name="TextBox 12"/>
            <p:cNvSpPr txBox="1"/>
            <p:nvPr/>
          </p:nvSpPr>
          <p:spPr>
            <a:xfrm>
              <a:off x="868680" y="2771775"/>
              <a:ext cx="2052828" cy="293370"/>
            </a:xfrm>
            <a:prstGeom prst="rect">
              <a:avLst/>
            </a:prstGeom>
            <a:noFill/>
            <a:ln>
              <a:noFill/>
            </a:ln>
          </p:spPr>
          <p:txBody>
            <a:bodyPr wrap="none" lIns="0" tIns="0" rIns="0" bIns="0" anchor="t" anchorCtr="0">
              <a:spAutoFit/>
            </a:bodyPr>
            <a:lstStyle/>
            <a:p>
              <a:pPr algn="l"/>
              <a:r>
                <a:rPr lang="en-US" sz="1500" dirty="0">
                  <a:solidFill>
                    <a:srgbClr val="8B5CF6"/>
                  </a:solidFill>
                  <a:latin typeface="Consolas"/>
                  <a:ea typeface="Consolas"/>
                  <a:cs typeface="Consolas"/>
                </a:rPr>
                <a:t>02 · ORCHESTRATION</a:t>
              </a:r>
            </a:p>
          </p:txBody>
        </p:sp>
        <p:sp>
          <p:nvSpPr>
            <p:cNvPr id="13" name="TextBox 13"/>
            <p:cNvSpPr txBox="1"/>
            <p:nvPr/>
          </p:nvSpPr>
          <p:spPr>
            <a:xfrm>
              <a:off x="865632" y="3030855"/>
              <a:ext cx="6113564"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middleware -&gt; intent -&gt; planner -&gt; executor</a:t>
              </a:r>
            </a:p>
          </p:txBody>
        </p:sp>
        <p:sp>
          <p:nvSpPr>
            <p:cNvPr id="14" name="Rectangle 14"/>
            <p:cNvSpPr/>
            <p:nvPr/>
          </p:nvSpPr>
          <p:spPr>
            <a:xfrm>
              <a:off x="666750" y="3771900"/>
              <a:ext cx="7620000" cy="819150"/>
            </a:xfrm>
            <a:prstGeom prst="roundRect">
              <a:avLst>
                <a:gd name="adj" fmla="val 6977"/>
              </a:avLst>
            </a:prstGeom>
            <a:solidFill>
              <a:srgbClr val="111827"/>
            </a:solidFill>
            <a:ln w="9525">
              <a:solidFill>
                <a:srgbClr val="F59E0B"/>
              </a:solidFill>
            </a:ln>
          </p:spPr>
        </p:sp>
        <p:sp>
          <p:nvSpPr>
            <p:cNvPr id="15" name="TextBox 15"/>
            <p:cNvSpPr txBox="1"/>
            <p:nvPr/>
          </p:nvSpPr>
          <p:spPr>
            <a:xfrm>
              <a:off x="868680" y="3914775"/>
              <a:ext cx="1562100" cy="293370"/>
            </a:xfrm>
            <a:prstGeom prst="rect">
              <a:avLst/>
            </a:prstGeom>
            <a:noFill/>
            <a:ln>
              <a:noFill/>
            </a:ln>
          </p:spPr>
          <p:txBody>
            <a:bodyPr wrap="none" lIns="0" tIns="0" rIns="0" bIns="0" anchor="t" anchorCtr="0">
              <a:spAutoFit/>
            </a:bodyPr>
            <a:lstStyle/>
            <a:p>
              <a:pPr algn="l"/>
              <a:r>
                <a:rPr lang="en-US" sz="1500" dirty="0">
                  <a:solidFill>
                    <a:srgbClr val="F59E0B"/>
                  </a:solidFill>
                  <a:latin typeface="Consolas"/>
                  <a:ea typeface="Consolas"/>
                  <a:cs typeface="Consolas"/>
                </a:rPr>
                <a:t>03 · CAPABILITY</a:t>
              </a:r>
            </a:p>
          </p:txBody>
        </p:sp>
        <p:sp>
          <p:nvSpPr>
            <p:cNvPr id="16" name="TextBox 16"/>
            <p:cNvSpPr txBox="1"/>
            <p:nvPr/>
          </p:nvSpPr>
          <p:spPr>
            <a:xfrm>
              <a:off x="865632" y="4173855"/>
              <a:ext cx="6341364"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RAG / score / NL2SQL / weather / email / map</a:t>
              </a:r>
            </a:p>
          </p:txBody>
        </p:sp>
        <p:sp>
          <p:nvSpPr>
            <p:cNvPr id="17" name="Rectangle 17"/>
            <p:cNvSpPr/>
            <p:nvPr/>
          </p:nvSpPr>
          <p:spPr>
            <a:xfrm>
              <a:off x="666750" y="4914900"/>
              <a:ext cx="7620000" cy="819150"/>
            </a:xfrm>
            <a:prstGeom prst="roundRect">
              <a:avLst>
                <a:gd name="adj" fmla="val 6977"/>
              </a:avLst>
            </a:prstGeom>
            <a:solidFill>
              <a:srgbClr val="111827"/>
            </a:solidFill>
            <a:ln w="9525">
              <a:solidFill>
                <a:srgbClr val="22C55E"/>
              </a:solidFill>
            </a:ln>
          </p:spPr>
        </p:sp>
        <p:sp>
          <p:nvSpPr>
            <p:cNvPr id="18" name="TextBox 18"/>
            <p:cNvSpPr txBox="1"/>
            <p:nvPr/>
          </p:nvSpPr>
          <p:spPr>
            <a:xfrm>
              <a:off x="868680" y="5057775"/>
              <a:ext cx="1711452" cy="293370"/>
            </a:xfrm>
            <a:prstGeom prst="rect">
              <a:avLst/>
            </a:prstGeom>
            <a:noFill/>
            <a:ln>
              <a:noFill/>
            </a:ln>
          </p:spPr>
          <p:txBody>
            <a:bodyPr wrap="none" lIns="0" tIns="0" rIns="0" bIns="0" anchor="t" anchorCtr="0">
              <a:spAutoFit/>
            </a:bodyPr>
            <a:lstStyle/>
            <a:p>
              <a:pPr algn="l"/>
              <a:r>
                <a:rPr lang="en-US" sz="1500" dirty="0">
                  <a:solidFill>
                    <a:srgbClr val="22C55E"/>
                  </a:solidFill>
                  <a:latin typeface="Consolas"/>
                  <a:ea typeface="Consolas"/>
                  <a:cs typeface="Consolas"/>
                </a:rPr>
                <a:t>04 · GOVERNANCE</a:t>
              </a:r>
            </a:p>
          </p:txBody>
        </p:sp>
        <p:sp>
          <p:nvSpPr>
            <p:cNvPr id="19" name="TextBox 19"/>
            <p:cNvSpPr txBox="1"/>
            <p:nvPr/>
          </p:nvSpPr>
          <p:spPr>
            <a:xfrm>
              <a:off x="865632" y="5316855"/>
              <a:ext cx="6764716"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memory / HITL / feedback / metrics / regression</a:t>
              </a:r>
            </a:p>
          </p:txBody>
        </p:sp>
      </p:grpSp>
      <p:grpSp>
        <p:nvGrpSpPr>
          <p:cNvPr id="31" name="Group 31"/>
          <p:cNvGrpSpPr/>
          <p:nvPr/>
        </p:nvGrpSpPr>
        <p:grpSpPr>
          <a:xfrm>
            <a:off x="8669983" y="1485900"/>
            <a:ext cx="2948285" cy="4248150"/>
            <a:chOff x="8669983" y="1485900"/>
            <a:chExt cx="2948285" cy="4248150"/>
          </a:xfrm>
        </p:grpSpPr>
        <p:sp>
          <p:nvSpPr>
            <p:cNvPr id="21" name="Rectangle 21"/>
            <p:cNvSpPr/>
            <p:nvPr/>
          </p:nvSpPr>
          <p:spPr>
            <a:xfrm>
              <a:off x="8858250" y="1485900"/>
              <a:ext cx="2571750" cy="4248150"/>
            </a:xfrm>
            <a:prstGeom prst="roundRect">
              <a:avLst>
                <a:gd name="adj" fmla="val 2222"/>
              </a:avLst>
            </a:prstGeom>
            <a:solidFill>
              <a:srgbClr val="111827"/>
            </a:solidFill>
            <a:ln w="9525">
              <a:solidFill>
                <a:srgbClr val="2A3A52"/>
              </a:solidFill>
            </a:ln>
          </p:spPr>
        </p:sp>
        <p:grpSp>
          <p:nvGrpSpPr>
            <p:cNvPr id="25" name="Group 25"/>
            <p:cNvGrpSpPr/>
            <p:nvPr/>
          </p:nvGrpSpPr>
          <p:grpSpPr>
            <a:xfrm>
              <a:off x="9775031" y="1847850"/>
              <a:ext cx="566738" cy="647700"/>
              <a:chOff x="9775031" y="1847850"/>
              <a:chExt cx="566738" cy="647700"/>
            </a:xfrm>
          </p:grpSpPr>
          <p:sp>
            <p:nvSpPr>
              <p:cNvPr id="22" name="Freeform 22"/>
              <p:cNvSpPr/>
              <p:nvPr/>
            </p:nvSpPr>
            <p:spPr>
              <a:xfrm>
                <a:off x="9775031" y="1847850"/>
                <a:ext cx="566738" cy="323850"/>
              </a:xfrm>
              <a:custGeom>
                <a:avLst/>
                <a:gdLst/>
                <a:ahLst/>
                <a:cxnLst/>
                <a:rect l="l" t="t" r="r" b="b"/>
                <a:pathLst>
                  <a:path w="566738" h="323850">
                    <a:moveTo>
                      <a:pt x="0" y="202406"/>
                    </a:moveTo>
                    <a:lnTo>
                      <a:pt x="0" y="121444"/>
                    </a:lnTo>
                    <a:lnTo>
                      <a:pt x="283369" y="0"/>
                    </a:lnTo>
                    <a:lnTo>
                      <a:pt x="566738" y="121444"/>
                    </a:lnTo>
                    <a:lnTo>
                      <a:pt x="566738" y="202406"/>
                    </a:lnTo>
                    <a:lnTo>
                      <a:pt x="283369" y="323850"/>
                    </a:lnTo>
                    <a:lnTo>
                      <a:pt x="0" y="202406"/>
                    </a:lnTo>
                    <a:close/>
                  </a:path>
                </a:pathLst>
              </a:custGeom>
              <a:solidFill>
                <a:srgbClr val="7DD3FC"/>
              </a:solidFill>
              <a:ln>
                <a:noFill/>
              </a:ln>
            </p:spPr>
          </p:sp>
          <p:sp>
            <p:nvSpPr>
              <p:cNvPr id="23" name="Freeform 23"/>
              <p:cNvSpPr/>
              <p:nvPr/>
            </p:nvSpPr>
            <p:spPr>
              <a:xfrm>
                <a:off x="9775031" y="2293144"/>
                <a:ext cx="566738" cy="202406"/>
              </a:xfrm>
              <a:custGeom>
                <a:avLst/>
                <a:gdLst/>
                <a:ahLst/>
                <a:cxnLst/>
                <a:rect l="l" t="t" r="r" b="b"/>
                <a:pathLst>
                  <a:path w="566738" h="202406">
                    <a:moveTo>
                      <a:pt x="283369" y="202406"/>
                    </a:moveTo>
                    <a:lnTo>
                      <a:pt x="0" y="80962"/>
                    </a:lnTo>
                    <a:lnTo>
                      <a:pt x="0" y="0"/>
                    </a:lnTo>
                    <a:lnTo>
                      <a:pt x="283369" y="121444"/>
                    </a:lnTo>
                    <a:lnTo>
                      <a:pt x="566738" y="0"/>
                    </a:lnTo>
                    <a:lnTo>
                      <a:pt x="566738" y="80962"/>
                    </a:lnTo>
                    <a:lnTo>
                      <a:pt x="283369" y="202406"/>
                    </a:lnTo>
                    <a:close/>
                  </a:path>
                </a:pathLst>
              </a:custGeom>
              <a:solidFill>
                <a:srgbClr val="7DD3FC"/>
              </a:solidFill>
              <a:ln>
                <a:noFill/>
              </a:ln>
            </p:spPr>
          </p:sp>
          <p:sp>
            <p:nvSpPr>
              <p:cNvPr id="24" name="Freeform 24"/>
              <p:cNvSpPr/>
              <p:nvPr/>
            </p:nvSpPr>
            <p:spPr>
              <a:xfrm>
                <a:off x="9775031" y="2131219"/>
                <a:ext cx="566738" cy="202406"/>
              </a:xfrm>
              <a:custGeom>
                <a:avLst/>
                <a:gdLst/>
                <a:ahLst/>
                <a:cxnLst/>
                <a:rect l="l" t="t" r="r" b="b"/>
                <a:pathLst>
                  <a:path w="566738" h="202406">
                    <a:moveTo>
                      <a:pt x="0" y="80962"/>
                    </a:moveTo>
                    <a:lnTo>
                      <a:pt x="283369" y="202406"/>
                    </a:lnTo>
                    <a:lnTo>
                      <a:pt x="566738" y="80962"/>
                    </a:lnTo>
                    <a:lnTo>
                      <a:pt x="566738" y="0"/>
                    </a:lnTo>
                    <a:lnTo>
                      <a:pt x="283369" y="121444"/>
                    </a:lnTo>
                    <a:lnTo>
                      <a:pt x="0" y="0"/>
                    </a:lnTo>
                    <a:lnTo>
                      <a:pt x="0" y="80962"/>
                    </a:lnTo>
                    <a:close/>
                  </a:path>
                </a:pathLst>
              </a:custGeom>
              <a:solidFill>
                <a:srgbClr val="7DD3FC"/>
              </a:solidFill>
              <a:ln>
                <a:noFill/>
              </a:ln>
            </p:spPr>
          </p:sp>
        </p:grpSp>
        <p:sp>
          <p:nvSpPr>
            <p:cNvPr id="26" name="TextBox 26"/>
            <p:cNvSpPr txBox="1"/>
            <p:nvPr/>
          </p:nvSpPr>
          <p:spPr>
            <a:xfrm>
              <a:off x="9410281" y="2753678"/>
              <a:ext cx="1467688" cy="498729"/>
            </a:xfrm>
            <a:prstGeom prst="rect">
              <a:avLst/>
            </a:prstGeom>
            <a:noFill/>
            <a:ln>
              <a:noFill/>
            </a:ln>
          </p:spPr>
          <p:txBody>
            <a:bodyPr wrap="none" lIns="0" tIns="0" rIns="0" bIns="0" anchor="t" anchorCtr="0">
              <a:spAutoFit/>
            </a:bodyPr>
            <a:lstStyle/>
            <a:p>
              <a:pPr algn="ctr"/>
              <a:r>
                <a:rPr lang="zh-CN" sz="2550" b="1" dirty="0">
                  <a:solidFill>
                    <a:srgbClr val="F8FAFC"/>
                  </a:solidFill>
                  <a:latin typeface="Arial"/>
                  <a:ea typeface="Microsoft YaHei"/>
                  <a:cs typeface="Arial"/>
                </a:rPr>
                <a:t>原业务主</a:t>
              </a:r>
            </a:p>
          </p:txBody>
        </p:sp>
        <p:sp>
          <p:nvSpPr>
            <p:cNvPr id="27" name="TextBox 27"/>
            <p:cNvSpPr txBox="1"/>
            <p:nvPr/>
          </p:nvSpPr>
          <p:spPr>
            <a:xfrm>
              <a:off x="8747722" y="3234690"/>
              <a:ext cx="2792806" cy="352044"/>
            </a:xfrm>
            <a:prstGeom prst="rect">
              <a:avLst/>
            </a:prstGeom>
            <a:noFill/>
            <a:ln>
              <a:noFill/>
            </a:ln>
          </p:spPr>
          <p:txBody>
            <a:bodyPr wrap="none" lIns="0" tIns="0" rIns="0" bIns="0" anchor="t" anchorCtr="0">
              <a:spAutoFit/>
            </a:bodyPr>
            <a:lstStyle/>
            <a:p>
              <a:pPr algn="ctr"/>
              <a:r>
                <a:rPr lang="zh-CN" sz="1800" dirty="0">
                  <a:solidFill>
                    <a:srgbClr val="B6C2D2"/>
                  </a:solidFill>
                  <a:latin typeface="Arial"/>
                  <a:ea typeface="Microsoft YaHei"/>
                  <a:cs typeface="Arial"/>
                </a:rPr>
                <a:t>学生 / 成绩 / 班级 / 就业</a:t>
              </a:r>
            </a:p>
          </p:txBody>
        </p:sp>
        <p:sp>
          <p:nvSpPr>
            <p:cNvPr id="28" name="Line 28"/>
            <p:cNvSpPr/>
            <p:nvPr/>
          </p:nvSpPr>
          <p:spPr>
            <a:xfrm>
              <a:off x="9182100" y="3829050"/>
              <a:ext cx="1924050" cy="9525"/>
            </a:xfrm>
            <a:custGeom>
              <a:avLst/>
              <a:gdLst/>
              <a:ahLst/>
              <a:cxnLst/>
              <a:rect l="l" t="t" r="r" b="b"/>
              <a:pathLst>
                <a:path w="1924050" h="9525">
                  <a:moveTo>
                    <a:pt x="0" y="0"/>
                  </a:moveTo>
                  <a:lnTo>
                    <a:pt x="1924050" y="0"/>
                  </a:lnTo>
                </a:path>
              </a:pathLst>
            </a:custGeom>
            <a:noFill/>
            <a:ln w="9525">
              <a:solidFill>
                <a:srgbClr val="2A3A52"/>
              </a:solidFill>
            </a:ln>
          </p:spPr>
        </p:sp>
        <p:sp>
          <p:nvSpPr>
            <p:cNvPr id="29" name="TextBox 29"/>
            <p:cNvSpPr txBox="1"/>
            <p:nvPr/>
          </p:nvSpPr>
          <p:spPr>
            <a:xfrm>
              <a:off x="9178576" y="4062412"/>
              <a:ext cx="1931098"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零次拖入大重</a:t>
              </a:r>
            </a:p>
          </p:txBody>
        </p:sp>
        <p:sp>
          <p:nvSpPr>
            <p:cNvPr id="30" name="TextBox 30"/>
            <p:cNvSpPr txBox="1"/>
            <p:nvPr/>
          </p:nvSpPr>
          <p:spPr>
            <a:xfrm>
              <a:off x="8669983" y="4584382"/>
              <a:ext cx="2948285" cy="322707"/>
            </a:xfrm>
            <a:prstGeom prst="rect">
              <a:avLst/>
            </a:prstGeom>
            <a:noFill/>
            <a:ln>
              <a:noFill/>
            </a:ln>
          </p:spPr>
          <p:txBody>
            <a:bodyPr wrap="none" lIns="0" tIns="0" rIns="0" bIns="0" anchor="t" anchorCtr="0">
              <a:spAutoFit/>
            </a:bodyPr>
            <a:lstStyle/>
            <a:p>
              <a:pPr algn="ctr"/>
              <a:r>
                <a:rPr lang="zh-CN" sz="1650" dirty="0">
                  <a:solidFill>
                    <a:srgbClr val="B6C2D2"/>
                  </a:solidFill>
                  <a:latin typeface="Arial"/>
                  <a:ea typeface="Microsoft YaHei"/>
                  <a:cs typeface="Arial"/>
                </a:rPr>
                <a:t>Agent 迭代在独立边界内完成</a:t>
              </a:r>
            </a:p>
          </p:txBody>
        </p:sp>
      </p:grpSp>
      <p:sp>
        <p:nvSpPr>
          <p:cNvPr id="32" name="TextBox 32"/>
          <p:cNvSpPr txBox="1"/>
          <p:nvPr/>
        </p:nvSpPr>
        <p:spPr>
          <a:xfrm>
            <a:off x="527304" y="6309360"/>
            <a:ext cx="3022580" cy="234696"/>
          </a:xfrm>
          <a:prstGeom prst="rect">
            <a:avLst/>
          </a:prstGeom>
          <a:noFill/>
          <a:ln>
            <a:noFill/>
          </a:ln>
        </p:spPr>
        <p:txBody>
          <a:bodyPr wrap="none" lIns="0" tIns="0" rIns="0" bIns="0" anchor="t" anchorCtr="0">
            <a:spAutoFit/>
          </a:bodyPr>
          <a:lstStyle/>
          <a:p>
            <a:pPr algn="l"/>
            <a:r>
              <a:rPr lang="en-US" sz="1200" dirty="0">
                <a:solidFill>
                  <a:srgbClr val="7F8EA3"/>
                </a:solidFill>
                <a:latin typeface="Arial"/>
                <a:ea typeface="Arial"/>
                <a:cs typeface="Arial"/>
              </a:rPr>
              <a:t>P04 · layered architecture adaptation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400"/>
                                        <p:tgtEl>
                                          <p:spTgt spid="2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476250" y="1333500"/>
              <a:ext cx="11239500" cy="4667250"/>
            </a:xfrm>
            <a:custGeom>
              <a:avLst/>
              <a:gdLst/>
              <a:ahLst/>
              <a:cxnLst/>
              <a:rect l="l" t="t" r="r" b="b"/>
              <a:pathLst>
                <a:path w="11239500" h="4667250">
                  <a:moveTo>
                    <a:pt x="0" y="0"/>
                  </a:moveTo>
                  <a:lnTo>
                    <a:pt x="11239500" y="0"/>
                  </a:lnTo>
                  <a:moveTo>
                    <a:pt x="0" y="4667250"/>
                  </a:moveTo>
                  <a:lnTo>
                    <a:pt x="11239500" y="4667250"/>
                  </a:lnTo>
                </a:path>
              </a:pathLst>
            </a:custGeom>
            <a:solidFill>
              <a:srgbClr val="000000"/>
            </a:solidFill>
            <a:ln w="9525">
              <a:solidFill>
                <a:srgbClr val="1C2A3D"/>
              </a:solidFill>
              <a:prstDash val="lgDash"/>
            </a:ln>
          </p:spPr>
        </p:sp>
      </p:grpSp>
      <p:grpSp>
        <p:nvGrpSpPr>
          <p:cNvPr id="7" name="Group 7"/>
          <p:cNvGrpSpPr/>
          <p:nvPr/>
        </p:nvGrpSpPr>
        <p:grpSpPr>
          <a:xfrm>
            <a:off x="514350" y="264795"/>
            <a:ext cx="11097059" cy="946594"/>
            <a:chOff x="514350" y="264795"/>
            <a:chExt cx="11097059" cy="946594"/>
          </a:xfrm>
        </p:grpSpPr>
        <p:sp>
          <p:nvSpPr>
            <p:cNvPr id="5" name="TextBox 5"/>
            <p:cNvSpPr txBox="1"/>
            <p:nvPr/>
          </p:nvSpPr>
          <p:spPr>
            <a:xfrm>
              <a:off x="514350" y="264795"/>
              <a:ext cx="11097059"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Planner 驱动把工具调用风险收敛到确定性链</a:t>
              </a:r>
            </a:p>
          </p:txBody>
        </p:sp>
        <p:sp>
          <p:nvSpPr>
            <p:cNvPr id="6" name="TextBox 6"/>
            <p:cNvSpPr txBox="1"/>
            <p:nvPr/>
          </p:nvSpPr>
          <p:spPr>
            <a:xfrm>
              <a:off x="544068" y="888682"/>
              <a:ext cx="66234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LLM 负责理解和计划，真正执行的是结构化步骤和确定性工具链</a:t>
              </a:r>
            </a:p>
          </p:txBody>
        </p:sp>
      </p:grpSp>
      <p:grpSp>
        <p:nvGrpSpPr>
          <p:cNvPr id="12" name="Group 12"/>
          <p:cNvGrpSpPr/>
          <p:nvPr/>
        </p:nvGrpSpPr>
        <p:grpSpPr>
          <a:xfrm>
            <a:off x="590550" y="1885950"/>
            <a:ext cx="1809750" cy="1485900"/>
            <a:chOff x="590550" y="1885950"/>
            <a:chExt cx="1809750" cy="1485900"/>
          </a:xfrm>
        </p:grpSpPr>
        <p:sp>
          <p:nvSpPr>
            <p:cNvPr id="8" name="Rectangle 8"/>
            <p:cNvSpPr/>
            <p:nvPr/>
          </p:nvSpPr>
          <p:spPr>
            <a:xfrm>
              <a:off x="590550" y="1885950"/>
              <a:ext cx="1809750" cy="1485900"/>
            </a:xfrm>
            <a:prstGeom prst="roundRect">
              <a:avLst>
                <a:gd name="adj" fmla="val 3846"/>
              </a:avLst>
            </a:prstGeom>
            <a:solidFill>
              <a:srgbClr val="111827"/>
            </a:solidFill>
            <a:ln w="9525">
              <a:solidFill>
                <a:srgbClr val="2A3A52"/>
              </a:solidFill>
            </a:ln>
          </p:spPr>
        </p:sp>
        <p:sp>
          <p:nvSpPr>
            <p:cNvPr id="9" name="TextBox 9"/>
            <p:cNvSpPr txBox="1"/>
            <p:nvPr/>
          </p:nvSpPr>
          <p:spPr>
            <a:xfrm>
              <a:off x="812292" y="2121218"/>
              <a:ext cx="213627"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01</a:t>
              </a:r>
            </a:p>
          </p:txBody>
        </p:sp>
        <p:sp>
          <p:nvSpPr>
            <p:cNvPr id="10" name="TextBox 10"/>
            <p:cNvSpPr txBox="1"/>
            <p:nvPr/>
          </p:nvSpPr>
          <p:spPr>
            <a:xfrm>
              <a:off x="808482" y="24593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意图分类</a:t>
              </a:r>
            </a:p>
          </p:txBody>
        </p:sp>
        <p:sp>
          <p:nvSpPr>
            <p:cNvPr id="11" name="TextBox 11"/>
            <p:cNvSpPr txBox="1"/>
            <p:nvPr/>
          </p:nvSpPr>
          <p:spPr>
            <a:xfrm>
              <a:off x="811530" y="2905125"/>
              <a:ext cx="122682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只判断任务本</a:t>
              </a:r>
            </a:p>
          </p:txBody>
        </p:sp>
      </p:grpSp>
      <p:grpSp>
        <p:nvGrpSpPr>
          <p:cNvPr id="18" name="Group 18"/>
          <p:cNvGrpSpPr/>
          <p:nvPr/>
        </p:nvGrpSpPr>
        <p:grpSpPr>
          <a:xfrm>
            <a:off x="2495550" y="1885950"/>
            <a:ext cx="2628900" cy="1485900"/>
            <a:chOff x="2495550" y="1885950"/>
            <a:chExt cx="2628900" cy="1485900"/>
          </a:xfrm>
        </p:grpSpPr>
        <p:sp>
          <p:nvSpPr>
            <p:cNvPr id="13" name="Line 13"/>
            <p:cNvSpPr/>
            <p:nvPr/>
          </p:nvSpPr>
          <p:spPr>
            <a:xfrm>
              <a:off x="2495550" y="2628900"/>
              <a:ext cx="704850" cy="1"/>
            </a:xfrm>
            <a:prstGeom prst="line">
              <a:avLst/>
            </a:prstGeom>
            <a:noFill/>
            <a:ln w="19050">
              <a:solidFill>
                <a:srgbClr val="7DD3FC"/>
              </a:solidFill>
              <a:tailEnd type="triangle" w="lg" len="lg"/>
            </a:ln>
          </p:spPr>
        </p:sp>
        <p:sp>
          <p:nvSpPr>
            <p:cNvPr id="14" name="Rectangle 14"/>
            <p:cNvSpPr/>
            <p:nvPr/>
          </p:nvSpPr>
          <p:spPr>
            <a:xfrm>
              <a:off x="3314700" y="1885950"/>
              <a:ext cx="1809750" cy="1485900"/>
            </a:xfrm>
            <a:prstGeom prst="roundRect">
              <a:avLst>
                <a:gd name="adj" fmla="val 3846"/>
              </a:avLst>
            </a:prstGeom>
            <a:solidFill>
              <a:srgbClr val="111827"/>
            </a:solidFill>
            <a:ln w="9525">
              <a:solidFill>
                <a:srgbClr val="2A3A52"/>
              </a:solidFill>
            </a:ln>
          </p:spPr>
        </p:sp>
        <p:sp>
          <p:nvSpPr>
            <p:cNvPr id="15" name="TextBox 15"/>
            <p:cNvSpPr txBox="1"/>
            <p:nvPr/>
          </p:nvSpPr>
          <p:spPr>
            <a:xfrm>
              <a:off x="3536442" y="2121218"/>
              <a:ext cx="213627"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02</a:t>
              </a:r>
            </a:p>
          </p:txBody>
        </p:sp>
        <p:sp>
          <p:nvSpPr>
            <p:cNvPr id="16" name="TextBox 16"/>
            <p:cNvSpPr txBox="1"/>
            <p:nvPr/>
          </p:nvSpPr>
          <p:spPr>
            <a:xfrm>
              <a:off x="3532632" y="24593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计划生成</a:t>
              </a:r>
            </a:p>
          </p:txBody>
        </p:sp>
        <p:sp>
          <p:nvSpPr>
            <p:cNvPr id="17" name="TextBox 17"/>
            <p:cNvSpPr txBox="1"/>
            <p:nvPr/>
          </p:nvSpPr>
          <p:spPr>
            <a:xfrm>
              <a:off x="3535680" y="2905125"/>
              <a:ext cx="122682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输出结构化步</a:t>
              </a:r>
            </a:p>
          </p:txBody>
        </p:sp>
      </p:grpSp>
      <p:grpSp>
        <p:nvGrpSpPr>
          <p:cNvPr id="24" name="Group 24"/>
          <p:cNvGrpSpPr/>
          <p:nvPr/>
        </p:nvGrpSpPr>
        <p:grpSpPr>
          <a:xfrm>
            <a:off x="5219700" y="1885950"/>
            <a:ext cx="2628900" cy="1485900"/>
            <a:chOff x="5219700" y="1885950"/>
            <a:chExt cx="2628900" cy="1485900"/>
          </a:xfrm>
        </p:grpSpPr>
        <p:sp>
          <p:nvSpPr>
            <p:cNvPr id="19" name="Line 19"/>
            <p:cNvSpPr/>
            <p:nvPr/>
          </p:nvSpPr>
          <p:spPr>
            <a:xfrm>
              <a:off x="5219700" y="2628900"/>
              <a:ext cx="704850" cy="1"/>
            </a:xfrm>
            <a:prstGeom prst="line">
              <a:avLst/>
            </a:prstGeom>
            <a:noFill/>
            <a:ln w="19050">
              <a:solidFill>
                <a:srgbClr val="7DD3FC"/>
              </a:solidFill>
              <a:tailEnd type="triangle" w="lg" len="lg"/>
            </a:ln>
          </p:spPr>
        </p:sp>
        <p:sp>
          <p:nvSpPr>
            <p:cNvPr id="20" name="Rectangle 20"/>
            <p:cNvSpPr/>
            <p:nvPr/>
          </p:nvSpPr>
          <p:spPr>
            <a:xfrm>
              <a:off x="6038850" y="1885950"/>
              <a:ext cx="1809750" cy="1485900"/>
            </a:xfrm>
            <a:prstGeom prst="roundRect">
              <a:avLst>
                <a:gd name="adj" fmla="val 3846"/>
              </a:avLst>
            </a:prstGeom>
            <a:solidFill>
              <a:srgbClr val="111827"/>
            </a:solidFill>
            <a:ln w="9525">
              <a:solidFill>
                <a:srgbClr val="F59E0B"/>
              </a:solidFill>
            </a:ln>
          </p:spPr>
        </p:sp>
        <p:sp>
          <p:nvSpPr>
            <p:cNvPr id="21" name="TextBox 21"/>
            <p:cNvSpPr txBox="1"/>
            <p:nvPr/>
          </p:nvSpPr>
          <p:spPr>
            <a:xfrm>
              <a:off x="6260592" y="2121218"/>
              <a:ext cx="213627" cy="264033"/>
            </a:xfrm>
            <a:prstGeom prst="rect">
              <a:avLst/>
            </a:prstGeom>
            <a:noFill/>
            <a:ln>
              <a:noFill/>
            </a:ln>
          </p:spPr>
          <p:txBody>
            <a:bodyPr wrap="none" lIns="0" tIns="0" rIns="0" bIns="0" anchor="t" anchorCtr="0">
              <a:spAutoFit/>
            </a:bodyPr>
            <a:lstStyle/>
            <a:p>
              <a:pPr algn="l"/>
              <a:r>
                <a:rPr lang="en-US" sz="1350" dirty="0">
                  <a:solidFill>
                    <a:srgbClr val="F59E0B"/>
                  </a:solidFill>
                  <a:latin typeface="Consolas"/>
                  <a:ea typeface="Consolas"/>
                  <a:cs typeface="Consolas"/>
                </a:rPr>
                <a:t>03</a:t>
              </a:r>
            </a:p>
          </p:txBody>
        </p:sp>
        <p:sp>
          <p:nvSpPr>
            <p:cNvPr id="22" name="TextBox 22"/>
            <p:cNvSpPr txBox="1"/>
            <p:nvPr/>
          </p:nvSpPr>
          <p:spPr>
            <a:xfrm>
              <a:off x="6256782" y="2459355"/>
              <a:ext cx="1336660" cy="410718"/>
            </a:xfrm>
            <a:prstGeom prst="rect">
              <a:avLst/>
            </a:prstGeom>
            <a:noFill/>
            <a:ln>
              <a:noFill/>
            </a:ln>
          </p:spPr>
          <p:txBody>
            <a:bodyPr wrap="none" lIns="0" tIns="0" rIns="0" bIns="0" anchor="t" anchorCtr="0">
              <a:spAutoFit/>
            </a:bodyPr>
            <a:lstStyle/>
            <a:p>
              <a:pPr algn="l"/>
              <a:r>
                <a:rPr lang="en-US" sz="2100" b="1" dirty="0">
                  <a:solidFill>
                    <a:srgbClr val="F8FAFC"/>
                  </a:solidFill>
                  <a:latin typeface="Arial"/>
                  <a:ea typeface="Arial"/>
                  <a:cs typeface="Arial"/>
                </a:rPr>
                <a:t>Executor</a:t>
              </a:r>
            </a:p>
          </p:txBody>
        </p:sp>
        <p:sp>
          <p:nvSpPr>
            <p:cNvPr id="23" name="TextBox 23"/>
            <p:cNvSpPr txBox="1"/>
            <p:nvPr/>
          </p:nvSpPr>
          <p:spPr>
            <a:xfrm>
              <a:off x="6259830" y="2905125"/>
              <a:ext cx="82296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按计划执</a:t>
              </a:r>
            </a:p>
          </p:txBody>
        </p:sp>
      </p:grpSp>
      <p:grpSp>
        <p:nvGrpSpPr>
          <p:cNvPr id="30" name="Group 30"/>
          <p:cNvGrpSpPr/>
          <p:nvPr/>
        </p:nvGrpSpPr>
        <p:grpSpPr>
          <a:xfrm>
            <a:off x="7943850" y="1885950"/>
            <a:ext cx="2628900" cy="1485900"/>
            <a:chOff x="7943850" y="1885950"/>
            <a:chExt cx="2628900" cy="1485900"/>
          </a:xfrm>
        </p:grpSpPr>
        <p:sp>
          <p:nvSpPr>
            <p:cNvPr id="25" name="Line 25"/>
            <p:cNvSpPr/>
            <p:nvPr/>
          </p:nvSpPr>
          <p:spPr>
            <a:xfrm>
              <a:off x="7943850" y="2628900"/>
              <a:ext cx="704850" cy="1"/>
            </a:xfrm>
            <a:prstGeom prst="line">
              <a:avLst/>
            </a:prstGeom>
            <a:noFill/>
            <a:ln w="19050">
              <a:solidFill>
                <a:srgbClr val="7DD3FC"/>
              </a:solidFill>
              <a:tailEnd type="triangle" w="lg" len="lg"/>
            </a:ln>
          </p:spPr>
        </p:sp>
        <p:sp>
          <p:nvSpPr>
            <p:cNvPr id="26" name="Rectangle 26"/>
            <p:cNvSpPr/>
            <p:nvPr/>
          </p:nvSpPr>
          <p:spPr>
            <a:xfrm>
              <a:off x="8763000" y="1885950"/>
              <a:ext cx="1809750" cy="1485900"/>
            </a:xfrm>
            <a:prstGeom prst="roundRect">
              <a:avLst>
                <a:gd name="adj" fmla="val 3846"/>
              </a:avLst>
            </a:prstGeom>
            <a:solidFill>
              <a:srgbClr val="111827"/>
            </a:solidFill>
            <a:ln w="9525">
              <a:solidFill>
                <a:srgbClr val="2A3A52"/>
              </a:solidFill>
            </a:ln>
          </p:spPr>
        </p:sp>
        <p:sp>
          <p:nvSpPr>
            <p:cNvPr id="27" name="TextBox 27"/>
            <p:cNvSpPr txBox="1"/>
            <p:nvPr/>
          </p:nvSpPr>
          <p:spPr>
            <a:xfrm>
              <a:off x="8984742" y="2121218"/>
              <a:ext cx="213627"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04</a:t>
              </a:r>
            </a:p>
          </p:txBody>
        </p:sp>
        <p:sp>
          <p:nvSpPr>
            <p:cNvPr id="28" name="TextBox 28"/>
            <p:cNvSpPr txBox="1"/>
            <p:nvPr/>
          </p:nvSpPr>
          <p:spPr>
            <a:xfrm>
              <a:off x="8980932" y="2459355"/>
              <a:ext cx="615010"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工具</a:t>
              </a:r>
            </a:p>
          </p:txBody>
        </p:sp>
        <p:sp>
          <p:nvSpPr>
            <p:cNvPr id="29" name="TextBox 29"/>
            <p:cNvSpPr txBox="1"/>
            <p:nvPr/>
          </p:nvSpPr>
          <p:spPr>
            <a:xfrm>
              <a:off x="8983980" y="2905125"/>
              <a:ext cx="1336119"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统一 BaseTool</a:t>
              </a:r>
            </a:p>
          </p:txBody>
        </p:sp>
      </p:grpSp>
      <p:grpSp>
        <p:nvGrpSpPr>
          <p:cNvPr id="35" name="Group 35"/>
          <p:cNvGrpSpPr/>
          <p:nvPr/>
        </p:nvGrpSpPr>
        <p:grpSpPr>
          <a:xfrm>
            <a:off x="9525000" y="3371850"/>
            <a:ext cx="1850972" cy="1657350"/>
            <a:chOff x="9525000" y="3371850"/>
            <a:chExt cx="1850972" cy="1657350"/>
          </a:xfrm>
        </p:grpSpPr>
        <p:sp>
          <p:nvSpPr>
            <p:cNvPr id="31" name="Rectangle 31"/>
            <p:cNvSpPr/>
            <p:nvPr/>
          </p:nvSpPr>
          <p:spPr>
            <a:xfrm>
              <a:off x="9525000" y="3905250"/>
              <a:ext cx="1809750" cy="1123950"/>
            </a:xfrm>
            <a:prstGeom prst="roundRect">
              <a:avLst>
                <a:gd name="adj" fmla="val 5085"/>
              </a:avLst>
            </a:prstGeom>
            <a:solidFill>
              <a:srgbClr val="111827"/>
            </a:solidFill>
            <a:ln w="9525">
              <a:solidFill>
                <a:srgbClr val="8B5CF6"/>
              </a:solidFill>
            </a:ln>
          </p:spPr>
        </p:sp>
        <p:sp>
          <p:nvSpPr>
            <p:cNvPr id="32" name="TextBox 32"/>
            <p:cNvSpPr txBox="1"/>
            <p:nvPr/>
          </p:nvSpPr>
          <p:spPr>
            <a:xfrm>
              <a:off x="9647301" y="4089521"/>
              <a:ext cx="1728671"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Persona 回复</a:t>
              </a:r>
            </a:p>
          </p:txBody>
        </p:sp>
        <p:sp>
          <p:nvSpPr>
            <p:cNvPr id="33" name="TextBox 33"/>
            <p:cNvSpPr txBox="1"/>
            <p:nvPr/>
          </p:nvSpPr>
          <p:spPr>
            <a:xfrm>
              <a:off x="9745980" y="4486275"/>
              <a:ext cx="82296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只影响么</a:t>
              </a:r>
            </a:p>
          </p:txBody>
        </p:sp>
        <p:sp>
          <p:nvSpPr>
            <p:cNvPr id="34" name="Freeform 34"/>
            <p:cNvSpPr/>
            <p:nvPr/>
          </p:nvSpPr>
          <p:spPr>
            <a:xfrm>
              <a:off x="9667875" y="3371850"/>
              <a:ext cx="9525" cy="419100"/>
            </a:xfrm>
            <a:custGeom>
              <a:avLst/>
              <a:gdLst/>
              <a:ahLst/>
              <a:cxnLst/>
              <a:rect l="l" t="t" r="r" b="b"/>
              <a:pathLst>
                <a:path w="9525" h="419100">
                  <a:moveTo>
                    <a:pt x="0" y="0"/>
                  </a:moveTo>
                  <a:lnTo>
                    <a:pt x="0" y="419100"/>
                  </a:lnTo>
                </a:path>
              </a:pathLst>
            </a:custGeom>
            <a:noFill/>
            <a:ln w="19050">
              <a:solidFill>
                <a:srgbClr val="8B5CF6"/>
              </a:solidFill>
              <a:tailEnd type="triangle" w="lg" len="lg"/>
            </a:ln>
          </p:spPr>
        </p:sp>
      </p:grpSp>
      <p:grpSp>
        <p:nvGrpSpPr>
          <p:cNvPr id="39" name="Group 39"/>
          <p:cNvGrpSpPr/>
          <p:nvPr/>
        </p:nvGrpSpPr>
        <p:grpSpPr>
          <a:xfrm>
            <a:off x="693420" y="4095750"/>
            <a:ext cx="8541525" cy="1568767"/>
            <a:chOff x="693420" y="4095750"/>
            <a:chExt cx="8541525" cy="1568767"/>
          </a:xfrm>
        </p:grpSpPr>
        <p:sp>
          <p:nvSpPr>
            <p:cNvPr id="36" name="Rectangle 36"/>
            <p:cNvSpPr/>
            <p:nvPr/>
          </p:nvSpPr>
          <p:spPr>
            <a:xfrm>
              <a:off x="704850" y="4095750"/>
              <a:ext cx="7524750" cy="914400"/>
            </a:xfrm>
            <a:prstGeom prst="roundRect">
              <a:avLst>
                <a:gd name="adj" fmla="val 6250"/>
              </a:avLst>
            </a:prstGeom>
            <a:solidFill>
              <a:srgbClr val="111827"/>
            </a:solidFill>
            <a:ln w="9525">
              <a:solidFill>
                <a:srgbClr val="2A3A52"/>
              </a:solidFill>
            </a:ln>
          </p:spPr>
        </p:sp>
        <p:pic>
          <p:nvPicPr>
            <p:cNvPr id="37" name="Image 37"/>
            <p:cNvPicPr>
              <a:picLocks noChangeAspect="1"/>
            </p:cNvPicPr>
            <p:nvPr/>
          </p:nvPicPr>
          <p:blipFill>
            <a:blip r:embed="rId2"/>
            <a:stretch>
              <a:fillRect/>
            </a:stretch>
          </p:blipFill>
          <p:spPr>
            <a:xfrm>
              <a:off x="1078421" y="4371975"/>
              <a:ext cx="6472809" cy="400050"/>
            </a:xfrm>
            <a:prstGeom prst="rect">
              <a:avLst/>
            </a:prstGeom>
          </p:spPr>
        </p:pic>
        <p:sp>
          <p:nvSpPr>
            <p:cNvPr id="38" name="TextBox 38"/>
            <p:cNvSpPr txBox="1"/>
            <p:nvPr/>
          </p:nvSpPr>
          <p:spPr>
            <a:xfrm>
              <a:off x="693420" y="5224462"/>
              <a:ext cx="8541525" cy="440055"/>
            </a:xfrm>
            <a:prstGeom prst="rect">
              <a:avLst/>
            </a:prstGeom>
            <a:noFill/>
            <a:ln>
              <a:noFill/>
            </a:ln>
          </p:spPr>
          <p:txBody>
            <a:bodyPr wrap="none" lIns="0" tIns="0" rIns="0" bIns="0" anchor="t" anchorCtr="0">
              <a:spAutoFit/>
            </a:bodyPr>
            <a:lstStyle/>
            <a:p>
              <a:pPr algn="l"/>
              <a:r>
                <a:rPr lang="zh-CN" sz="2250" b="1" dirty="0">
                  <a:solidFill>
                    <a:srgbClr val="F59E0B"/>
                  </a:solidFill>
                  <a:latin typeface="Arial"/>
                  <a:ea typeface="Microsoft YaHei"/>
                  <a:cs typeface="Arial"/>
                </a:rPr>
                <a:t>系统要降低的不是“AI 不会说话”，而是“不调调错重复调”</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400"/>
                                        <p:tgtEl>
                                          <p:spTgt spid="1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Bottom)">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400"/>
                                        <p:tgtEl>
                                          <p:spTgt spid="30"/>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slide(fromBottom)">
                                      <p:cBhvr>
                                        <p:cTn id="23" dur="400"/>
                                        <p:tgtEl>
                                          <p:spTgt spid="35"/>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24" grpId="0"/>
      <p:bldP spid="30" grpId="0"/>
      <p:bldP spid="35"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666750" y="1562100"/>
              <a:ext cx="10858500" cy="4248150"/>
            </a:xfrm>
            <a:custGeom>
              <a:avLst/>
              <a:gdLst/>
              <a:ahLst/>
              <a:cxnLst/>
              <a:rect l="l" t="t" r="r" b="b"/>
              <a:pathLst>
                <a:path w="10858500" h="4248150">
                  <a:moveTo>
                    <a:pt x="0" y="0"/>
                  </a:moveTo>
                  <a:lnTo>
                    <a:pt x="10858500" y="0"/>
                  </a:lnTo>
                  <a:moveTo>
                    <a:pt x="0" y="4248150"/>
                  </a:moveTo>
                  <a:lnTo>
                    <a:pt x="10858500" y="4248150"/>
                  </a:lnTo>
                </a:path>
              </a:pathLst>
            </a:custGeom>
            <a:solidFill>
              <a:srgbClr val="000000"/>
            </a:solidFill>
            <a:ln w="9525">
              <a:solidFill>
                <a:srgbClr val="1C2A3D"/>
              </a:solidFill>
              <a:prstDash val="lgDash"/>
            </a:ln>
          </p:spPr>
        </p:sp>
      </p:grpSp>
      <p:grpSp>
        <p:nvGrpSpPr>
          <p:cNvPr id="7" name="Group 7"/>
          <p:cNvGrpSpPr/>
          <p:nvPr/>
        </p:nvGrpSpPr>
        <p:grpSpPr>
          <a:xfrm>
            <a:off x="514350" y="264795"/>
            <a:ext cx="12240905" cy="946594"/>
            <a:chOff x="514350" y="264795"/>
            <a:chExt cx="12240905" cy="946594"/>
          </a:xfrm>
        </p:grpSpPr>
        <p:sp>
          <p:nvSpPr>
            <p:cNvPr id="5" name="TextBox 5"/>
            <p:cNvSpPr txBox="1"/>
            <p:nvPr/>
          </p:nvSpPr>
          <p:spPr>
            <a:xfrm>
              <a:off x="514350" y="264795"/>
              <a:ext cx="1224090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RAG 不是向量库接入，而是丢条问答质量工程链</a:t>
              </a:r>
            </a:p>
          </p:txBody>
        </p:sp>
        <p:sp>
          <p:nvSpPr>
            <p:cNvPr id="6" name="TextBox 6"/>
            <p:cNvSpPr txBox="1"/>
            <p:nvPr/>
          </p:nvSpPr>
          <p:spPr>
            <a:xfrm>
              <a:off x="544068" y="888682"/>
              <a:ext cx="6680454"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从切片召回精排到拒答，每丢段都服务于答得准，也知道何时不该答</a:t>
              </a:r>
            </a:p>
          </p:txBody>
        </p:sp>
      </p:grpSp>
      <p:grpSp>
        <p:nvGrpSpPr>
          <p:cNvPr id="17" name="Group 17"/>
          <p:cNvGrpSpPr/>
          <p:nvPr/>
        </p:nvGrpSpPr>
        <p:grpSpPr>
          <a:xfrm>
            <a:off x="647700" y="2038350"/>
            <a:ext cx="2000250" cy="2381250"/>
            <a:chOff x="647700" y="2038350"/>
            <a:chExt cx="2000250" cy="2381250"/>
          </a:xfrm>
        </p:grpSpPr>
        <p:sp>
          <p:nvSpPr>
            <p:cNvPr id="8" name="Rectangle 8"/>
            <p:cNvSpPr/>
            <p:nvPr/>
          </p:nvSpPr>
          <p:spPr>
            <a:xfrm>
              <a:off x="647700" y="2038350"/>
              <a:ext cx="2000250" cy="2381250"/>
            </a:xfrm>
            <a:prstGeom prst="roundRect">
              <a:avLst>
                <a:gd name="adj" fmla="val 2857"/>
              </a:avLst>
            </a:prstGeom>
            <a:solidFill>
              <a:srgbClr val="111827"/>
            </a:solidFill>
            <a:ln w="9525">
              <a:solidFill>
                <a:srgbClr val="2A3A52"/>
              </a:solidFill>
            </a:ln>
          </p:spPr>
        </p:sp>
        <p:grpSp>
          <p:nvGrpSpPr>
            <p:cNvPr id="12" name="Group 12"/>
            <p:cNvGrpSpPr/>
            <p:nvPr/>
          </p:nvGrpSpPr>
          <p:grpSpPr>
            <a:xfrm>
              <a:off x="916781" y="2266950"/>
              <a:ext cx="242888" cy="323850"/>
              <a:chOff x="916781" y="2266950"/>
              <a:chExt cx="242888" cy="323850"/>
            </a:xfrm>
          </p:grpSpPr>
          <p:sp>
            <p:nvSpPr>
              <p:cNvPr id="9" name="Freeform 9"/>
              <p:cNvSpPr/>
              <p:nvPr/>
            </p:nvSpPr>
            <p:spPr>
              <a:xfrm>
                <a:off x="916781" y="2396490"/>
                <a:ext cx="242888" cy="93107"/>
              </a:xfrm>
              <a:custGeom>
                <a:avLst/>
                <a:gdLst/>
                <a:ahLst/>
                <a:cxnLst/>
                <a:rect l="l" t="t" r="r" b="b"/>
                <a:pathLst>
                  <a:path w="242888" h="93107">
                    <a:moveTo>
                      <a:pt x="225422" y="10326"/>
                    </a:moveTo>
                    <a:cubicBezTo>
                      <a:pt x="231116" y="7479"/>
                      <a:pt x="237064" y="4044"/>
                      <a:pt x="242888" y="0"/>
                    </a:cubicBezTo>
                    <a:lnTo>
                      <a:pt x="242888" y="32385"/>
                    </a:lnTo>
                    <a:cubicBezTo>
                      <a:pt x="242888" y="65920"/>
                      <a:pt x="188515" y="93107"/>
                      <a:pt x="121444" y="93107"/>
                    </a:cubicBezTo>
                    <a:cubicBezTo>
                      <a:pt x="54372" y="93107"/>
                      <a:pt x="0" y="65920"/>
                      <a:pt x="0" y="32385"/>
                    </a:cubicBezTo>
                    <a:lnTo>
                      <a:pt x="0" y="0"/>
                    </a:lnTo>
                    <a:cubicBezTo>
                      <a:pt x="5824" y="4044"/>
                      <a:pt x="11772" y="7479"/>
                      <a:pt x="17466" y="10326"/>
                    </a:cubicBezTo>
                    <a:cubicBezTo>
                      <a:pt x="46168" y="24677"/>
                      <a:pt x="82986" y="32385"/>
                      <a:pt x="121444" y="32385"/>
                    </a:cubicBezTo>
                    <a:cubicBezTo>
                      <a:pt x="159901" y="32385"/>
                      <a:pt x="196719" y="24677"/>
                      <a:pt x="225422" y="10326"/>
                    </a:cubicBezTo>
                    <a:close/>
                  </a:path>
                </a:pathLst>
              </a:custGeom>
              <a:solidFill>
                <a:srgbClr val="7DD3FC"/>
              </a:solidFill>
              <a:ln>
                <a:noFill/>
              </a:ln>
            </p:spPr>
          </p:sp>
          <p:sp>
            <p:nvSpPr>
              <p:cNvPr id="10" name="Freeform 10"/>
              <p:cNvSpPr/>
              <p:nvPr/>
            </p:nvSpPr>
            <p:spPr>
              <a:xfrm>
                <a:off x="916781" y="2497693"/>
                <a:ext cx="242888" cy="93107"/>
              </a:xfrm>
              <a:custGeom>
                <a:avLst/>
                <a:gdLst/>
                <a:ahLst/>
                <a:cxnLst/>
                <a:rect l="l" t="t" r="r" b="b"/>
                <a:pathLst>
                  <a:path w="242888" h="93107">
                    <a:moveTo>
                      <a:pt x="0" y="0"/>
                    </a:moveTo>
                    <a:lnTo>
                      <a:pt x="0" y="32385"/>
                    </a:lnTo>
                    <a:cubicBezTo>
                      <a:pt x="0" y="65922"/>
                      <a:pt x="54372" y="93107"/>
                      <a:pt x="121444" y="93107"/>
                    </a:cubicBezTo>
                    <a:cubicBezTo>
                      <a:pt x="188515" y="93107"/>
                      <a:pt x="242888" y="65922"/>
                      <a:pt x="242888" y="32385"/>
                    </a:cubicBezTo>
                    <a:lnTo>
                      <a:pt x="242888" y="0"/>
                    </a:lnTo>
                    <a:cubicBezTo>
                      <a:pt x="237064" y="4044"/>
                      <a:pt x="231116" y="7479"/>
                      <a:pt x="225422" y="10327"/>
                    </a:cubicBezTo>
                    <a:cubicBezTo>
                      <a:pt x="196719" y="24677"/>
                      <a:pt x="159901" y="32385"/>
                      <a:pt x="121444" y="32385"/>
                    </a:cubicBezTo>
                    <a:cubicBezTo>
                      <a:pt x="82986" y="32385"/>
                      <a:pt x="46168" y="24677"/>
                      <a:pt x="17466" y="10327"/>
                    </a:cubicBezTo>
                    <a:cubicBezTo>
                      <a:pt x="11772" y="7479"/>
                      <a:pt x="5824" y="4044"/>
                      <a:pt x="0" y="0"/>
                    </a:cubicBezTo>
                    <a:close/>
                  </a:path>
                </a:pathLst>
              </a:custGeom>
              <a:solidFill>
                <a:srgbClr val="7DD3FC"/>
              </a:solidFill>
              <a:ln>
                <a:noFill/>
              </a:ln>
            </p:spPr>
          </p:sp>
          <p:sp>
            <p:nvSpPr>
              <p:cNvPr id="11" name="Freeform 11"/>
              <p:cNvSpPr/>
              <p:nvPr/>
            </p:nvSpPr>
            <p:spPr>
              <a:xfrm>
                <a:off x="916781" y="2266950"/>
                <a:ext cx="242888" cy="121444"/>
              </a:xfrm>
              <a:custGeom>
                <a:avLst/>
                <a:gdLst/>
                <a:ahLst/>
                <a:cxnLst/>
                <a:rect l="l" t="t" r="r" b="b"/>
                <a:pathLst>
                  <a:path w="242888" h="121444">
                    <a:moveTo>
                      <a:pt x="121444" y="0"/>
                    </a:moveTo>
                    <a:cubicBezTo>
                      <a:pt x="188515" y="0"/>
                      <a:pt x="242888" y="27186"/>
                      <a:pt x="242888" y="60722"/>
                    </a:cubicBezTo>
                    <a:cubicBezTo>
                      <a:pt x="242888" y="94258"/>
                      <a:pt x="188515" y="121444"/>
                      <a:pt x="121444" y="121444"/>
                    </a:cubicBezTo>
                    <a:cubicBezTo>
                      <a:pt x="54372" y="121444"/>
                      <a:pt x="0" y="94258"/>
                      <a:pt x="0" y="60722"/>
                    </a:cubicBezTo>
                    <a:cubicBezTo>
                      <a:pt x="0" y="27186"/>
                      <a:pt x="54372" y="0"/>
                      <a:pt x="121444" y="0"/>
                    </a:cubicBezTo>
                    <a:close/>
                  </a:path>
                </a:pathLst>
              </a:custGeom>
              <a:solidFill>
                <a:srgbClr val="7DD3FC"/>
              </a:solidFill>
              <a:ln>
                <a:noFill/>
              </a:ln>
            </p:spPr>
          </p:sp>
        </p:grpSp>
        <p:sp>
          <p:nvSpPr>
            <p:cNvPr id="13" name="TextBox 13"/>
            <p:cNvSpPr txBox="1"/>
            <p:nvPr/>
          </p:nvSpPr>
          <p:spPr>
            <a:xfrm>
              <a:off x="8648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入库治理</a:t>
              </a:r>
            </a:p>
          </p:txBody>
        </p:sp>
        <p:sp>
          <p:nvSpPr>
            <p:cNvPr id="14" name="TextBox 14"/>
            <p:cNvSpPr txBox="1"/>
            <p:nvPr/>
          </p:nvSpPr>
          <p:spPr>
            <a:xfrm>
              <a:off x="867918" y="3193732"/>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标题注入</a:t>
              </a:r>
            </a:p>
          </p:txBody>
        </p:sp>
        <p:sp>
          <p:nvSpPr>
            <p:cNvPr id="15" name="TextBox 15"/>
            <p:cNvSpPr txBox="1"/>
            <p:nvPr/>
          </p:nvSpPr>
          <p:spPr>
            <a:xfrm>
              <a:off x="867918" y="3517582"/>
              <a:ext cx="1116273"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500?chunk</a:t>
              </a:r>
            </a:p>
          </p:txBody>
        </p:sp>
        <p:sp>
          <p:nvSpPr>
            <p:cNvPr id="16" name="TextBox 16"/>
            <p:cNvSpPr txBox="1"/>
            <p:nvPr/>
          </p:nvSpPr>
          <p:spPr>
            <a:xfrm>
              <a:off x="867918" y="3841432"/>
              <a:ext cx="112737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多格式统丢</a:t>
              </a:r>
            </a:p>
          </p:txBody>
        </p:sp>
      </p:grpSp>
      <p:grpSp>
        <p:nvGrpSpPr>
          <p:cNvPr id="25" name="Group 25"/>
          <p:cNvGrpSpPr/>
          <p:nvPr/>
        </p:nvGrpSpPr>
        <p:grpSpPr>
          <a:xfrm>
            <a:off x="2724150" y="2038350"/>
            <a:ext cx="2667000" cy="2381250"/>
            <a:chOff x="2724150" y="2038350"/>
            <a:chExt cx="2667000" cy="2381250"/>
          </a:xfrm>
        </p:grpSpPr>
        <p:sp>
          <p:nvSpPr>
            <p:cNvPr id="18" name="Line 18"/>
            <p:cNvSpPr/>
            <p:nvPr/>
          </p:nvSpPr>
          <p:spPr>
            <a:xfrm>
              <a:off x="2724150" y="3238500"/>
              <a:ext cx="552450" cy="1"/>
            </a:xfrm>
            <a:prstGeom prst="line">
              <a:avLst/>
            </a:prstGeom>
            <a:noFill/>
            <a:ln w="19050">
              <a:solidFill>
                <a:srgbClr val="7DD3FC"/>
              </a:solidFill>
              <a:tailEnd type="triangle" w="lg" len="lg"/>
            </a:ln>
          </p:spPr>
        </p:sp>
        <p:sp>
          <p:nvSpPr>
            <p:cNvPr id="19" name="Rectangle 19"/>
            <p:cNvSpPr/>
            <p:nvPr/>
          </p:nvSpPr>
          <p:spPr>
            <a:xfrm>
              <a:off x="3390900" y="2038350"/>
              <a:ext cx="2000250" cy="2381250"/>
            </a:xfrm>
            <a:prstGeom prst="roundRect">
              <a:avLst>
                <a:gd name="adj" fmla="val 2857"/>
              </a:avLst>
            </a:prstGeom>
            <a:solidFill>
              <a:srgbClr val="111827"/>
            </a:solidFill>
            <a:ln w="9525">
              <a:solidFill>
                <a:srgbClr val="2A3A52"/>
              </a:solidFill>
            </a:ln>
          </p:spPr>
        </p:sp>
        <p:sp>
          <p:nvSpPr>
            <p:cNvPr id="20" name="Freeform 20"/>
            <p:cNvSpPr/>
            <p:nvPr/>
          </p:nvSpPr>
          <p:spPr>
            <a:xfrm>
              <a:off x="3619500" y="2266950"/>
              <a:ext cx="317922" cy="317922"/>
            </a:xfrm>
            <a:custGeom>
              <a:avLst/>
              <a:gdLst/>
              <a:ahLst/>
              <a:cxnLst/>
              <a:rect l="l" t="t" r="r" b="b"/>
              <a:pathLst>
                <a:path w="317922" h="317922">
                  <a:moveTo>
                    <a:pt x="226537" y="255161"/>
                  </a:moveTo>
                  <a:cubicBezTo>
                    <a:pt x="202884" y="272876"/>
                    <a:pt x="173510" y="283369"/>
                    <a:pt x="141684" y="283369"/>
                  </a:cubicBezTo>
                  <a:cubicBezTo>
                    <a:pt x="63434" y="283369"/>
                    <a:pt x="0" y="219935"/>
                    <a:pt x="0" y="141684"/>
                  </a:cubicBezTo>
                  <a:cubicBezTo>
                    <a:pt x="0" y="63434"/>
                    <a:pt x="63434" y="0"/>
                    <a:pt x="141684" y="0"/>
                  </a:cubicBezTo>
                  <a:cubicBezTo>
                    <a:pt x="219935" y="0"/>
                    <a:pt x="283369" y="63434"/>
                    <a:pt x="283369" y="141684"/>
                  </a:cubicBezTo>
                  <a:cubicBezTo>
                    <a:pt x="283369" y="173510"/>
                    <a:pt x="272876" y="202884"/>
                    <a:pt x="255161" y="226537"/>
                  </a:cubicBezTo>
                  <a:lnTo>
                    <a:pt x="317922" y="289297"/>
                  </a:lnTo>
                  <a:lnTo>
                    <a:pt x="289297" y="317922"/>
                  </a:lnTo>
                  <a:lnTo>
                    <a:pt x="226537" y="255161"/>
                  </a:lnTo>
                  <a:close/>
                  <a:moveTo>
                    <a:pt x="113060" y="170309"/>
                  </a:moveTo>
                  <a:lnTo>
                    <a:pt x="84435" y="198934"/>
                  </a:lnTo>
                  <a:cubicBezTo>
                    <a:pt x="52818" y="167316"/>
                    <a:pt x="52818" y="116053"/>
                    <a:pt x="84435" y="84435"/>
                  </a:cubicBezTo>
                  <a:cubicBezTo>
                    <a:pt x="116053" y="52818"/>
                    <a:pt x="167316" y="52818"/>
                    <a:pt x="198934" y="84435"/>
                  </a:cubicBezTo>
                  <a:lnTo>
                    <a:pt x="170309" y="113060"/>
                  </a:lnTo>
                  <a:cubicBezTo>
                    <a:pt x="154500" y="97251"/>
                    <a:pt x="128869" y="97251"/>
                    <a:pt x="113060" y="113060"/>
                  </a:cubicBezTo>
                  <a:cubicBezTo>
                    <a:pt x="97251" y="128869"/>
                    <a:pt x="97251" y="154500"/>
                    <a:pt x="113060" y="170309"/>
                  </a:cubicBezTo>
                  <a:close/>
                </a:path>
              </a:pathLst>
            </a:custGeom>
            <a:solidFill>
              <a:srgbClr val="8B5CF6"/>
            </a:solidFill>
            <a:ln>
              <a:noFill/>
            </a:ln>
          </p:spPr>
        </p:sp>
        <p:sp>
          <p:nvSpPr>
            <p:cNvPr id="21" name="TextBox 21"/>
            <p:cNvSpPr txBox="1"/>
            <p:nvPr/>
          </p:nvSpPr>
          <p:spPr>
            <a:xfrm>
              <a:off x="36080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混合召回</a:t>
              </a:r>
            </a:p>
          </p:txBody>
        </p:sp>
        <p:sp>
          <p:nvSpPr>
            <p:cNvPr id="22" name="TextBox 22"/>
            <p:cNvSpPr txBox="1"/>
            <p:nvPr/>
          </p:nvSpPr>
          <p:spPr>
            <a:xfrm>
              <a:off x="3611118" y="3193732"/>
              <a:ext cx="1441761"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Dense Vector</a:t>
              </a:r>
            </a:p>
          </p:txBody>
        </p:sp>
        <p:sp>
          <p:nvSpPr>
            <p:cNvPr id="23" name="TextBox 23"/>
            <p:cNvSpPr txBox="1"/>
            <p:nvPr/>
          </p:nvSpPr>
          <p:spPr>
            <a:xfrm>
              <a:off x="3611118" y="3517582"/>
              <a:ext cx="1377791"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BM25 Sparse</a:t>
              </a:r>
            </a:p>
          </p:txBody>
        </p:sp>
        <p:sp>
          <p:nvSpPr>
            <p:cNvPr id="24" name="TextBox 24"/>
            <p:cNvSpPr txBox="1"/>
            <p:nvPr/>
          </p:nvSpPr>
          <p:spPr>
            <a:xfrm>
              <a:off x="3611118" y="3841432"/>
              <a:ext cx="94381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RRF 融合</a:t>
              </a:r>
            </a:p>
          </p:txBody>
        </p:sp>
      </p:grpSp>
      <p:grpSp>
        <p:nvGrpSpPr>
          <p:cNvPr id="33" name="Group 33"/>
          <p:cNvGrpSpPr/>
          <p:nvPr/>
        </p:nvGrpSpPr>
        <p:grpSpPr>
          <a:xfrm>
            <a:off x="5467350" y="2038350"/>
            <a:ext cx="2667000" cy="2381250"/>
            <a:chOff x="5467350" y="2038350"/>
            <a:chExt cx="2667000" cy="2381250"/>
          </a:xfrm>
        </p:grpSpPr>
        <p:sp>
          <p:nvSpPr>
            <p:cNvPr id="26" name="Line 26"/>
            <p:cNvSpPr/>
            <p:nvPr/>
          </p:nvSpPr>
          <p:spPr>
            <a:xfrm>
              <a:off x="5467350" y="3238500"/>
              <a:ext cx="552450" cy="1"/>
            </a:xfrm>
            <a:prstGeom prst="line">
              <a:avLst/>
            </a:prstGeom>
            <a:noFill/>
            <a:ln w="19050">
              <a:solidFill>
                <a:srgbClr val="7DD3FC"/>
              </a:solidFill>
              <a:tailEnd type="triangle" w="lg" len="lg"/>
            </a:ln>
          </p:spPr>
        </p:sp>
        <p:sp>
          <p:nvSpPr>
            <p:cNvPr id="27" name="Rectangle 27"/>
            <p:cNvSpPr/>
            <p:nvPr/>
          </p:nvSpPr>
          <p:spPr>
            <a:xfrm>
              <a:off x="6134100" y="2038350"/>
              <a:ext cx="2000250" cy="2381250"/>
            </a:xfrm>
            <a:prstGeom prst="roundRect">
              <a:avLst>
                <a:gd name="adj" fmla="val 2857"/>
              </a:avLst>
            </a:prstGeom>
            <a:solidFill>
              <a:srgbClr val="111827"/>
            </a:solidFill>
            <a:ln w="9525">
              <a:solidFill>
                <a:srgbClr val="2A3A52"/>
              </a:solidFill>
            </a:ln>
          </p:spPr>
        </p:sp>
        <p:sp>
          <p:nvSpPr>
            <p:cNvPr id="28" name="Freeform 28"/>
            <p:cNvSpPr/>
            <p:nvPr/>
          </p:nvSpPr>
          <p:spPr>
            <a:xfrm>
              <a:off x="6403181" y="2266950"/>
              <a:ext cx="242888" cy="323850"/>
            </a:xfrm>
            <a:custGeom>
              <a:avLst/>
              <a:gdLst/>
              <a:ahLst/>
              <a:cxnLst/>
              <a:rect l="l" t="t" r="r" b="b"/>
              <a:pathLst>
                <a:path w="242888" h="323850">
                  <a:moveTo>
                    <a:pt x="141684" y="141684"/>
                  </a:moveTo>
                  <a:lnTo>
                    <a:pt x="161925" y="0"/>
                  </a:lnTo>
                  <a:lnTo>
                    <a:pt x="121444" y="0"/>
                  </a:lnTo>
                  <a:lnTo>
                    <a:pt x="0" y="141684"/>
                  </a:lnTo>
                  <a:lnTo>
                    <a:pt x="0" y="182166"/>
                  </a:lnTo>
                  <a:lnTo>
                    <a:pt x="101203" y="182166"/>
                  </a:lnTo>
                  <a:lnTo>
                    <a:pt x="80962" y="323850"/>
                  </a:lnTo>
                  <a:lnTo>
                    <a:pt x="121444" y="323850"/>
                  </a:lnTo>
                  <a:lnTo>
                    <a:pt x="242888" y="182166"/>
                  </a:lnTo>
                  <a:lnTo>
                    <a:pt x="242888" y="141684"/>
                  </a:lnTo>
                  <a:lnTo>
                    <a:pt x="141684" y="141684"/>
                  </a:lnTo>
                  <a:close/>
                </a:path>
              </a:pathLst>
            </a:custGeom>
            <a:solidFill>
              <a:srgbClr val="F59E0B"/>
            </a:solidFill>
            <a:ln>
              <a:noFill/>
            </a:ln>
          </p:spPr>
        </p:sp>
        <p:sp>
          <p:nvSpPr>
            <p:cNvPr id="29" name="TextBox 29"/>
            <p:cNvSpPr txBox="1"/>
            <p:nvPr/>
          </p:nvSpPr>
          <p:spPr>
            <a:xfrm>
              <a:off x="63512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精排校准</a:t>
              </a:r>
            </a:p>
          </p:txBody>
        </p:sp>
        <p:sp>
          <p:nvSpPr>
            <p:cNvPr id="30" name="TextBox 30"/>
            <p:cNvSpPr txBox="1"/>
            <p:nvPr/>
          </p:nvSpPr>
          <p:spPr>
            <a:xfrm>
              <a:off x="6354318" y="3193732"/>
              <a:ext cx="1496606"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CrossEncoder</a:t>
              </a:r>
            </a:p>
          </p:txBody>
        </p:sp>
        <p:sp>
          <p:nvSpPr>
            <p:cNvPr id="31" name="TextBox 31"/>
            <p:cNvSpPr txBox="1"/>
            <p:nvPr/>
          </p:nvSpPr>
          <p:spPr>
            <a:xfrm>
              <a:off x="6354318" y="3517582"/>
              <a:ext cx="86167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QA 优先</a:t>
              </a:r>
            </a:p>
          </p:txBody>
        </p:sp>
        <p:sp>
          <p:nvSpPr>
            <p:cNvPr id="32" name="TextBox 32"/>
            <p:cNvSpPr txBox="1"/>
            <p:nvPr/>
          </p:nvSpPr>
          <p:spPr>
            <a:xfrm>
              <a:off x="6354318" y="3841432"/>
              <a:ext cx="68313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原文回</a:t>
              </a:r>
            </a:p>
          </p:txBody>
        </p:sp>
      </p:grpSp>
      <p:grpSp>
        <p:nvGrpSpPr>
          <p:cNvPr id="41" name="Group 41"/>
          <p:cNvGrpSpPr/>
          <p:nvPr/>
        </p:nvGrpSpPr>
        <p:grpSpPr>
          <a:xfrm>
            <a:off x="8210550" y="2038350"/>
            <a:ext cx="2667000" cy="2381250"/>
            <a:chOff x="8210550" y="2038350"/>
            <a:chExt cx="2667000" cy="2381250"/>
          </a:xfrm>
        </p:grpSpPr>
        <p:sp>
          <p:nvSpPr>
            <p:cNvPr id="34" name="Line 34"/>
            <p:cNvSpPr/>
            <p:nvPr/>
          </p:nvSpPr>
          <p:spPr>
            <a:xfrm>
              <a:off x="8210550" y="3238500"/>
              <a:ext cx="552450" cy="1"/>
            </a:xfrm>
            <a:prstGeom prst="line">
              <a:avLst/>
            </a:prstGeom>
            <a:noFill/>
            <a:ln w="19050">
              <a:solidFill>
                <a:srgbClr val="7DD3FC"/>
              </a:solidFill>
              <a:tailEnd type="triangle" w="lg" len="lg"/>
            </a:ln>
          </p:spPr>
        </p:sp>
        <p:sp>
          <p:nvSpPr>
            <p:cNvPr id="35" name="Rectangle 35"/>
            <p:cNvSpPr/>
            <p:nvPr/>
          </p:nvSpPr>
          <p:spPr>
            <a:xfrm>
              <a:off x="8877300" y="2038350"/>
              <a:ext cx="2000250" cy="2381250"/>
            </a:xfrm>
            <a:prstGeom prst="roundRect">
              <a:avLst>
                <a:gd name="adj" fmla="val 2857"/>
              </a:avLst>
            </a:prstGeom>
            <a:solidFill>
              <a:srgbClr val="111827"/>
            </a:solidFill>
            <a:ln w="9525">
              <a:solidFill>
                <a:srgbClr val="2A3A52"/>
              </a:solidFill>
            </a:ln>
          </p:spPr>
        </p:sp>
        <p:sp>
          <p:nvSpPr>
            <p:cNvPr id="36" name="Freeform 36"/>
            <p:cNvSpPr/>
            <p:nvPr/>
          </p:nvSpPr>
          <p:spPr>
            <a:xfrm>
              <a:off x="9105900" y="2307431"/>
              <a:ext cx="323850" cy="263128"/>
            </a:xfrm>
            <a:custGeom>
              <a:avLst/>
              <a:gdLst/>
              <a:ahLst/>
              <a:cxnLst/>
              <a:rect l="l" t="t" r="r" b="b"/>
              <a:pathLst>
                <a:path w="323850" h="263128">
                  <a:moveTo>
                    <a:pt x="0" y="0"/>
                  </a:moveTo>
                  <a:lnTo>
                    <a:pt x="72579" y="0"/>
                  </a:lnTo>
                  <a:cubicBezTo>
                    <a:pt x="90907" y="0"/>
                    <a:pt x="108484" y="7281"/>
                    <a:pt x="121444" y="20241"/>
                  </a:cubicBezTo>
                  <a:cubicBezTo>
                    <a:pt x="134404" y="33200"/>
                    <a:pt x="141684" y="50778"/>
                    <a:pt x="141684" y="69106"/>
                  </a:cubicBezTo>
                  <a:lnTo>
                    <a:pt x="141684" y="182166"/>
                  </a:lnTo>
                  <a:lnTo>
                    <a:pt x="182166" y="182166"/>
                  </a:lnTo>
                  <a:lnTo>
                    <a:pt x="182166" y="69106"/>
                  </a:lnTo>
                  <a:cubicBezTo>
                    <a:pt x="182166" y="50778"/>
                    <a:pt x="189446" y="33200"/>
                    <a:pt x="202406" y="20241"/>
                  </a:cubicBezTo>
                  <a:cubicBezTo>
                    <a:pt x="215366" y="7281"/>
                    <a:pt x="232943" y="0"/>
                    <a:pt x="251271" y="0"/>
                  </a:cubicBezTo>
                  <a:lnTo>
                    <a:pt x="323850" y="0"/>
                  </a:lnTo>
                  <a:lnTo>
                    <a:pt x="323850" y="222647"/>
                  </a:lnTo>
                  <a:lnTo>
                    <a:pt x="222647" y="222647"/>
                  </a:lnTo>
                  <a:lnTo>
                    <a:pt x="182166" y="263128"/>
                  </a:lnTo>
                  <a:lnTo>
                    <a:pt x="141684" y="263128"/>
                  </a:lnTo>
                  <a:lnTo>
                    <a:pt x="101203" y="222647"/>
                  </a:lnTo>
                  <a:lnTo>
                    <a:pt x="0" y="222647"/>
                  </a:lnTo>
                  <a:lnTo>
                    <a:pt x="0" y="0"/>
                  </a:lnTo>
                  <a:close/>
                </a:path>
              </a:pathLst>
            </a:custGeom>
            <a:solidFill>
              <a:srgbClr val="22C55E"/>
            </a:solidFill>
            <a:ln>
              <a:noFill/>
            </a:ln>
          </p:spPr>
        </p:sp>
        <p:sp>
          <p:nvSpPr>
            <p:cNvPr id="37" name="TextBox 37"/>
            <p:cNvSpPr txBox="1"/>
            <p:nvPr/>
          </p:nvSpPr>
          <p:spPr>
            <a:xfrm>
              <a:off x="90944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上下文治</a:t>
              </a:r>
            </a:p>
          </p:txBody>
        </p:sp>
        <p:sp>
          <p:nvSpPr>
            <p:cNvPr id="38" name="TextBox 38"/>
            <p:cNvSpPr txBox="1"/>
            <p:nvPr/>
          </p:nvSpPr>
          <p:spPr>
            <a:xfrm>
              <a:off x="9097518" y="3193732"/>
              <a:ext cx="1360608"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small-to-big</a:t>
              </a:r>
            </a:p>
          </p:txBody>
        </p:sp>
        <p:sp>
          <p:nvSpPr>
            <p:cNvPr id="39" name="TextBox 39"/>
            <p:cNvSpPr txBox="1"/>
            <p:nvPr/>
          </p:nvSpPr>
          <p:spPr>
            <a:xfrm>
              <a:off x="9097518" y="3517582"/>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去重预算</a:t>
              </a:r>
            </a:p>
          </p:txBody>
        </p:sp>
        <p:sp>
          <p:nvSpPr>
            <p:cNvPr id="40" name="TextBox 40"/>
            <p:cNvSpPr txBox="1"/>
            <p:nvPr/>
          </p:nvSpPr>
          <p:spPr>
            <a:xfrm>
              <a:off x="9097518" y="3841432"/>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来源引用</a:t>
              </a:r>
            </a:p>
          </p:txBody>
        </p:sp>
      </p:grpSp>
      <p:grpSp>
        <p:nvGrpSpPr>
          <p:cNvPr id="44" name="Group 44"/>
          <p:cNvGrpSpPr/>
          <p:nvPr/>
        </p:nvGrpSpPr>
        <p:grpSpPr>
          <a:xfrm>
            <a:off x="1143000" y="5143500"/>
            <a:ext cx="9906000" cy="685800"/>
            <a:chOff x="1143000" y="5143500"/>
            <a:chExt cx="9906000" cy="685800"/>
          </a:xfrm>
        </p:grpSpPr>
        <p:sp>
          <p:nvSpPr>
            <p:cNvPr id="42" name="Rectangle 42"/>
            <p:cNvSpPr/>
            <p:nvPr/>
          </p:nvSpPr>
          <p:spPr>
            <a:xfrm>
              <a:off x="1143000" y="5143500"/>
              <a:ext cx="9906000" cy="685800"/>
            </a:xfrm>
            <a:prstGeom prst="roundRect">
              <a:avLst>
                <a:gd name="adj" fmla="val 8333"/>
              </a:avLst>
            </a:prstGeom>
            <a:solidFill>
              <a:srgbClr val="111827"/>
            </a:solidFill>
            <a:ln w="9525">
              <a:solidFill>
                <a:srgbClr val="2A3A52"/>
              </a:solidFill>
            </a:ln>
          </p:spPr>
        </p:sp>
        <p:sp>
          <p:nvSpPr>
            <p:cNvPr id="43" name="TextBox 43"/>
            <p:cNvSpPr txBox="1"/>
            <p:nvPr/>
          </p:nvSpPr>
          <p:spPr>
            <a:xfrm>
              <a:off x="1413586" y="5338762"/>
              <a:ext cx="9364828"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这套 RAG 的核心不是搜到，而是“带睢证据回答，并能保守拒答</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400"/>
                                        <p:tgtEl>
                                          <p:spTgt spid="33"/>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wipe(left)">
                                      <p:cBhvr>
                                        <p:cTn id="19" dur="400"/>
                                        <p:tgtEl>
                                          <p:spTgt spid="4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762000" y="1476375"/>
              <a:ext cx="10668000" cy="4238625"/>
            </a:xfrm>
            <a:custGeom>
              <a:avLst/>
              <a:gdLst/>
              <a:ahLst/>
              <a:cxnLst/>
              <a:rect l="l" t="t" r="r" b="b"/>
              <a:pathLst>
                <a:path w="10668000" h="4238625">
                  <a:moveTo>
                    <a:pt x="0" y="0"/>
                  </a:moveTo>
                  <a:lnTo>
                    <a:pt x="10668000" y="0"/>
                  </a:lnTo>
                  <a:moveTo>
                    <a:pt x="0" y="4238625"/>
                  </a:moveTo>
                  <a:lnTo>
                    <a:pt x="10668000" y="4238625"/>
                  </a:lnTo>
                </a:path>
              </a:pathLst>
            </a:custGeom>
            <a:solidFill>
              <a:srgbClr val="000000"/>
            </a:solidFill>
            <a:ln w="9525">
              <a:solidFill>
                <a:srgbClr val="1C2A3D"/>
              </a:solidFill>
              <a:prstDash val="lgDash"/>
            </a:ln>
          </p:spPr>
        </p:sp>
      </p:grpSp>
      <p:grpSp>
        <p:nvGrpSpPr>
          <p:cNvPr id="7" name="Group 7"/>
          <p:cNvGrpSpPr/>
          <p:nvPr/>
        </p:nvGrpSpPr>
        <p:grpSpPr>
          <a:xfrm>
            <a:off x="514350" y="264795"/>
            <a:ext cx="10236575" cy="946594"/>
            <a:chOff x="514350" y="264795"/>
            <a:chExt cx="10236575" cy="946594"/>
          </a:xfrm>
        </p:grpSpPr>
        <p:sp>
          <p:nvSpPr>
            <p:cNvPr id="5" name="TextBox 5"/>
            <p:cNvSpPr txBox="1"/>
            <p:nvPr/>
          </p:nvSpPr>
          <p:spPr>
            <a:xfrm>
              <a:off x="514350" y="264795"/>
              <a:ext cx="1023657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v2.0 的真正转折是统一底座，不是堆新工</a:t>
              </a:r>
            </a:p>
          </p:txBody>
        </p:sp>
        <p:sp>
          <p:nvSpPr>
            <p:cNvPr id="6" name="TextBox 6"/>
            <p:cNvSpPr txBox="1"/>
            <p:nvPr/>
          </p:nvSpPr>
          <p:spPr>
            <a:xfrm>
              <a:off x="544068" y="888682"/>
              <a:ext cx="5832824"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扩展新工具不再改 Executor 主干，是进入同一套工具契约</a:t>
              </a:r>
            </a:p>
          </p:txBody>
        </p:sp>
      </p:grpSp>
      <p:grpSp>
        <p:nvGrpSpPr>
          <p:cNvPr id="15" name="Group 15"/>
          <p:cNvGrpSpPr/>
          <p:nvPr/>
        </p:nvGrpSpPr>
        <p:grpSpPr>
          <a:xfrm>
            <a:off x="666750" y="1714500"/>
            <a:ext cx="2728712" cy="3714750"/>
            <a:chOff x="666750" y="1714500"/>
            <a:chExt cx="2728712" cy="3714750"/>
          </a:xfrm>
        </p:grpSpPr>
        <p:sp>
          <p:nvSpPr>
            <p:cNvPr id="8" name="Rectangle 8"/>
            <p:cNvSpPr/>
            <p:nvPr/>
          </p:nvSpPr>
          <p:spPr>
            <a:xfrm>
              <a:off x="666750" y="1714500"/>
              <a:ext cx="2476500" cy="3714750"/>
            </a:xfrm>
            <a:prstGeom prst="roundRect">
              <a:avLst>
                <a:gd name="adj" fmla="val 2308"/>
              </a:avLst>
            </a:prstGeom>
            <a:solidFill>
              <a:srgbClr val="111827"/>
            </a:solidFill>
            <a:ln w="9525">
              <a:solidFill>
                <a:srgbClr val="7DD3FC"/>
              </a:solidFill>
            </a:ln>
          </p:spPr>
        </p:sp>
        <p:sp>
          <p:nvSpPr>
            <p:cNvPr id="9" name="Freeform 9"/>
            <p:cNvSpPr/>
            <p:nvPr/>
          </p:nvSpPr>
          <p:spPr>
            <a:xfrm>
              <a:off x="937022" y="2022872"/>
              <a:ext cx="316706" cy="316706"/>
            </a:xfrm>
            <a:custGeom>
              <a:avLst/>
              <a:gdLst/>
              <a:ahLst/>
              <a:cxnLst/>
              <a:rect l="l" t="t" r="r" b="b"/>
              <a:pathLst>
                <a:path w="316706" h="316706">
                  <a:moveTo>
                    <a:pt x="316706" y="0"/>
                  </a:moveTo>
                  <a:lnTo>
                    <a:pt x="0" y="0"/>
                  </a:lnTo>
                  <a:lnTo>
                    <a:pt x="0" y="316706"/>
                  </a:lnTo>
                  <a:lnTo>
                    <a:pt x="316706" y="316706"/>
                  </a:lnTo>
                  <a:lnTo>
                    <a:pt x="316706" y="0"/>
                  </a:lnTo>
                  <a:close/>
                  <a:moveTo>
                    <a:pt x="113109" y="90488"/>
                  </a:moveTo>
                  <a:lnTo>
                    <a:pt x="145101" y="122480"/>
                  </a:lnTo>
                  <a:lnTo>
                    <a:pt x="109228" y="158353"/>
                  </a:lnTo>
                  <a:lnTo>
                    <a:pt x="145101" y="194227"/>
                  </a:lnTo>
                  <a:lnTo>
                    <a:pt x="113109" y="226219"/>
                  </a:lnTo>
                  <a:lnTo>
                    <a:pt x="45244" y="158353"/>
                  </a:lnTo>
                  <a:lnTo>
                    <a:pt x="113109" y="90488"/>
                  </a:lnTo>
                  <a:close/>
                  <a:moveTo>
                    <a:pt x="203597" y="90488"/>
                  </a:moveTo>
                  <a:lnTo>
                    <a:pt x="171605" y="122480"/>
                  </a:lnTo>
                  <a:lnTo>
                    <a:pt x="207479" y="158353"/>
                  </a:lnTo>
                  <a:lnTo>
                    <a:pt x="171605" y="194227"/>
                  </a:lnTo>
                  <a:lnTo>
                    <a:pt x="203597" y="226219"/>
                  </a:lnTo>
                  <a:lnTo>
                    <a:pt x="271462" y="158353"/>
                  </a:lnTo>
                  <a:lnTo>
                    <a:pt x="203597" y="90488"/>
                  </a:lnTo>
                  <a:close/>
                </a:path>
              </a:pathLst>
            </a:custGeom>
            <a:solidFill>
              <a:srgbClr val="7DD3FC"/>
            </a:solidFill>
            <a:ln>
              <a:noFill/>
            </a:ln>
          </p:spPr>
        </p:sp>
        <p:sp>
          <p:nvSpPr>
            <p:cNvPr id="10" name="TextBox 10"/>
            <p:cNvSpPr txBox="1"/>
            <p:nvPr/>
          </p:nvSpPr>
          <p:spPr>
            <a:xfrm>
              <a:off x="903732" y="2554605"/>
              <a:ext cx="1270642" cy="410718"/>
            </a:xfrm>
            <a:prstGeom prst="rect">
              <a:avLst/>
            </a:prstGeom>
            <a:noFill/>
            <a:ln>
              <a:noFill/>
            </a:ln>
          </p:spPr>
          <p:txBody>
            <a:bodyPr wrap="none" lIns="0" tIns="0" rIns="0" bIns="0" anchor="t" anchorCtr="0">
              <a:spAutoFit/>
            </a:bodyPr>
            <a:lstStyle/>
            <a:p>
              <a:pPr algn="l"/>
              <a:r>
                <a:rPr lang="en-US" sz="2100" b="1" dirty="0">
                  <a:solidFill>
                    <a:srgbClr val="7DD3FC"/>
                  </a:solidFill>
                  <a:latin typeface="Consolas"/>
                  <a:ea typeface="Consolas"/>
                  <a:cs typeface="Consolas"/>
                </a:rPr>
                <a:t>BaseTool</a:t>
              </a:r>
            </a:p>
          </p:txBody>
        </p:sp>
        <p:sp>
          <p:nvSpPr>
            <p:cNvPr id="11" name="TextBox 11"/>
            <p:cNvSpPr txBox="1"/>
            <p:nvPr/>
          </p:nvSpPr>
          <p:spPr>
            <a:xfrm>
              <a:off x="904494" y="3104198"/>
              <a:ext cx="1069848"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统一入口</a:t>
              </a:r>
            </a:p>
          </p:txBody>
        </p:sp>
        <p:sp>
          <p:nvSpPr>
            <p:cNvPr id="12" name="TextBox 12"/>
            <p:cNvSpPr txBox="1"/>
            <p:nvPr/>
          </p:nvSpPr>
          <p:spPr>
            <a:xfrm>
              <a:off x="906018" y="3555682"/>
              <a:ext cx="196034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run(ctx, params)</a:t>
              </a:r>
            </a:p>
          </p:txBody>
        </p:sp>
        <p:sp>
          <p:nvSpPr>
            <p:cNvPr id="13" name="TextBox 13"/>
            <p:cNvSpPr txBox="1"/>
            <p:nvPr/>
          </p:nvSpPr>
          <p:spPr>
            <a:xfrm>
              <a:off x="906018" y="3917632"/>
              <a:ext cx="211582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统一 success/error</a:t>
              </a:r>
            </a:p>
          </p:txBody>
        </p:sp>
        <p:sp>
          <p:nvSpPr>
            <p:cNvPr id="14" name="TextBox 14"/>
            <p:cNvSpPr txBox="1"/>
            <p:nvPr/>
          </p:nvSpPr>
          <p:spPr>
            <a:xfrm>
              <a:off x="713222" y="4570609"/>
              <a:ext cx="2682240"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收益：工具接口零散度下降</a:t>
              </a:r>
            </a:p>
          </p:txBody>
        </p:sp>
      </p:grpSp>
      <p:grpSp>
        <p:nvGrpSpPr>
          <p:cNvPr id="25" name="Group 25"/>
          <p:cNvGrpSpPr/>
          <p:nvPr/>
        </p:nvGrpSpPr>
        <p:grpSpPr>
          <a:xfrm>
            <a:off x="3448050" y="1714500"/>
            <a:ext cx="2488368" cy="3714750"/>
            <a:chOff x="3448050" y="1714500"/>
            <a:chExt cx="2488368" cy="3714750"/>
          </a:xfrm>
        </p:grpSpPr>
        <p:sp>
          <p:nvSpPr>
            <p:cNvPr id="16" name="Rectangle 16"/>
            <p:cNvSpPr/>
            <p:nvPr/>
          </p:nvSpPr>
          <p:spPr>
            <a:xfrm>
              <a:off x="3448050" y="1714500"/>
              <a:ext cx="2476500" cy="3714750"/>
            </a:xfrm>
            <a:prstGeom prst="roundRect">
              <a:avLst>
                <a:gd name="adj" fmla="val 2308"/>
              </a:avLst>
            </a:prstGeom>
            <a:solidFill>
              <a:srgbClr val="111827"/>
            </a:solidFill>
            <a:ln w="9525">
              <a:solidFill>
                <a:srgbClr val="8B5CF6"/>
              </a:solidFill>
            </a:ln>
          </p:spPr>
        </p:sp>
        <p:grpSp>
          <p:nvGrpSpPr>
            <p:cNvPr id="19" name="Group 19"/>
            <p:cNvGrpSpPr/>
            <p:nvPr/>
          </p:nvGrpSpPr>
          <p:grpSpPr>
            <a:xfrm>
              <a:off x="3695700" y="2045494"/>
              <a:ext cx="361950" cy="271462"/>
              <a:chOff x="3695700" y="2045494"/>
              <a:chExt cx="361950" cy="271462"/>
            </a:xfrm>
          </p:grpSpPr>
          <p:sp>
            <p:nvSpPr>
              <p:cNvPr id="17" name="Freeform 17"/>
              <p:cNvSpPr/>
              <p:nvPr/>
            </p:nvSpPr>
            <p:spPr>
              <a:xfrm>
                <a:off x="3695700" y="2045494"/>
                <a:ext cx="361950" cy="113109"/>
              </a:xfrm>
              <a:custGeom>
                <a:avLst/>
                <a:gdLst/>
                <a:ahLst/>
                <a:cxnLst/>
                <a:rect l="l" t="t" r="r" b="b"/>
                <a:pathLst>
                  <a:path w="361950" h="113109">
                    <a:moveTo>
                      <a:pt x="361950" y="0"/>
                    </a:moveTo>
                    <a:lnTo>
                      <a:pt x="0" y="0"/>
                    </a:lnTo>
                    <a:lnTo>
                      <a:pt x="0" y="113109"/>
                    </a:lnTo>
                    <a:lnTo>
                      <a:pt x="361950" y="113109"/>
                    </a:lnTo>
                    <a:lnTo>
                      <a:pt x="361950" y="0"/>
                    </a:lnTo>
                    <a:close/>
                    <a:moveTo>
                      <a:pt x="90488" y="56555"/>
                    </a:moveTo>
                    <a:cubicBezTo>
                      <a:pt x="90488" y="69048"/>
                      <a:pt x="80359" y="79177"/>
                      <a:pt x="67866" y="79177"/>
                    </a:cubicBezTo>
                    <a:cubicBezTo>
                      <a:pt x="55372" y="79177"/>
                      <a:pt x="45244" y="69048"/>
                      <a:pt x="45244" y="56555"/>
                    </a:cubicBezTo>
                    <a:cubicBezTo>
                      <a:pt x="45244" y="44061"/>
                      <a:pt x="55372" y="33933"/>
                      <a:pt x="67866" y="33933"/>
                    </a:cubicBezTo>
                    <a:cubicBezTo>
                      <a:pt x="80359" y="33933"/>
                      <a:pt x="90488" y="44061"/>
                      <a:pt x="90488" y="56555"/>
                    </a:cubicBezTo>
                    <a:close/>
                  </a:path>
                </a:pathLst>
              </a:custGeom>
              <a:solidFill>
                <a:srgbClr val="8B5CF6"/>
              </a:solidFill>
              <a:ln>
                <a:noFill/>
              </a:ln>
            </p:spPr>
          </p:sp>
          <p:sp>
            <p:nvSpPr>
              <p:cNvPr id="18" name="Freeform 18"/>
              <p:cNvSpPr/>
              <p:nvPr/>
            </p:nvSpPr>
            <p:spPr>
              <a:xfrm>
                <a:off x="3695700" y="2203847"/>
                <a:ext cx="361950" cy="113109"/>
              </a:xfrm>
              <a:custGeom>
                <a:avLst/>
                <a:gdLst/>
                <a:ahLst/>
                <a:cxnLst/>
                <a:rect l="l" t="t" r="r" b="b"/>
                <a:pathLst>
                  <a:path w="361950" h="113109">
                    <a:moveTo>
                      <a:pt x="361950" y="0"/>
                    </a:moveTo>
                    <a:lnTo>
                      <a:pt x="0" y="0"/>
                    </a:lnTo>
                    <a:lnTo>
                      <a:pt x="0" y="113109"/>
                    </a:lnTo>
                    <a:lnTo>
                      <a:pt x="361950" y="113109"/>
                    </a:lnTo>
                    <a:lnTo>
                      <a:pt x="361950" y="0"/>
                    </a:lnTo>
                    <a:close/>
                    <a:moveTo>
                      <a:pt x="67866" y="79177"/>
                    </a:moveTo>
                    <a:cubicBezTo>
                      <a:pt x="80359" y="79177"/>
                      <a:pt x="90488" y="69049"/>
                      <a:pt x="90488" y="56555"/>
                    </a:cubicBezTo>
                    <a:cubicBezTo>
                      <a:pt x="90488" y="44061"/>
                      <a:pt x="80359" y="33933"/>
                      <a:pt x="67866" y="33933"/>
                    </a:cubicBezTo>
                    <a:cubicBezTo>
                      <a:pt x="55372" y="33933"/>
                      <a:pt x="45244" y="44061"/>
                      <a:pt x="45244" y="56555"/>
                    </a:cubicBezTo>
                    <a:cubicBezTo>
                      <a:pt x="45244" y="69049"/>
                      <a:pt x="55372" y="79177"/>
                      <a:pt x="67866" y="79177"/>
                    </a:cubicBezTo>
                    <a:close/>
                  </a:path>
                </a:pathLst>
              </a:custGeom>
              <a:solidFill>
                <a:srgbClr val="8B5CF6"/>
              </a:solidFill>
              <a:ln>
                <a:noFill/>
              </a:ln>
            </p:spPr>
          </p:sp>
        </p:grpSp>
        <p:sp>
          <p:nvSpPr>
            <p:cNvPr id="20" name="TextBox 20"/>
            <p:cNvSpPr txBox="1"/>
            <p:nvPr/>
          </p:nvSpPr>
          <p:spPr>
            <a:xfrm>
              <a:off x="3685032" y="2554605"/>
              <a:ext cx="1760710" cy="410718"/>
            </a:xfrm>
            <a:prstGeom prst="rect">
              <a:avLst/>
            </a:prstGeom>
            <a:noFill/>
            <a:ln>
              <a:noFill/>
            </a:ln>
          </p:spPr>
          <p:txBody>
            <a:bodyPr wrap="none" lIns="0" tIns="0" rIns="0" bIns="0" anchor="t" anchorCtr="0">
              <a:spAutoFit/>
            </a:bodyPr>
            <a:lstStyle/>
            <a:p>
              <a:pPr algn="l"/>
              <a:r>
                <a:rPr lang="en-US" sz="2100" b="1" dirty="0">
                  <a:solidFill>
                    <a:srgbClr val="8B5CF6"/>
                  </a:solidFill>
                  <a:latin typeface="Consolas"/>
                  <a:ea typeface="Consolas"/>
                  <a:cs typeface="Consolas"/>
                </a:rPr>
                <a:t>ToolContext</a:t>
              </a:r>
            </a:p>
          </p:txBody>
        </p:sp>
        <p:sp>
          <p:nvSpPr>
            <p:cNvPr id="21" name="TextBox 21"/>
            <p:cNvSpPr txBox="1"/>
            <p:nvPr/>
          </p:nvSpPr>
          <p:spPr>
            <a:xfrm>
              <a:off x="3685794" y="3104198"/>
              <a:ext cx="1069848"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运行时封</a:t>
              </a:r>
            </a:p>
          </p:txBody>
        </p:sp>
        <p:sp>
          <p:nvSpPr>
            <p:cNvPr id="22" name="TextBox 22"/>
            <p:cNvSpPr txBox="1"/>
            <p:nvPr/>
          </p:nvSpPr>
          <p:spPr>
            <a:xfrm>
              <a:off x="3687318" y="3555682"/>
              <a:ext cx="1127379"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db session</a:t>
              </a:r>
            </a:p>
          </p:txBody>
        </p:sp>
        <p:sp>
          <p:nvSpPr>
            <p:cNvPr id="23" name="TextBox 23"/>
            <p:cNvSpPr txBox="1"/>
            <p:nvPr/>
          </p:nvSpPr>
          <p:spPr>
            <a:xfrm>
              <a:off x="3687318" y="3917632"/>
              <a:ext cx="224910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user / role / session</a:t>
              </a:r>
            </a:p>
          </p:txBody>
        </p:sp>
        <p:sp>
          <p:nvSpPr>
            <p:cNvPr id="24" name="TextBox 24"/>
            <p:cNvSpPr txBox="1"/>
            <p:nvPr/>
          </p:nvSpPr>
          <p:spPr>
            <a:xfrm>
              <a:off x="3590925" y="4556836"/>
              <a:ext cx="2237994"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收益：依赖传递标准化</a:t>
              </a:r>
            </a:p>
          </p:txBody>
        </p:sp>
      </p:grpSp>
      <p:grpSp>
        <p:nvGrpSpPr>
          <p:cNvPr id="36" name="Group 36"/>
          <p:cNvGrpSpPr/>
          <p:nvPr/>
        </p:nvGrpSpPr>
        <p:grpSpPr>
          <a:xfrm>
            <a:off x="6229350" y="1714500"/>
            <a:ext cx="2476500" cy="3714750"/>
            <a:chOff x="6229350" y="1714500"/>
            <a:chExt cx="2476500" cy="3714750"/>
          </a:xfrm>
        </p:grpSpPr>
        <p:sp>
          <p:nvSpPr>
            <p:cNvPr id="26" name="Rectangle 26"/>
            <p:cNvSpPr/>
            <p:nvPr/>
          </p:nvSpPr>
          <p:spPr>
            <a:xfrm>
              <a:off x="6229350" y="1714500"/>
              <a:ext cx="2476500" cy="3714750"/>
            </a:xfrm>
            <a:prstGeom prst="roundRect">
              <a:avLst>
                <a:gd name="adj" fmla="val 2308"/>
              </a:avLst>
            </a:prstGeom>
            <a:solidFill>
              <a:srgbClr val="111827"/>
            </a:solidFill>
            <a:ln w="9525">
              <a:solidFill>
                <a:srgbClr val="F59E0B"/>
              </a:solidFill>
            </a:ln>
          </p:spPr>
        </p:sp>
        <p:grpSp>
          <p:nvGrpSpPr>
            <p:cNvPr id="30" name="Group 30"/>
            <p:cNvGrpSpPr/>
            <p:nvPr/>
          </p:nvGrpSpPr>
          <p:grpSpPr>
            <a:xfrm>
              <a:off x="6499622" y="2000250"/>
              <a:ext cx="316706" cy="361950"/>
              <a:chOff x="6499622" y="2000250"/>
              <a:chExt cx="316706" cy="361950"/>
            </a:xfrm>
          </p:grpSpPr>
          <p:sp>
            <p:nvSpPr>
              <p:cNvPr id="27" name="Freeform 27"/>
              <p:cNvSpPr/>
              <p:nvPr/>
            </p:nvSpPr>
            <p:spPr>
              <a:xfrm>
                <a:off x="6499622" y="2000250"/>
                <a:ext cx="316706" cy="180975"/>
              </a:xfrm>
              <a:custGeom>
                <a:avLst/>
                <a:gdLst/>
                <a:ahLst/>
                <a:cxnLst/>
                <a:rect l="l" t="t" r="r" b="b"/>
                <a:pathLst>
                  <a:path w="316706" h="180975">
                    <a:moveTo>
                      <a:pt x="0" y="113109"/>
                    </a:moveTo>
                    <a:lnTo>
                      <a:pt x="0" y="67866"/>
                    </a:lnTo>
                    <a:lnTo>
                      <a:pt x="158353" y="0"/>
                    </a:lnTo>
                    <a:lnTo>
                      <a:pt x="316706" y="67866"/>
                    </a:lnTo>
                    <a:lnTo>
                      <a:pt x="316706" y="113109"/>
                    </a:lnTo>
                    <a:lnTo>
                      <a:pt x="158353" y="180975"/>
                    </a:lnTo>
                    <a:lnTo>
                      <a:pt x="0" y="113109"/>
                    </a:lnTo>
                    <a:close/>
                  </a:path>
                </a:pathLst>
              </a:custGeom>
              <a:solidFill>
                <a:srgbClr val="F59E0B"/>
              </a:solidFill>
              <a:ln>
                <a:noFill/>
              </a:ln>
            </p:spPr>
          </p:sp>
          <p:sp>
            <p:nvSpPr>
              <p:cNvPr id="28" name="Freeform 28"/>
              <p:cNvSpPr/>
              <p:nvPr/>
            </p:nvSpPr>
            <p:spPr>
              <a:xfrm>
                <a:off x="6499622" y="2249091"/>
                <a:ext cx="316706" cy="113109"/>
              </a:xfrm>
              <a:custGeom>
                <a:avLst/>
                <a:gdLst/>
                <a:ahLst/>
                <a:cxnLst/>
                <a:rect l="l" t="t" r="r" b="b"/>
                <a:pathLst>
                  <a:path w="316706" h="113109">
                    <a:moveTo>
                      <a:pt x="158353" y="113109"/>
                    </a:moveTo>
                    <a:lnTo>
                      <a:pt x="0" y="45244"/>
                    </a:lnTo>
                    <a:lnTo>
                      <a:pt x="0" y="0"/>
                    </a:lnTo>
                    <a:lnTo>
                      <a:pt x="158353" y="67866"/>
                    </a:lnTo>
                    <a:lnTo>
                      <a:pt x="316706" y="0"/>
                    </a:lnTo>
                    <a:lnTo>
                      <a:pt x="316706" y="45244"/>
                    </a:lnTo>
                    <a:lnTo>
                      <a:pt x="158353" y="113109"/>
                    </a:lnTo>
                    <a:close/>
                  </a:path>
                </a:pathLst>
              </a:custGeom>
              <a:solidFill>
                <a:srgbClr val="F59E0B"/>
              </a:solidFill>
              <a:ln>
                <a:noFill/>
              </a:ln>
            </p:spPr>
          </p:sp>
          <p:sp>
            <p:nvSpPr>
              <p:cNvPr id="29" name="Freeform 29"/>
              <p:cNvSpPr/>
              <p:nvPr/>
            </p:nvSpPr>
            <p:spPr>
              <a:xfrm>
                <a:off x="6499622" y="2158603"/>
                <a:ext cx="316706" cy="113109"/>
              </a:xfrm>
              <a:custGeom>
                <a:avLst/>
                <a:gdLst/>
                <a:ahLst/>
                <a:cxnLst/>
                <a:rect l="l" t="t" r="r" b="b"/>
                <a:pathLst>
                  <a:path w="316706" h="113109">
                    <a:moveTo>
                      <a:pt x="0" y="45244"/>
                    </a:moveTo>
                    <a:lnTo>
                      <a:pt x="158353" y="113109"/>
                    </a:lnTo>
                    <a:lnTo>
                      <a:pt x="316706" y="45244"/>
                    </a:lnTo>
                    <a:lnTo>
                      <a:pt x="316706" y="0"/>
                    </a:lnTo>
                    <a:lnTo>
                      <a:pt x="158353" y="67866"/>
                    </a:lnTo>
                    <a:lnTo>
                      <a:pt x="0" y="0"/>
                    </a:lnTo>
                    <a:lnTo>
                      <a:pt x="0" y="45244"/>
                    </a:lnTo>
                    <a:close/>
                  </a:path>
                </a:pathLst>
              </a:custGeom>
              <a:solidFill>
                <a:srgbClr val="F59E0B"/>
              </a:solidFill>
              <a:ln>
                <a:noFill/>
              </a:ln>
            </p:spPr>
          </p:sp>
        </p:grpSp>
        <p:sp>
          <p:nvSpPr>
            <p:cNvPr id="31" name="TextBox 31"/>
            <p:cNvSpPr txBox="1"/>
            <p:nvPr/>
          </p:nvSpPr>
          <p:spPr>
            <a:xfrm>
              <a:off x="6466332" y="2554605"/>
              <a:ext cx="1261926" cy="410718"/>
            </a:xfrm>
            <a:prstGeom prst="rect">
              <a:avLst/>
            </a:prstGeom>
            <a:noFill/>
            <a:ln>
              <a:noFill/>
            </a:ln>
          </p:spPr>
          <p:txBody>
            <a:bodyPr wrap="none" lIns="0" tIns="0" rIns="0" bIns="0" anchor="t" anchorCtr="0">
              <a:spAutoFit/>
            </a:bodyPr>
            <a:lstStyle/>
            <a:p>
              <a:pPr algn="l"/>
              <a:r>
                <a:rPr lang="en-US" sz="2100" b="1" dirty="0">
                  <a:solidFill>
                    <a:srgbClr val="F59E0B"/>
                  </a:solidFill>
                  <a:latin typeface="Consolas"/>
                  <a:ea typeface="Consolas"/>
                  <a:cs typeface="Consolas"/>
                </a:rPr>
                <a:t>Registry</a:t>
              </a:r>
            </a:p>
          </p:txBody>
        </p:sp>
        <p:sp>
          <p:nvSpPr>
            <p:cNvPr id="32" name="TextBox 32"/>
            <p:cNvSpPr txBox="1"/>
            <p:nvPr/>
          </p:nvSpPr>
          <p:spPr>
            <a:xfrm>
              <a:off x="6467094" y="3104198"/>
              <a:ext cx="1069848"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查表分发</a:t>
              </a:r>
            </a:p>
          </p:txBody>
        </p:sp>
        <p:sp>
          <p:nvSpPr>
            <p:cNvPr id="33" name="TextBox 33"/>
            <p:cNvSpPr txBox="1"/>
            <p:nvPr/>
          </p:nvSpPr>
          <p:spPr>
            <a:xfrm>
              <a:off x="6468618" y="3555682"/>
              <a:ext cx="134950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替代 if / elif</a:t>
              </a:r>
            </a:p>
          </p:txBody>
        </p:sp>
        <p:sp>
          <p:nvSpPr>
            <p:cNvPr id="34" name="TextBox 34"/>
            <p:cNvSpPr txBox="1"/>
            <p:nvPr/>
          </p:nvSpPr>
          <p:spPr>
            <a:xfrm>
              <a:off x="6468618" y="3917632"/>
              <a:ext cx="134950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新增工具低改</a:t>
              </a:r>
            </a:p>
          </p:txBody>
        </p:sp>
        <p:sp>
          <p:nvSpPr>
            <p:cNvPr id="35" name="TextBox 35"/>
            <p:cNvSpPr txBox="1"/>
            <p:nvPr/>
          </p:nvSpPr>
          <p:spPr>
            <a:xfrm>
              <a:off x="6275822" y="4584382"/>
              <a:ext cx="2410296"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收益：Executor 不膨胢</a:t>
              </a:r>
            </a:p>
          </p:txBody>
        </p:sp>
      </p:grpSp>
      <p:grpSp>
        <p:nvGrpSpPr>
          <p:cNvPr id="47" name="Group 47"/>
          <p:cNvGrpSpPr/>
          <p:nvPr/>
        </p:nvGrpSpPr>
        <p:grpSpPr>
          <a:xfrm>
            <a:off x="9010650" y="1714500"/>
            <a:ext cx="2476500" cy="3714750"/>
            <a:chOff x="9010650" y="1714500"/>
            <a:chExt cx="2476500" cy="3714750"/>
          </a:xfrm>
        </p:grpSpPr>
        <p:sp>
          <p:nvSpPr>
            <p:cNvPr id="37" name="Rectangle 37"/>
            <p:cNvSpPr/>
            <p:nvPr/>
          </p:nvSpPr>
          <p:spPr>
            <a:xfrm>
              <a:off x="9010650" y="1714500"/>
              <a:ext cx="2476500" cy="3714750"/>
            </a:xfrm>
            <a:prstGeom prst="roundRect">
              <a:avLst>
                <a:gd name="adj" fmla="val 2308"/>
              </a:avLst>
            </a:prstGeom>
            <a:solidFill>
              <a:srgbClr val="111827"/>
            </a:solidFill>
            <a:ln w="9525">
              <a:solidFill>
                <a:srgbClr val="22C55E"/>
              </a:solidFill>
            </a:ln>
          </p:spPr>
        </p:sp>
        <p:grpSp>
          <p:nvGrpSpPr>
            <p:cNvPr id="41" name="Group 41"/>
            <p:cNvGrpSpPr/>
            <p:nvPr/>
          </p:nvGrpSpPr>
          <p:grpSpPr>
            <a:xfrm>
              <a:off x="9280922" y="2022872"/>
              <a:ext cx="316707" cy="316707"/>
              <a:chOff x="9280922" y="2022872"/>
              <a:chExt cx="316707" cy="316707"/>
            </a:xfrm>
          </p:grpSpPr>
          <p:sp>
            <p:nvSpPr>
              <p:cNvPr id="38" name="Freeform 38"/>
              <p:cNvSpPr/>
              <p:nvPr/>
            </p:nvSpPr>
            <p:spPr>
              <a:xfrm>
                <a:off x="9280922" y="2022872"/>
                <a:ext cx="90488" cy="90488"/>
              </a:xfrm>
              <a:custGeom>
                <a:avLst/>
                <a:gdLst/>
                <a:ahLst/>
                <a:cxnLst/>
                <a:rect l="l" t="t" r="r" b="b"/>
                <a:pathLst>
                  <a:path w="90488" h="90488">
                    <a:moveTo>
                      <a:pt x="90488" y="45244"/>
                    </a:moveTo>
                    <a:cubicBezTo>
                      <a:pt x="90488" y="70231"/>
                      <a:pt x="70231" y="90488"/>
                      <a:pt x="45244" y="90488"/>
                    </a:cubicBezTo>
                    <a:cubicBezTo>
                      <a:pt x="20256" y="90488"/>
                      <a:pt x="0" y="70231"/>
                      <a:pt x="0" y="45244"/>
                    </a:cubicBezTo>
                    <a:cubicBezTo>
                      <a:pt x="0" y="20256"/>
                      <a:pt x="20256" y="0"/>
                      <a:pt x="45244" y="0"/>
                    </a:cubicBezTo>
                    <a:cubicBezTo>
                      <a:pt x="70231" y="0"/>
                      <a:pt x="90488" y="20256"/>
                      <a:pt x="90488" y="45244"/>
                    </a:cubicBezTo>
                    <a:close/>
                  </a:path>
                </a:pathLst>
              </a:custGeom>
              <a:solidFill>
                <a:srgbClr val="22C55E"/>
              </a:solidFill>
              <a:ln>
                <a:noFill/>
              </a:ln>
            </p:spPr>
          </p:sp>
          <p:sp>
            <p:nvSpPr>
              <p:cNvPr id="39" name="Freeform 39"/>
              <p:cNvSpPr/>
              <p:nvPr/>
            </p:nvSpPr>
            <p:spPr>
              <a:xfrm>
                <a:off x="9507141" y="2249091"/>
                <a:ext cx="90488" cy="90488"/>
              </a:xfrm>
              <a:custGeom>
                <a:avLst/>
                <a:gdLst/>
                <a:ahLst/>
                <a:cxnLst/>
                <a:rect l="l" t="t" r="r" b="b"/>
                <a:pathLst>
                  <a:path w="90488" h="90488">
                    <a:moveTo>
                      <a:pt x="90488" y="45244"/>
                    </a:moveTo>
                    <a:cubicBezTo>
                      <a:pt x="90488" y="70232"/>
                      <a:pt x="70232" y="90488"/>
                      <a:pt x="45244" y="90488"/>
                    </a:cubicBezTo>
                    <a:cubicBezTo>
                      <a:pt x="20256" y="90488"/>
                      <a:pt x="0" y="70232"/>
                      <a:pt x="0" y="45244"/>
                    </a:cubicBezTo>
                    <a:cubicBezTo>
                      <a:pt x="0" y="20256"/>
                      <a:pt x="20256" y="0"/>
                      <a:pt x="45244" y="0"/>
                    </a:cubicBezTo>
                    <a:cubicBezTo>
                      <a:pt x="70232" y="0"/>
                      <a:pt x="90488" y="20256"/>
                      <a:pt x="90488" y="45244"/>
                    </a:cubicBezTo>
                    <a:close/>
                  </a:path>
                </a:pathLst>
              </a:custGeom>
              <a:solidFill>
                <a:srgbClr val="22C55E"/>
              </a:solidFill>
              <a:ln>
                <a:noFill/>
              </a:ln>
            </p:spPr>
          </p:sp>
          <p:sp>
            <p:nvSpPr>
              <p:cNvPr id="40" name="Freeform 40"/>
              <p:cNvSpPr/>
              <p:nvPr/>
            </p:nvSpPr>
            <p:spPr>
              <a:xfrm>
                <a:off x="9303544" y="2022872"/>
                <a:ext cx="271462" cy="316706"/>
              </a:xfrm>
              <a:custGeom>
                <a:avLst/>
                <a:gdLst/>
                <a:ahLst/>
                <a:cxnLst/>
                <a:rect l="l" t="t" r="r" b="b"/>
                <a:pathLst>
                  <a:path w="271462" h="316706">
                    <a:moveTo>
                      <a:pt x="158353" y="79177"/>
                    </a:moveTo>
                    <a:cubicBezTo>
                      <a:pt x="158353" y="60436"/>
                      <a:pt x="173545" y="45244"/>
                      <a:pt x="192286" y="45244"/>
                    </a:cubicBezTo>
                    <a:cubicBezTo>
                      <a:pt x="211026" y="45244"/>
                      <a:pt x="226219" y="60436"/>
                      <a:pt x="226219" y="79177"/>
                    </a:cubicBezTo>
                    <a:lnTo>
                      <a:pt x="226219" y="180975"/>
                    </a:lnTo>
                    <a:lnTo>
                      <a:pt x="271462" y="180975"/>
                    </a:lnTo>
                    <a:lnTo>
                      <a:pt x="271462" y="79177"/>
                    </a:lnTo>
                    <a:cubicBezTo>
                      <a:pt x="271462" y="35448"/>
                      <a:pt x="236014" y="0"/>
                      <a:pt x="192286" y="0"/>
                    </a:cubicBezTo>
                    <a:cubicBezTo>
                      <a:pt x="148558" y="0"/>
                      <a:pt x="113109" y="35448"/>
                      <a:pt x="113109" y="79177"/>
                    </a:cubicBezTo>
                    <a:lnTo>
                      <a:pt x="113109" y="237530"/>
                    </a:lnTo>
                    <a:cubicBezTo>
                      <a:pt x="113109" y="256270"/>
                      <a:pt x="97917" y="271462"/>
                      <a:pt x="79177" y="271462"/>
                    </a:cubicBezTo>
                    <a:cubicBezTo>
                      <a:pt x="60436" y="271462"/>
                      <a:pt x="45244" y="256270"/>
                      <a:pt x="45244" y="237530"/>
                    </a:cubicBezTo>
                    <a:lnTo>
                      <a:pt x="45244" y="135731"/>
                    </a:lnTo>
                    <a:lnTo>
                      <a:pt x="0" y="135731"/>
                    </a:lnTo>
                    <a:lnTo>
                      <a:pt x="0" y="237530"/>
                    </a:lnTo>
                    <a:cubicBezTo>
                      <a:pt x="0" y="281258"/>
                      <a:pt x="35448" y="316706"/>
                      <a:pt x="79177" y="316706"/>
                    </a:cubicBezTo>
                    <a:cubicBezTo>
                      <a:pt x="122905" y="316706"/>
                      <a:pt x="158353" y="281258"/>
                      <a:pt x="158353" y="237530"/>
                    </a:cubicBezTo>
                    <a:lnTo>
                      <a:pt x="158353" y="79177"/>
                    </a:lnTo>
                    <a:close/>
                  </a:path>
                </a:pathLst>
              </a:custGeom>
              <a:solidFill>
                <a:srgbClr val="22C55E"/>
              </a:solidFill>
              <a:ln>
                <a:noFill/>
              </a:ln>
            </p:spPr>
          </p:sp>
        </p:grpSp>
        <p:sp>
          <p:nvSpPr>
            <p:cNvPr id="42" name="TextBox 42"/>
            <p:cNvSpPr txBox="1"/>
            <p:nvPr/>
          </p:nvSpPr>
          <p:spPr>
            <a:xfrm>
              <a:off x="9247632" y="2554605"/>
              <a:ext cx="1270642" cy="410718"/>
            </a:xfrm>
            <a:prstGeom prst="rect">
              <a:avLst/>
            </a:prstGeom>
            <a:noFill/>
            <a:ln>
              <a:noFill/>
            </a:ln>
          </p:spPr>
          <p:txBody>
            <a:bodyPr wrap="none" lIns="0" tIns="0" rIns="0" bIns="0" anchor="t" anchorCtr="0">
              <a:spAutoFit/>
            </a:bodyPr>
            <a:lstStyle/>
            <a:p>
              <a:pPr algn="l"/>
              <a:r>
                <a:rPr lang="en-US" sz="2100" b="1" dirty="0">
                  <a:solidFill>
                    <a:srgbClr val="22C55E"/>
                  </a:solidFill>
                  <a:latin typeface="Consolas"/>
                  <a:ea typeface="Consolas"/>
                  <a:cs typeface="Consolas"/>
                </a:rPr>
                <a:t>PlanStep</a:t>
              </a:r>
            </a:p>
          </p:txBody>
        </p:sp>
        <p:sp>
          <p:nvSpPr>
            <p:cNvPr id="43" name="TextBox 43"/>
            <p:cNvSpPr txBox="1"/>
            <p:nvPr/>
          </p:nvSpPr>
          <p:spPr>
            <a:xfrm>
              <a:off x="9248394" y="3104198"/>
              <a:ext cx="807339"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链式传</a:t>
              </a:r>
            </a:p>
          </p:txBody>
        </p:sp>
        <p:sp>
          <p:nvSpPr>
            <p:cNvPr id="44" name="TextBox 44"/>
            <p:cNvSpPr txBox="1"/>
            <p:nvPr/>
          </p:nvSpPr>
          <p:spPr>
            <a:xfrm>
              <a:off x="9249918" y="3555682"/>
              <a:ext cx="794195"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params</a:t>
              </a:r>
            </a:p>
          </p:txBody>
        </p:sp>
        <p:sp>
          <p:nvSpPr>
            <p:cNvPr id="45" name="TextBox 45"/>
            <p:cNvSpPr txBox="1"/>
            <p:nvPr/>
          </p:nvSpPr>
          <p:spPr>
            <a:xfrm>
              <a:off x="9249918" y="3917632"/>
              <a:ext cx="1349502"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inputs_from</a:t>
              </a:r>
            </a:p>
          </p:txBody>
        </p:sp>
        <p:sp>
          <p:nvSpPr>
            <p:cNvPr id="46" name="TextBox 46"/>
            <p:cNvSpPr txBox="1"/>
            <p:nvPr/>
          </p:nvSpPr>
          <p:spPr>
            <a:xfrm>
              <a:off x="9153525" y="4584382"/>
              <a:ext cx="2237994"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收益：跨工具协作可控</a:t>
              </a:r>
            </a:p>
          </p:txBody>
        </p:sp>
      </p:grpSp>
      <p:grpSp>
        <p:nvGrpSpPr>
          <p:cNvPr id="49" name="Group 49"/>
          <p:cNvGrpSpPr/>
          <p:nvPr/>
        </p:nvGrpSpPr>
        <p:grpSpPr>
          <a:xfrm>
            <a:off x="1838806" y="5877878"/>
            <a:ext cx="8514389" cy="498729"/>
            <a:chOff x="1838806" y="5877878"/>
            <a:chExt cx="8514389" cy="498729"/>
          </a:xfrm>
        </p:grpSpPr>
        <p:sp>
          <p:nvSpPr>
            <p:cNvPr id="48" name="TextBox 48"/>
            <p:cNvSpPr txBox="1"/>
            <p:nvPr/>
          </p:nvSpPr>
          <p:spPr>
            <a:xfrm>
              <a:off x="1838806" y="5877878"/>
              <a:ext cx="8514389" cy="498729"/>
            </a:xfrm>
            <a:prstGeom prst="rect">
              <a:avLst/>
            </a:prstGeom>
            <a:noFill/>
            <a:ln>
              <a:noFill/>
            </a:ln>
          </p:spPr>
          <p:txBody>
            <a:bodyPr wrap="none" lIns="0" tIns="0" rIns="0" bIns="0" anchor="t" anchorCtr="0">
              <a:spAutoFit/>
            </a:bodyPr>
            <a:lstStyle/>
            <a:p>
              <a:pPr algn="ctr"/>
              <a:r>
                <a:rPr lang="zh-CN" sz="2550" b="1" dirty="0">
                  <a:solidFill>
                    <a:srgbClr val="F59E0B"/>
                  </a:solidFill>
                  <a:latin typeface="Arial"/>
                  <a:ea typeface="Microsoft YaHei"/>
                  <a:cs typeface="Arial"/>
                </a:rPr>
                <a:t>统一底座让加工具”变成注册新能力，不是重写执行器</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Bottom)">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slide(fromBottom)">
                                      <p:cBhvr>
                                        <p:cTn id="19" dur="400"/>
                                        <p:tgtEl>
                                          <p:spTgt spid="4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5" grpId="0"/>
      <p:bldP spid="36" grpId="0"/>
      <p:bldP spid="47"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762000" y="3429000"/>
              <a:ext cx="10668000" cy="9525"/>
            </a:xfrm>
            <a:custGeom>
              <a:avLst/>
              <a:gdLst/>
              <a:ahLst/>
              <a:cxnLst/>
              <a:rect l="l" t="t" r="r" b="b"/>
              <a:pathLst>
                <a:path w="10668000" h="9525">
                  <a:moveTo>
                    <a:pt x="0" y="0"/>
                  </a:moveTo>
                  <a:lnTo>
                    <a:pt x="10668000" y="0"/>
                  </a:lnTo>
                </a:path>
              </a:pathLst>
            </a:custGeom>
            <a:solidFill>
              <a:srgbClr val="000000"/>
            </a:solidFill>
            <a:ln w="28575">
              <a:solidFill>
                <a:srgbClr val="2A3A52"/>
              </a:solidFill>
            </a:ln>
          </p:spPr>
        </p:sp>
        <p:sp>
          <p:nvSpPr>
            <p:cNvPr id="4" name="Freeform 4"/>
            <p:cNvSpPr/>
            <p:nvPr/>
          </p:nvSpPr>
          <p:spPr>
            <a:xfrm>
              <a:off x="762000" y="1524000"/>
              <a:ext cx="10668000" cy="3810000"/>
            </a:xfrm>
            <a:custGeom>
              <a:avLst/>
              <a:gdLst/>
              <a:ahLst/>
              <a:cxnLst/>
              <a:rect l="l" t="t" r="r" b="b"/>
              <a:pathLst>
                <a:path w="10668000" h="3810000">
                  <a:moveTo>
                    <a:pt x="0" y="0"/>
                  </a:moveTo>
                  <a:lnTo>
                    <a:pt x="10668000" y="0"/>
                  </a:lnTo>
                  <a:moveTo>
                    <a:pt x="0" y="3810000"/>
                  </a:moveTo>
                  <a:lnTo>
                    <a:pt x="10668000" y="3810000"/>
                  </a:lnTo>
                </a:path>
              </a:pathLst>
            </a:custGeom>
            <a:solidFill>
              <a:srgbClr val="000000"/>
            </a:solidFill>
            <a:ln w="9525">
              <a:solidFill>
                <a:srgbClr val="1C2A3D"/>
              </a:solidFill>
              <a:prstDash val="lgDash"/>
            </a:ln>
          </p:spPr>
        </p:sp>
      </p:grpSp>
      <p:grpSp>
        <p:nvGrpSpPr>
          <p:cNvPr id="8" name="Group 8"/>
          <p:cNvGrpSpPr/>
          <p:nvPr/>
        </p:nvGrpSpPr>
        <p:grpSpPr>
          <a:xfrm>
            <a:off x="514350" y="264795"/>
            <a:ext cx="9464798" cy="946594"/>
            <a:chOff x="514350" y="264795"/>
            <a:chExt cx="9464798" cy="946594"/>
          </a:xfrm>
        </p:grpSpPr>
        <p:sp>
          <p:nvSpPr>
            <p:cNvPr id="6" name="TextBox 6"/>
            <p:cNvSpPr txBox="1"/>
            <p:nvPr/>
          </p:nvSpPr>
          <p:spPr>
            <a:xfrm>
              <a:off x="514350" y="264795"/>
              <a:ext cx="9464798"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四轮演进让系统从“可运行”走向可运营</a:t>
              </a:r>
            </a:p>
          </p:txBody>
        </p:sp>
        <p:sp>
          <p:nvSpPr>
            <p:cNvPr id="7" name="TextBox 7"/>
            <p:cNvSpPr txBox="1"/>
            <p:nvPr/>
          </p:nvSpPr>
          <p:spPr>
            <a:xfrm>
              <a:off x="544068" y="888682"/>
              <a:ext cx="6014085"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每一版不是单纯加功能，是在补丢块长期运行所霢的工程底座</a:t>
              </a:r>
            </a:p>
          </p:txBody>
        </p:sp>
      </p:grpSp>
      <p:grpSp>
        <p:nvGrpSpPr>
          <p:cNvPr id="13" name="Group 13"/>
          <p:cNvGrpSpPr/>
          <p:nvPr/>
        </p:nvGrpSpPr>
        <p:grpSpPr>
          <a:xfrm>
            <a:off x="324612" y="2646998"/>
            <a:ext cx="1636776" cy="1942147"/>
            <a:chOff x="324612" y="2646998"/>
            <a:chExt cx="1636776" cy="1942147"/>
          </a:xfrm>
        </p:grpSpPr>
        <p:sp>
          <p:nvSpPr>
            <p:cNvPr id="9" name="Ellipse 9"/>
            <p:cNvSpPr/>
            <p:nvPr/>
          </p:nvSpPr>
          <p:spPr>
            <a:xfrm>
              <a:off x="933450" y="3219450"/>
              <a:ext cx="419100" cy="419100"/>
            </a:xfrm>
            <a:prstGeom prst="ellipse">
              <a:avLst/>
            </a:prstGeom>
            <a:solidFill>
              <a:srgbClr val="7DD3FC"/>
            </a:solidFill>
            <a:ln>
              <a:noFill/>
            </a:ln>
          </p:spPr>
        </p:sp>
        <p:sp>
          <p:nvSpPr>
            <p:cNvPr id="10" name="TextBox 10"/>
            <p:cNvSpPr txBox="1"/>
            <p:nvPr/>
          </p:nvSpPr>
          <p:spPr>
            <a:xfrm>
              <a:off x="829896" y="2646998"/>
              <a:ext cx="626208" cy="381381"/>
            </a:xfrm>
            <a:prstGeom prst="rect">
              <a:avLst/>
            </a:prstGeom>
            <a:noFill/>
            <a:ln>
              <a:noFill/>
            </a:ln>
          </p:spPr>
          <p:txBody>
            <a:bodyPr wrap="none" lIns="0" tIns="0" rIns="0" bIns="0" anchor="t" anchorCtr="0">
              <a:spAutoFit/>
            </a:bodyPr>
            <a:lstStyle/>
            <a:p>
              <a:pPr algn="ctr"/>
              <a:r>
                <a:rPr lang="en-US" sz="1950" b="1" dirty="0">
                  <a:solidFill>
                    <a:srgbClr val="7DD3FC"/>
                  </a:solidFill>
                  <a:latin typeface="Consolas"/>
                  <a:ea typeface="Consolas"/>
                  <a:cs typeface="Consolas"/>
                </a:rPr>
                <a:t>v1.0</a:t>
              </a:r>
            </a:p>
          </p:txBody>
        </p:sp>
        <p:sp>
          <p:nvSpPr>
            <p:cNvPr id="11" name="TextBox 11"/>
            <p:cNvSpPr txBox="1"/>
            <p:nvPr/>
          </p:nvSpPr>
          <p:spPr>
            <a:xfrm>
              <a:off x="719642" y="3885248"/>
              <a:ext cx="846715"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朢小闭</a:t>
              </a:r>
            </a:p>
          </p:txBody>
        </p:sp>
        <p:sp>
          <p:nvSpPr>
            <p:cNvPr id="12" name="TextBox 12"/>
            <p:cNvSpPr txBox="1"/>
            <p:nvPr/>
          </p:nvSpPr>
          <p:spPr>
            <a:xfrm>
              <a:off x="324612" y="4295775"/>
              <a:ext cx="1636776"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RAG / 多轮 / SSE</a:t>
              </a:r>
            </a:p>
          </p:txBody>
        </p:sp>
      </p:grpSp>
      <p:grpSp>
        <p:nvGrpSpPr>
          <p:cNvPr id="18" name="Group 18"/>
          <p:cNvGrpSpPr/>
          <p:nvPr/>
        </p:nvGrpSpPr>
        <p:grpSpPr>
          <a:xfrm>
            <a:off x="2859167" y="2646998"/>
            <a:ext cx="1520666" cy="1942147"/>
            <a:chOff x="2859167" y="2646998"/>
            <a:chExt cx="1520666" cy="1942147"/>
          </a:xfrm>
        </p:grpSpPr>
        <p:sp>
          <p:nvSpPr>
            <p:cNvPr id="14" name="Ellipse 14"/>
            <p:cNvSpPr/>
            <p:nvPr/>
          </p:nvSpPr>
          <p:spPr>
            <a:xfrm>
              <a:off x="3409950" y="3219450"/>
              <a:ext cx="419100" cy="419100"/>
            </a:xfrm>
            <a:prstGeom prst="ellipse">
              <a:avLst/>
            </a:prstGeom>
            <a:solidFill>
              <a:srgbClr val="8B5CF6"/>
            </a:solidFill>
            <a:ln>
              <a:noFill/>
            </a:ln>
          </p:spPr>
        </p:sp>
        <p:sp>
          <p:nvSpPr>
            <p:cNvPr id="15" name="TextBox 15"/>
            <p:cNvSpPr txBox="1"/>
            <p:nvPr/>
          </p:nvSpPr>
          <p:spPr>
            <a:xfrm>
              <a:off x="3306396" y="2646998"/>
              <a:ext cx="626208" cy="381381"/>
            </a:xfrm>
            <a:prstGeom prst="rect">
              <a:avLst/>
            </a:prstGeom>
            <a:noFill/>
            <a:ln>
              <a:noFill/>
            </a:ln>
          </p:spPr>
          <p:txBody>
            <a:bodyPr wrap="none" lIns="0" tIns="0" rIns="0" bIns="0" anchor="t" anchorCtr="0">
              <a:spAutoFit/>
            </a:bodyPr>
            <a:lstStyle/>
            <a:p>
              <a:pPr algn="ctr"/>
              <a:r>
                <a:rPr lang="en-US" sz="1950" b="1" dirty="0">
                  <a:solidFill>
                    <a:srgbClr val="8B5CF6"/>
                  </a:solidFill>
                  <a:latin typeface="Consolas"/>
                  <a:ea typeface="Consolas"/>
                  <a:cs typeface="Consolas"/>
                </a:rPr>
                <a:t>v2.0</a:t>
              </a:r>
            </a:p>
          </p:txBody>
        </p:sp>
        <p:sp>
          <p:nvSpPr>
            <p:cNvPr id="16" name="TextBox 16"/>
            <p:cNvSpPr txBox="1"/>
            <p:nvPr/>
          </p:nvSpPr>
          <p:spPr>
            <a:xfrm>
              <a:off x="30583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统一底座</a:t>
              </a:r>
            </a:p>
          </p:txBody>
        </p:sp>
        <p:sp>
          <p:nvSpPr>
            <p:cNvPr id="17" name="TextBox 17"/>
            <p:cNvSpPr txBox="1"/>
            <p:nvPr/>
          </p:nvSpPr>
          <p:spPr>
            <a:xfrm>
              <a:off x="2859167" y="4295775"/>
              <a:ext cx="1520666" cy="293370"/>
            </a:xfrm>
            <a:prstGeom prst="rect">
              <a:avLst/>
            </a:prstGeom>
            <a:noFill/>
            <a:ln>
              <a:noFill/>
            </a:ln>
          </p:spPr>
          <p:txBody>
            <a:bodyPr wrap="none" lIns="0" tIns="0" rIns="0" bIns="0" anchor="t" anchorCtr="0">
              <a:spAutoFit/>
            </a:bodyPr>
            <a:lstStyle/>
            <a:p>
              <a:pPr algn="ctr"/>
              <a:r>
                <a:rPr lang="en-US" sz="1500" dirty="0">
                  <a:solidFill>
                    <a:srgbClr val="B6C2D2"/>
                  </a:solidFill>
                  <a:latin typeface="Arial"/>
                  <a:ea typeface="Arial"/>
                  <a:cs typeface="Arial"/>
                </a:rPr>
                <a:t>BaseTool / HITL</a:t>
              </a:r>
            </a:p>
          </p:txBody>
        </p:sp>
      </p:grpSp>
      <p:grpSp>
        <p:nvGrpSpPr>
          <p:cNvPr id="23" name="Group 23"/>
          <p:cNvGrpSpPr/>
          <p:nvPr/>
        </p:nvGrpSpPr>
        <p:grpSpPr>
          <a:xfrm>
            <a:off x="5218938" y="2646998"/>
            <a:ext cx="1754124" cy="1942147"/>
            <a:chOff x="5218938" y="2646998"/>
            <a:chExt cx="1754124" cy="1942147"/>
          </a:xfrm>
        </p:grpSpPr>
        <p:sp>
          <p:nvSpPr>
            <p:cNvPr id="19" name="Ellipse 19"/>
            <p:cNvSpPr/>
            <p:nvPr/>
          </p:nvSpPr>
          <p:spPr>
            <a:xfrm>
              <a:off x="5886450" y="3219450"/>
              <a:ext cx="419100" cy="419100"/>
            </a:xfrm>
            <a:prstGeom prst="ellipse">
              <a:avLst/>
            </a:prstGeom>
            <a:solidFill>
              <a:srgbClr val="F59E0B"/>
            </a:solidFill>
            <a:ln>
              <a:noFill/>
            </a:ln>
          </p:spPr>
        </p:sp>
        <p:sp>
          <p:nvSpPr>
            <p:cNvPr id="20" name="TextBox 20"/>
            <p:cNvSpPr txBox="1"/>
            <p:nvPr/>
          </p:nvSpPr>
          <p:spPr>
            <a:xfrm>
              <a:off x="5782896" y="2646998"/>
              <a:ext cx="626208" cy="381381"/>
            </a:xfrm>
            <a:prstGeom prst="rect">
              <a:avLst/>
            </a:prstGeom>
            <a:noFill/>
            <a:ln>
              <a:noFill/>
            </a:ln>
          </p:spPr>
          <p:txBody>
            <a:bodyPr wrap="none" lIns="0" tIns="0" rIns="0" bIns="0" anchor="t" anchorCtr="0">
              <a:spAutoFit/>
            </a:bodyPr>
            <a:lstStyle/>
            <a:p>
              <a:pPr algn="ctr"/>
              <a:r>
                <a:rPr lang="en-US" sz="1950" b="1" dirty="0">
                  <a:solidFill>
                    <a:srgbClr val="F59E0B"/>
                  </a:solidFill>
                  <a:latin typeface="Consolas"/>
                  <a:ea typeface="Consolas"/>
                  <a:cs typeface="Consolas"/>
                </a:rPr>
                <a:t>v2.1</a:t>
              </a:r>
            </a:p>
          </p:txBody>
        </p:sp>
        <p:sp>
          <p:nvSpPr>
            <p:cNvPr id="21" name="TextBox 21"/>
            <p:cNvSpPr txBox="1"/>
            <p:nvPr/>
          </p:nvSpPr>
          <p:spPr>
            <a:xfrm>
              <a:off x="55348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可观测运</a:t>
              </a:r>
            </a:p>
          </p:txBody>
        </p:sp>
        <p:sp>
          <p:nvSpPr>
            <p:cNvPr id="22" name="TextBox 22"/>
            <p:cNvSpPr txBox="1"/>
            <p:nvPr/>
          </p:nvSpPr>
          <p:spPr>
            <a:xfrm>
              <a:off x="5218938" y="4295775"/>
              <a:ext cx="1754124"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反馈 / 监控 / MCP</a:t>
              </a:r>
            </a:p>
          </p:txBody>
        </p:sp>
      </p:grpSp>
      <p:grpSp>
        <p:nvGrpSpPr>
          <p:cNvPr id="28" name="Group 28"/>
          <p:cNvGrpSpPr/>
          <p:nvPr/>
        </p:nvGrpSpPr>
        <p:grpSpPr>
          <a:xfrm>
            <a:off x="7679436" y="2646998"/>
            <a:ext cx="1786128" cy="1942147"/>
            <a:chOff x="7679436" y="2646998"/>
            <a:chExt cx="1786128" cy="1942147"/>
          </a:xfrm>
        </p:grpSpPr>
        <p:sp>
          <p:nvSpPr>
            <p:cNvPr id="24" name="Ellipse 24"/>
            <p:cNvSpPr/>
            <p:nvPr/>
          </p:nvSpPr>
          <p:spPr>
            <a:xfrm>
              <a:off x="8362950" y="3219450"/>
              <a:ext cx="419100" cy="419100"/>
            </a:xfrm>
            <a:prstGeom prst="ellipse">
              <a:avLst/>
            </a:prstGeom>
            <a:solidFill>
              <a:srgbClr val="22C55E"/>
            </a:solidFill>
            <a:ln>
              <a:noFill/>
            </a:ln>
          </p:spPr>
        </p:sp>
        <p:sp>
          <p:nvSpPr>
            <p:cNvPr id="25" name="TextBox 25"/>
            <p:cNvSpPr txBox="1"/>
            <p:nvPr/>
          </p:nvSpPr>
          <p:spPr>
            <a:xfrm>
              <a:off x="8259396" y="2646998"/>
              <a:ext cx="626208" cy="381381"/>
            </a:xfrm>
            <a:prstGeom prst="rect">
              <a:avLst/>
            </a:prstGeom>
            <a:noFill/>
            <a:ln>
              <a:noFill/>
            </a:ln>
          </p:spPr>
          <p:txBody>
            <a:bodyPr wrap="none" lIns="0" tIns="0" rIns="0" bIns="0" anchor="t" anchorCtr="0">
              <a:spAutoFit/>
            </a:bodyPr>
            <a:lstStyle/>
            <a:p>
              <a:pPr algn="ctr"/>
              <a:r>
                <a:rPr lang="en-US" sz="1950" b="1" dirty="0">
                  <a:solidFill>
                    <a:srgbClr val="22C55E"/>
                  </a:solidFill>
                  <a:latin typeface="Consolas"/>
                  <a:ea typeface="Consolas"/>
                  <a:cs typeface="Consolas"/>
                </a:rPr>
                <a:t>v2.2</a:t>
              </a:r>
            </a:p>
          </p:txBody>
        </p:sp>
        <p:sp>
          <p:nvSpPr>
            <p:cNvPr id="26" name="TextBox 26"/>
            <p:cNvSpPr txBox="1"/>
            <p:nvPr/>
          </p:nvSpPr>
          <p:spPr>
            <a:xfrm>
              <a:off x="80113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长期可用</a:t>
              </a:r>
            </a:p>
          </p:txBody>
        </p:sp>
        <p:sp>
          <p:nvSpPr>
            <p:cNvPr id="27" name="TextBox 27"/>
            <p:cNvSpPr txBox="1"/>
            <p:nvPr/>
          </p:nvSpPr>
          <p:spPr>
            <a:xfrm>
              <a:off x="7679436" y="4295775"/>
              <a:ext cx="1786128"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记忆压缩 / UI 回归</a:t>
              </a:r>
            </a:p>
          </p:txBody>
        </p:sp>
      </p:grpSp>
      <p:grpSp>
        <p:nvGrpSpPr>
          <p:cNvPr id="33" name="Group 33"/>
          <p:cNvGrpSpPr/>
          <p:nvPr/>
        </p:nvGrpSpPr>
        <p:grpSpPr>
          <a:xfrm>
            <a:off x="10188473" y="2646998"/>
            <a:ext cx="1721053" cy="1942147"/>
            <a:chOff x="10188473" y="2646998"/>
            <a:chExt cx="1721053" cy="1942147"/>
          </a:xfrm>
        </p:grpSpPr>
        <p:sp>
          <p:nvSpPr>
            <p:cNvPr id="29" name="Ellipse 29"/>
            <p:cNvSpPr/>
            <p:nvPr/>
          </p:nvSpPr>
          <p:spPr>
            <a:xfrm>
              <a:off x="10839450" y="3219450"/>
              <a:ext cx="419100" cy="419100"/>
            </a:xfrm>
            <a:prstGeom prst="ellipse">
              <a:avLst/>
            </a:prstGeom>
            <a:solidFill>
              <a:srgbClr val="7DD3FC"/>
            </a:solidFill>
            <a:ln>
              <a:noFill/>
            </a:ln>
          </p:spPr>
        </p:sp>
        <p:sp>
          <p:nvSpPr>
            <p:cNvPr id="30" name="TextBox 30"/>
            <p:cNvSpPr txBox="1"/>
            <p:nvPr/>
          </p:nvSpPr>
          <p:spPr>
            <a:xfrm>
              <a:off x="10735896" y="2646998"/>
              <a:ext cx="626208" cy="381381"/>
            </a:xfrm>
            <a:prstGeom prst="rect">
              <a:avLst/>
            </a:prstGeom>
            <a:noFill/>
            <a:ln>
              <a:noFill/>
            </a:ln>
          </p:spPr>
          <p:txBody>
            <a:bodyPr wrap="none" lIns="0" tIns="0" rIns="0" bIns="0" anchor="t" anchorCtr="0">
              <a:spAutoFit/>
            </a:bodyPr>
            <a:lstStyle/>
            <a:p>
              <a:pPr algn="ctr"/>
              <a:r>
                <a:rPr lang="en-US" sz="1950" b="1" dirty="0">
                  <a:solidFill>
                    <a:srgbClr val="7DD3FC"/>
                  </a:solidFill>
                  <a:latin typeface="Consolas"/>
                  <a:ea typeface="Consolas"/>
                  <a:cs typeface="Consolas"/>
                </a:rPr>
                <a:t>v2.3</a:t>
              </a:r>
            </a:p>
          </p:txBody>
        </p:sp>
        <p:sp>
          <p:nvSpPr>
            <p:cNvPr id="31" name="TextBox 31"/>
            <p:cNvSpPr txBox="1"/>
            <p:nvPr/>
          </p:nvSpPr>
          <p:spPr>
            <a:xfrm>
              <a:off x="104878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系统收口</a:t>
              </a:r>
            </a:p>
          </p:txBody>
        </p:sp>
        <p:sp>
          <p:nvSpPr>
            <p:cNvPr id="32" name="TextBox 32"/>
            <p:cNvSpPr txBox="1"/>
            <p:nvPr/>
          </p:nvSpPr>
          <p:spPr>
            <a:xfrm>
              <a:off x="10188473" y="4295775"/>
              <a:ext cx="1721053"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周边 / Supervisor</a:t>
              </a:r>
            </a:p>
          </p:txBody>
        </p:sp>
      </p:grpSp>
      <p:grpSp>
        <p:nvGrpSpPr>
          <p:cNvPr id="36" name="Group 36"/>
          <p:cNvGrpSpPr/>
          <p:nvPr/>
        </p:nvGrpSpPr>
        <p:grpSpPr>
          <a:xfrm>
            <a:off x="1791033" y="5572125"/>
            <a:ext cx="8609933" cy="609600"/>
            <a:chOff x="1791033" y="5572125"/>
            <a:chExt cx="8609933" cy="609600"/>
          </a:xfrm>
        </p:grpSpPr>
        <p:sp>
          <p:nvSpPr>
            <p:cNvPr id="34" name="Rectangle 34"/>
            <p:cNvSpPr/>
            <p:nvPr/>
          </p:nvSpPr>
          <p:spPr>
            <a:xfrm>
              <a:off x="2381250" y="5572125"/>
              <a:ext cx="7429500" cy="609600"/>
            </a:xfrm>
            <a:prstGeom prst="roundRect">
              <a:avLst>
                <a:gd name="adj" fmla="val 9375"/>
              </a:avLst>
            </a:prstGeom>
            <a:solidFill>
              <a:srgbClr val="111827"/>
            </a:solidFill>
            <a:ln w="9525">
              <a:solidFill>
                <a:srgbClr val="2A3A52"/>
              </a:solidFill>
            </a:ln>
          </p:spPr>
        </p:sp>
        <p:sp>
          <p:nvSpPr>
            <p:cNvPr id="35" name="TextBox 35"/>
            <p:cNvSpPr txBox="1"/>
            <p:nvPr/>
          </p:nvSpPr>
          <p:spPr>
            <a:xfrm>
              <a:off x="1791033" y="5719762"/>
              <a:ext cx="8609933"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主线：先跑闭环，再统丢底座，最后把能力收口为可运营系统</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28" grpId="0"/>
      <p:bldP spid="33"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33400" y="1257300"/>
              <a:ext cx="11125200" cy="4572000"/>
            </a:xfrm>
            <a:custGeom>
              <a:avLst/>
              <a:gdLst/>
              <a:ahLst/>
              <a:cxnLst/>
              <a:rect l="l" t="t" r="r" b="b"/>
              <a:pathLst>
                <a:path w="11125200" h="4572000">
                  <a:moveTo>
                    <a:pt x="0" y="0"/>
                  </a:moveTo>
                  <a:lnTo>
                    <a:pt x="11125200" y="0"/>
                  </a:lnTo>
                  <a:moveTo>
                    <a:pt x="0" y="914400"/>
                  </a:moveTo>
                  <a:lnTo>
                    <a:pt x="11125200" y="914400"/>
                  </a:lnTo>
                  <a:moveTo>
                    <a:pt x="0" y="1828800"/>
                  </a:moveTo>
                  <a:lnTo>
                    <a:pt x="11125200" y="1828800"/>
                  </a:lnTo>
                  <a:moveTo>
                    <a:pt x="0" y="2743200"/>
                  </a:moveTo>
                  <a:lnTo>
                    <a:pt x="11125200" y="2743200"/>
                  </a:lnTo>
                  <a:moveTo>
                    <a:pt x="0" y="3657600"/>
                  </a:moveTo>
                  <a:lnTo>
                    <a:pt x="11125200" y="3657600"/>
                  </a:lnTo>
                  <a:moveTo>
                    <a:pt x="0" y="4572000"/>
                  </a:moveTo>
                  <a:lnTo>
                    <a:pt x="11125200" y="4572000"/>
                  </a:lnTo>
                </a:path>
              </a:pathLst>
            </a:custGeom>
            <a:solidFill>
              <a:srgbClr val="000000"/>
            </a:solidFill>
            <a:ln w="9525">
              <a:solidFill>
                <a:srgbClr val="1C2A3D"/>
              </a:solidFill>
              <a:prstDash val="lgDash"/>
            </a:ln>
          </p:spPr>
        </p:sp>
        <p:sp>
          <p:nvSpPr>
            <p:cNvPr id="4" name="Freeform 4"/>
            <p:cNvSpPr/>
            <p:nvPr/>
          </p:nvSpPr>
          <p:spPr>
            <a:xfrm>
              <a:off x="1047750" y="419100"/>
              <a:ext cx="9525000" cy="6019800"/>
            </a:xfrm>
            <a:custGeom>
              <a:avLst/>
              <a:gdLst/>
              <a:ahLst/>
              <a:cxnLst/>
              <a:rect l="l" t="t" r="r" b="b"/>
              <a:pathLst>
                <a:path w="9525000" h="6019800">
                  <a:moveTo>
                    <a:pt x="0" y="0"/>
                  </a:moveTo>
                  <a:lnTo>
                    <a:pt x="0" y="6019800"/>
                  </a:lnTo>
                  <a:moveTo>
                    <a:pt x="1905000" y="0"/>
                  </a:moveTo>
                  <a:lnTo>
                    <a:pt x="1905000" y="6019800"/>
                  </a:lnTo>
                  <a:moveTo>
                    <a:pt x="3810000" y="0"/>
                  </a:moveTo>
                  <a:lnTo>
                    <a:pt x="3810000" y="6019800"/>
                  </a:lnTo>
                  <a:moveTo>
                    <a:pt x="5715000" y="0"/>
                  </a:moveTo>
                  <a:lnTo>
                    <a:pt x="5715000" y="6019800"/>
                  </a:lnTo>
                  <a:moveTo>
                    <a:pt x="7620000" y="0"/>
                  </a:moveTo>
                  <a:lnTo>
                    <a:pt x="7620000" y="6019800"/>
                  </a:lnTo>
                  <a:moveTo>
                    <a:pt x="9525000" y="0"/>
                  </a:moveTo>
                  <a:lnTo>
                    <a:pt x="9525000" y="6019800"/>
                  </a:lnTo>
                </a:path>
              </a:pathLst>
            </a:custGeom>
            <a:solidFill>
              <a:srgbClr val="000000"/>
            </a:solidFill>
            <a:ln w="9525">
              <a:solidFill>
                <a:srgbClr val="1C2A3D">
                  <a:alpha val="48000"/>
                </a:srgbClr>
              </a:solidFill>
            </a:ln>
          </p:spPr>
        </p:sp>
      </p:grpSp>
      <p:grpSp>
        <p:nvGrpSpPr>
          <p:cNvPr id="8" name="Group 8"/>
          <p:cNvGrpSpPr/>
          <p:nvPr/>
        </p:nvGrpSpPr>
        <p:grpSpPr>
          <a:xfrm>
            <a:off x="514350" y="264795"/>
            <a:ext cx="8527641" cy="946594"/>
            <a:chOff x="514350" y="264795"/>
            <a:chExt cx="8527641" cy="946594"/>
          </a:xfrm>
        </p:grpSpPr>
        <p:sp>
          <p:nvSpPr>
            <p:cNvPr id="6" name="TextBox 6"/>
            <p:cNvSpPr txBox="1"/>
            <p:nvPr/>
          </p:nvSpPr>
          <p:spPr>
            <a:xfrm>
              <a:off x="514350" y="264795"/>
              <a:ext cx="8527641"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21 项验收条目全部过，结论可以先</a:t>
              </a:r>
            </a:p>
          </p:txBody>
        </p:sp>
        <p:sp>
          <p:nvSpPr>
            <p:cNvPr id="7" name="TextBox 7"/>
            <p:cNvSpPr txBox="1"/>
            <p:nvPr/>
          </p:nvSpPr>
          <p:spPr>
            <a:xfrm>
              <a:off x="544068" y="888682"/>
              <a:ext cx="6458331"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功能霢求扩展需求与非功能需求均已达成，验收通过率为百分之百</a:t>
              </a:r>
            </a:p>
          </p:txBody>
        </p:sp>
      </p:grpSp>
      <p:grpSp>
        <p:nvGrpSpPr>
          <p:cNvPr id="14" name="Group 14"/>
          <p:cNvGrpSpPr/>
          <p:nvPr/>
        </p:nvGrpSpPr>
        <p:grpSpPr>
          <a:xfrm>
            <a:off x="552450" y="1308735"/>
            <a:ext cx="3028950" cy="1358265"/>
            <a:chOff x="552450" y="1308735"/>
            <a:chExt cx="3028950" cy="1358265"/>
          </a:xfrm>
        </p:grpSpPr>
        <p:sp>
          <p:nvSpPr>
            <p:cNvPr id="9" name="Rectangle 9"/>
            <p:cNvSpPr/>
            <p:nvPr/>
          </p:nvSpPr>
          <p:spPr>
            <a:xfrm>
              <a:off x="552450" y="1409700"/>
              <a:ext cx="3028950" cy="1257300"/>
            </a:xfrm>
            <a:prstGeom prst="roundRect">
              <a:avLst>
                <a:gd name="adj" fmla="val 4545"/>
              </a:avLst>
            </a:prstGeom>
            <a:solidFill>
              <a:srgbClr val="111827"/>
            </a:solidFill>
            <a:ln w="9525">
              <a:solidFill>
                <a:srgbClr val="2A3A52"/>
              </a:solidFill>
            </a:ln>
          </p:spPr>
        </p:sp>
        <p:sp>
          <p:nvSpPr>
            <p:cNvPr id="10" name="Freeform 10"/>
            <p:cNvSpPr/>
            <p:nvPr/>
          </p:nvSpPr>
          <p:spPr>
            <a:xfrm>
              <a:off x="781050" y="1657350"/>
              <a:ext cx="419100" cy="419100"/>
            </a:xfrm>
            <a:custGeom>
              <a:avLst/>
              <a:gdLst/>
              <a:ahLst/>
              <a:cxnLst/>
              <a:rect l="l" t="t" r="r" b="b"/>
              <a:pathLst>
                <a:path w="419100" h="419100">
                  <a:moveTo>
                    <a:pt x="209550" y="419100"/>
                  </a:moveTo>
                  <a:cubicBezTo>
                    <a:pt x="325282" y="419100"/>
                    <a:pt x="419100" y="325282"/>
                    <a:pt x="419100" y="209550"/>
                  </a:cubicBezTo>
                  <a:cubicBezTo>
                    <a:pt x="419100" y="93819"/>
                    <a:pt x="325282" y="0"/>
                    <a:pt x="209550" y="0"/>
                  </a:cubicBezTo>
                  <a:cubicBezTo>
                    <a:pt x="93819" y="0"/>
                    <a:pt x="0" y="93819"/>
                    <a:pt x="0" y="209550"/>
                  </a:cubicBezTo>
                  <a:cubicBezTo>
                    <a:pt x="0" y="325282"/>
                    <a:pt x="93819" y="419100"/>
                    <a:pt x="209550" y="419100"/>
                  </a:cubicBezTo>
                  <a:close/>
                  <a:moveTo>
                    <a:pt x="332847" y="149491"/>
                  </a:moveTo>
                  <a:lnTo>
                    <a:pt x="295803" y="112447"/>
                  </a:lnTo>
                  <a:lnTo>
                    <a:pt x="170259" y="237991"/>
                  </a:lnTo>
                  <a:lnTo>
                    <a:pt x="123297" y="191028"/>
                  </a:lnTo>
                  <a:lnTo>
                    <a:pt x="86253" y="228072"/>
                  </a:lnTo>
                  <a:lnTo>
                    <a:pt x="170259" y="312078"/>
                  </a:lnTo>
                  <a:lnTo>
                    <a:pt x="332847" y="149491"/>
                  </a:lnTo>
                  <a:close/>
                </a:path>
              </a:pathLst>
            </a:custGeom>
            <a:solidFill>
              <a:srgbClr val="22C55E"/>
            </a:solidFill>
            <a:ln>
              <a:noFill/>
            </a:ln>
          </p:spPr>
        </p:sp>
        <p:sp>
          <p:nvSpPr>
            <p:cNvPr id="11" name="TextBox 11"/>
            <p:cNvSpPr txBox="1"/>
            <p:nvPr/>
          </p:nvSpPr>
          <p:spPr>
            <a:xfrm>
              <a:off x="1371600" y="1308735"/>
              <a:ext cx="1971782" cy="1104900"/>
            </a:xfrm>
            <a:prstGeom prst="rect">
              <a:avLst/>
            </a:prstGeom>
            <a:noFill/>
            <a:ln>
              <a:noFill/>
            </a:ln>
          </p:spPr>
          <p:txBody>
            <a:bodyPr wrap="none" lIns="0" tIns="0" rIns="0" bIns="0" anchor="t" anchorCtr="0">
              <a:spAutoFit/>
            </a:bodyPr>
            <a:lstStyle/>
            <a:p>
              <a:pPr algn="l"/>
              <a:r>
                <a:rPr lang="en-US" sz="5700" b="1" dirty="0">
                  <a:solidFill>
                    <a:srgbClr val="F59E0B"/>
                  </a:solidFill>
                  <a:latin typeface="Consolas"/>
                  <a:ea typeface="Consolas"/>
                  <a:cs typeface="Consolas"/>
                </a:rPr>
                <a:t>100%</a:t>
              </a:r>
            </a:p>
          </p:txBody>
        </p:sp>
        <p:sp>
          <p:nvSpPr>
            <p:cNvPr id="12" name="TextBox 12"/>
            <p:cNvSpPr txBox="1"/>
            <p:nvPr/>
          </p:nvSpPr>
          <p:spPr>
            <a:xfrm>
              <a:off x="788670" y="21383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验收通过</a:t>
              </a:r>
            </a:p>
          </p:txBody>
        </p:sp>
        <p:sp>
          <p:nvSpPr>
            <p:cNvPr id="13" name="TextBox 13"/>
            <p:cNvSpPr txBox="1"/>
            <p:nvPr/>
          </p:nvSpPr>
          <p:spPr>
            <a:xfrm>
              <a:off x="2239518" y="2203132"/>
              <a:ext cx="760876"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21 / 21</a:t>
              </a:r>
            </a:p>
          </p:txBody>
        </p:sp>
      </p:grpSp>
      <p:grpSp>
        <p:nvGrpSpPr>
          <p:cNvPr id="41" name="Group 41"/>
          <p:cNvGrpSpPr/>
          <p:nvPr/>
        </p:nvGrpSpPr>
        <p:grpSpPr>
          <a:xfrm>
            <a:off x="552450" y="3009900"/>
            <a:ext cx="7067550" cy="2609850"/>
            <a:chOff x="552450" y="3009900"/>
            <a:chExt cx="7067550" cy="2609850"/>
          </a:xfrm>
        </p:grpSpPr>
        <p:sp>
          <p:nvSpPr>
            <p:cNvPr id="15" name="Rectangle 15"/>
            <p:cNvSpPr/>
            <p:nvPr/>
          </p:nvSpPr>
          <p:spPr>
            <a:xfrm>
              <a:off x="552450" y="3009900"/>
              <a:ext cx="7067550" cy="2609850"/>
            </a:xfrm>
            <a:prstGeom prst="roundRect">
              <a:avLst>
                <a:gd name="adj" fmla="val 2190"/>
              </a:avLst>
            </a:prstGeom>
            <a:solidFill>
              <a:srgbClr val="111827"/>
            </a:solidFill>
            <a:ln w="9525">
              <a:solidFill>
                <a:srgbClr val="2A3A52"/>
              </a:solidFill>
            </a:ln>
          </p:spPr>
        </p:sp>
        <p:sp>
          <p:nvSpPr>
            <p:cNvPr id="16" name="Rectangle 16"/>
            <p:cNvSpPr/>
            <p:nvPr/>
          </p:nvSpPr>
          <p:spPr>
            <a:xfrm>
              <a:off x="552450" y="3009900"/>
              <a:ext cx="7067550" cy="514350"/>
            </a:xfrm>
            <a:prstGeom prst="roundRect">
              <a:avLst>
                <a:gd name="adj" fmla="val 11111"/>
              </a:avLst>
            </a:prstGeom>
            <a:solidFill>
              <a:srgbClr val="111827"/>
            </a:solidFill>
            <a:ln w="9525">
              <a:solidFill>
                <a:srgbClr val="2A3A52"/>
              </a:solidFill>
            </a:ln>
          </p:spPr>
        </p:sp>
        <p:sp>
          <p:nvSpPr>
            <p:cNvPr id="17" name="TextBox 17"/>
            <p:cNvSpPr txBox="1"/>
            <p:nvPr/>
          </p:nvSpPr>
          <p:spPr>
            <a:xfrm>
              <a:off x="790956" y="3148965"/>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验收维度</a:t>
              </a:r>
            </a:p>
          </p:txBody>
        </p:sp>
        <p:sp>
          <p:nvSpPr>
            <p:cNvPr id="18" name="TextBox 18"/>
            <p:cNvSpPr txBox="1"/>
            <p:nvPr/>
          </p:nvSpPr>
          <p:spPr>
            <a:xfrm>
              <a:off x="3267456" y="3148965"/>
              <a:ext cx="527152"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条目</a:t>
              </a:r>
            </a:p>
          </p:txBody>
        </p:sp>
        <p:sp>
          <p:nvSpPr>
            <p:cNvPr id="19" name="TextBox 19"/>
            <p:cNvSpPr txBox="1"/>
            <p:nvPr/>
          </p:nvSpPr>
          <p:spPr>
            <a:xfrm>
              <a:off x="4696206" y="3148965"/>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达成版本</a:t>
              </a:r>
            </a:p>
          </p:txBody>
        </p:sp>
        <p:sp>
          <p:nvSpPr>
            <p:cNvPr id="20" name="TextBox 20"/>
            <p:cNvSpPr txBox="1"/>
            <p:nvPr/>
          </p:nvSpPr>
          <p:spPr>
            <a:xfrm>
              <a:off x="6493040" y="3148965"/>
              <a:ext cx="272720" cy="352044"/>
            </a:xfrm>
            <a:prstGeom prst="rect">
              <a:avLst/>
            </a:prstGeom>
            <a:noFill/>
            <a:ln>
              <a:noFill/>
            </a:ln>
          </p:spPr>
          <p:txBody>
            <a:bodyPr wrap="none" lIns="0" tIns="0" rIns="0" bIns="0" anchor="t" anchorCtr="0">
              <a:spAutoFit/>
            </a:bodyPr>
            <a:lstStyle/>
            <a:p>
              <a:pPr algn="ctr"/>
              <a:r>
                <a:rPr lang="zh-CN" sz="1800" b="1" dirty="0">
                  <a:solidFill>
                    <a:srgbClr val="7DD3FC"/>
                  </a:solidFill>
                  <a:latin typeface="Arial"/>
                  <a:ea typeface="Microsoft YaHei"/>
                  <a:cs typeface="Arial"/>
                </a:rPr>
                <a:t>状</a:t>
              </a:r>
            </a:p>
          </p:txBody>
        </p:sp>
        <p:sp>
          <p:nvSpPr>
            <p:cNvPr id="21" name="Line 21"/>
            <p:cNvSpPr/>
            <p:nvPr/>
          </p:nvSpPr>
          <p:spPr>
            <a:xfrm>
              <a:off x="3048000" y="3009900"/>
              <a:ext cx="9525" cy="2609850"/>
            </a:xfrm>
            <a:custGeom>
              <a:avLst/>
              <a:gdLst/>
              <a:ahLst/>
              <a:cxnLst/>
              <a:rect l="l" t="t" r="r" b="b"/>
              <a:pathLst>
                <a:path w="9525" h="2609850">
                  <a:moveTo>
                    <a:pt x="0" y="0"/>
                  </a:moveTo>
                  <a:lnTo>
                    <a:pt x="0" y="2609850"/>
                  </a:lnTo>
                </a:path>
              </a:pathLst>
            </a:custGeom>
            <a:noFill/>
            <a:ln w="9525">
              <a:solidFill>
                <a:srgbClr val="2A3A52"/>
              </a:solidFill>
            </a:ln>
          </p:spPr>
        </p:sp>
        <p:sp>
          <p:nvSpPr>
            <p:cNvPr id="22" name="Line 22"/>
            <p:cNvSpPr/>
            <p:nvPr/>
          </p:nvSpPr>
          <p:spPr>
            <a:xfrm>
              <a:off x="4381500" y="3009900"/>
              <a:ext cx="9525" cy="2609850"/>
            </a:xfrm>
            <a:custGeom>
              <a:avLst/>
              <a:gdLst/>
              <a:ahLst/>
              <a:cxnLst/>
              <a:rect l="l" t="t" r="r" b="b"/>
              <a:pathLst>
                <a:path w="9525" h="2609850">
                  <a:moveTo>
                    <a:pt x="0" y="0"/>
                  </a:moveTo>
                  <a:lnTo>
                    <a:pt x="0" y="2609850"/>
                  </a:lnTo>
                </a:path>
              </a:pathLst>
            </a:custGeom>
            <a:noFill/>
            <a:ln w="9525">
              <a:solidFill>
                <a:srgbClr val="2A3A52"/>
              </a:solidFill>
            </a:ln>
          </p:spPr>
        </p:sp>
        <p:sp>
          <p:nvSpPr>
            <p:cNvPr id="23" name="Line 23"/>
            <p:cNvSpPr/>
            <p:nvPr/>
          </p:nvSpPr>
          <p:spPr>
            <a:xfrm>
              <a:off x="6000750" y="3009900"/>
              <a:ext cx="9525" cy="2609850"/>
            </a:xfrm>
            <a:custGeom>
              <a:avLst/>
              <a:gdLst/>
              <a:ahLst/>
              <a:cxnLst/>
              <a:rect l="l" t="t" r="r" b="b"/>
              <a:pathLst>
                <a:path w="9525" h="2609850">
                  <a:moveTo>
                    <a:pt x="0" y="0"/>
                  </a:moveTo>
                  <a:lnTo>
                    <a:pt x="0" y="2609850"/>
                  </a:lnTo>
                </a:path>
              </a:pathLst>
            </a:custGeom>
            <a:noFill/>
            <a:ln w="9525">
              <a:solidFill>
                <a:srgbClr val="2A3A52"/>
              </a:solidFill>
            </a:ln>
          </p:spPr>
        </p:sp>
        <p:sp>
          <p:nvSpPr>
            <p:cNvPr id="24" name="Freeform 24"/>
            <p:cNvSpPr/>
            <p:nvPr/>
          </p:nvSpPr>
          <p:spPr>
            <a:xfrm>
              <a:off x="552450" y="4038600"/>
              <a:ext cx="7067550" cy="1028700"/>
            </a:xfrm>
            <a:custGeom>
              <a:avLst/>
              <a:gdLst/>
              <a:ahLst/>
              <a:cxnLst/>
              <a:rect l="l" t="t" r="r" b="b"/>
              <a:pathLst>
                <a:path w="7067550" h="1028700">
                  <a:moveTo>
                    <a:pt x="0" y="0"/>
                  </a:moveTo>
                  <a:lnTo>
                    <a:pt x="7067550" y="0"/>
                  </a:lnTo>
                  <a:moveTo>
                    <a:pt x="0" y="514350"/>
                  </a:moveTo>
                  <a:lnTo>
                    <a:pt x="7067550" y="514350"/>
                  </a:lnTo>
                  <a:moveTo>
                    <a:pt x="0" y="1028700"/>
                  </a:moveTo>
                  <a:lnTo>
                    <a:pt x="7067550" y="1028700"/>
                  </a:lnTo>
                </a:path>
              </a:pathLst>
            </a:custGeom>
            <a:solidFill>
              <a:srgbClr val="000000"/>
            </a:solidFill>
            <a:ln w="9525">
              <a:solidFill>
                <a:srgbClr val="2A3A52"/>
              </a:solidFill>
            </a:ln>
          </p:spPr>
        </p:sp>
        <p:sp>
          <p:nvSpPr>
            <p:cNvPr id="25" name="TextBox 25"/>
            <p:cNvSpPr txBox="1"/>
            <p:nvPr/>
          </p:nvSpPr>
          <p:spPr>
            <a:xfrm>
              <a:off x="789432" y="3649980"/>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必须完成</a:t>
              </a:r>
            </a:p>
          </p:txBody>
        </p:sp>
        <p:sp>
          <p:nvSpPr>
            <p:cNvPr id="26" name="TextBox 26"/>
            <p:cNvSpPr txBox="1"/>
            <p:nvPr/>
          </p:nvSpPr>
          <p:spPr>
            <a:xfrm>
              <a:off x="3076813" y="363378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5 / 5</a:t>
              </a:r>
            </a:p>
          </p:txBody>
        </p:sp>
        <p:sp>
          <p:nvSpPr>
            <p:cNvPr id="27" name="TextBox 27"/>
            <p:cNvSpPr txBox="1"/>
            <p:nvPr/>
          </p:nvSpPr>
          <p:spPr>
            <a:xfrm>
              <a:off x="4696968" y="3698558"/>
              <a:ext cx="1024018"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v1.0 MVP</a:t>
              </a:r>
            </a:p>
          </p:txBody>
        </p:sp>
        <p:sp>
          <p:nvSpPr>
            <p:cNvPr id="28" name="TextBox 28"/>
            <p:cNvSpPr txBox="1"/>
            <p:nvPr/>
          </p:nvSpPr>
          <p:spPr>
            <a:xfrm>
              <a:off x="6321895" y="364998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sp>
          <p:nvSpPr>
            <p:cNvPr id="29" name="TextBox 29"/>
            <p:cNvSpPr txBox="1"/>
            <p:nvPr/>
          </p:nvSpPr>
          <p:spPr>
            <a:xfrm>
              <a:off x="789432" y="4164330"/>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推荐完成</a:t>
              </a:r>
            </a:p>
          </p:txBody>
        </p:sp>
        <p:sp>
          <p:nvSpPr>
            <p:cNvPr id="30" name="TextBox 30"/>
            <p:cNvSpPr txBox="1"/>
            <p:nvPr/>
          </p:nvSpPr>
          <p:spPr>
            <a:xfrm>
              <a:off x="3076813" y="414813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5 / 5</a:t>
              </a:r>
            </a:p>
          </p:txBody>
        </p:sp>
        <p:sp>
          <p:nvSpPr>
            <p:cNvPr id="31" name="TextBox 31"/>
            <p:cNvSpPr txBox="1"/>
            <p:nvPr/>
          </p:nvSpPr>
          <p:spPr>
            <a:xfrm>
              <a:off x="4696968" y="4212908"/>
              <a:ext cx="118291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v1.0 ?v2.3</a:t>
              </a:r>
            </a:p>
          </p:txBody>
        </p:sp>
        <p:sp>
          <p:nvSpPr>
            <p:cNvPr id="32" name="TextBox 32"/>
            <p:cNvSpPr txBox="1"/>
            <p:nvPr/>
          </p:nvSpPr>
          <p:spPr>
            <a:xfrm>
              <a:off x="6321895" y="416433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sp>
          <p:nvSpPr>
            <p:cNvPr id="33" name="TextBox 33"/>
            <p:cNvSpPr txBox="1"/>
            <p:nvPr/>
          </p:nvSpPr>
          <p:spPr>
            <a:xfrm>
              <a:off x="789432" y="4678680"/>
              <a:ext cx="615010"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可扩</a:t>
              </a:r>
            </a:p>
          </p:txBody>
        </p:sp>
        <p:sp>
          <p:nvSpPr>
            <p:cNvPr id="34" name="TextBox 34"/>
            <p:cNvSpPr txBox="1"/>
            <p:nvPr/>
          </p:nvSpPr>
          <p:spPr>
            <a:xfrm>
              <a:off x="3076813" y="466248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6 / 6</a:t>
              </a:r>
            </a:p>
          </p:txBody>
        </p:sp>
        <p:sp>
          <p:nvSpPr>
            <p:cNvPr id="35" name="TextBox 35"/>
            <p:cNvSpPr txBox="1"/>
            <p:nvPr/>
          </p:nvSpPr>
          <p:spPr>
            <a:xfrm>
              <a:off x="4696968" y="4727258"/>
              <a:ext cx="118291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v2.0 ?v2.3</a:t>
              </a:r>
            </a:p>
          </p:txBody>
        </p:sp>
        <p:sp>
          <p:nvSpPr>
            <p:cNvPr id="36" name="TextBox 36"/>
            <p:cNvSpPr txBox="1"/>
            <p:nvPr/>
          </p:nvSpPr>
          <p:spPr>
            <a:xfrm>
              <a:off x="6321895" y="467868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sp>
          <p:nvSpPr>
            <p:cNvPr id="37" name="TextBox 37"/>
            <p:cNvSpPr txBox="1"/>
            <p:nvPr/>
          </p:nvSpPr>
          <p:spPr>
            <a:xfrm>
              <a:off x="789432" y="5193030"/>
              <a:ext cx="615010"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非功</a:t>
              </a:r>
            </a:p>
          </p:txBody>
        </p:sp>
        <p:sp>
          <p:nvSpPr>
            <p:cNvPr id="38" name="TextBox 38"/>
            <p:cNvSpPr txBox="1"/>
            <p:nvPr/>
          </p:nvSpPr>
          <p:spPr>
            <a:xfrm>
              <a:off x="3076813" y="517683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5 / 5</a:t>
              </a:r>
            </a:p>
          </p:txBody>
        </p:sp>
        <p:sp>
          <p:nvSpPr>
            <p:cNvPr id="39" name="TextBox 39"/>
            <p:cNvSpPr txBox="1"/>
            <p:nvPr/>
          </p:nvSpPr>
          <p:spPr>
            <a:xfrm>
              <a:off x="4696968" y="5241608"/>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全版本支</a:t>
              </a:r>
            </a:p>
          </p:txBody>
        </p:sp>
        <p:sp>
          <p:nvSpPr>
            <p:cNvPr id="40" name="TextBox 40"/>
            <p:cNvSpPr txBox="1"/>
            <p:nvPr/>
          </p:nvSpPr>
          <p:spPr>
            <a:xfrm>
              <a:off x="6321895" y="519303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grpSp>
      <p:grpSp>
        <p:nvGrpSpPr>
          <p:cNvPr id="59" name="Group 59"/>
          <p:cNvGrpSpPr/>
          <p:nvPr/>
        </p:nvGrpSpPr>
        <p:grpSpPr>
          <a:xfrm>
            <a:off x="8020050" y="1409700"/>
            <a:ext cx="5402961" cy="4210050"/>
            <a:chOff x="8020050" y="1409700"/>
            <a:chExt cx="5402961" cy="4210050"/>
          </a:xfrm>
        </p:grpSpPr>
        <p:sp>
          <p:nvSpPr>
            <p:cNvPr id="42" name="Rectangle 42"/>
            <p:cNvSpPr/>
            <p:nvPr/>
          </p:nvSpPr>
          <p:spPr>
            <a:xfrm>
              <a:off x="8020050" y="1409700"/>
              <a:ext cx="3638550" cy="4210050"/>
            </a:xfrm>
            <a:prstGeom prst="roundRect">
              <a:avLst>
                <a:gd name="adj" fmla="val 1571"/>
              </a:avLst>
            </a:prstGeom>
            <a:solidFill>
              <a:srgbClr val="111827"/>
            </a:solidFill>
            <a:ln w="9525">
              <a:solidFill>
                <a:srgbClr val="2A3A52"/>
              </a:solidFill>
            </a:ln>
          </p:spPr>
        </p:sp>
        <p:sp>
          <p:nvSpPr>
            <p:cNvPr id="43" name="TextBox 43"/>
            <p:cNvSpPr txBox="1"/>
            <p:nvPr/>
          </p:nvSpPr>
          <p:spPr>
            <a:xfrm>
              <a:off x="8292846" y="1591628"/>
              <a:ext cx="1467688" cy="498729"/>
            </a:xfrm>
            <a:prstGeom prst="rect">
              <a:avLst/>
            </a:prstGeom>
            <a:noFill/>
            <a:ln>
              <a:noFill/>
            </a:ln>
          </p:spPr>
          <p:txBody>
            <a:bodyPr wrap="none" lIns="0" tIns="0" rIns="0" bIns="0" anchor="t" anchorCtr="0">
              <a:spAutoFit/>
            </a:bodyPr>
            <a:lstStyle/>
            <a:p>
              <a:pPr algn="l"/>
              <a:r>
                <a:rPr lang="zh-CN" sz="2550" b="1" dirty="0">
                  <a:solidFill>
                    <a:srgbClr val="F8FAFC"/>
                  </a:solidFill>
                  <a:latin typeface="Arial"/>
                  <a:ea typeface="Microsoft YaHei"/>
                  <a:cs typeface="Arial"/>
                </a:rPr>
                <a:t>结论公式</a:t>
              </a:r>
            </a:p>
          </p:txBody>
        </p:sp>
        <p:sp>
          <p:nvSpPr>
            <p:cNvPr id="44" name="TextBox 44"/>
            <p:cNvSpPr txBox="1"/>
            <p:nvPr/>
          </p:nvSpPr>
          <p:spPr>
            <a:xfrm>
              <a:off x="8297418" y="2060258"/>
              <a:ext cx="512559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扢有条目进入同丢条证据链，不按演示印象主观判断</a:t>
              </a:r>
            </a:p>
          </p:txBody>
        </p:sp>
        <p:pic>
          <p:nvPicPr>
            <p:cNvPr id="45" name="Image 45"/>
            <p:cNvPicPr>
              <a:picLocks noChangeAspect="1"/>
            </p:cNvPicPr>
            <p:nvPr/>
          </p:nvPicPr>
          <p:blipFill>
            <a:blip r:embed="rId2"/>
            <a:stretch>
              <a:fillRect/>
            </a:stretch>
          </p:blipFill>
          <p:spPr>
            <a:xfrm>
              <a:off x="8477250" y="2686050"/>
              <a:ext cx="2724150" cy="542925"/>
            </a:xfrm>
            <a:prstGeom prst="rect">
              <a:avLst/>
            </a:prstGeom>
          </p:spPr>
        </p:pic>
        <p:sp>
          <p:nvSpPr>
            <p:cNvPr id="46" name="Freeform 46"/>
            <p:cNvSpPr/>
            <p:nvPr/>
          </p:nvSpPr>
          <p:spPr>
            <a:xfrm>
              <a:off x="8477250" y="3657600"/>
              <a:ext cx="2724150" cy="9525"/>
            </a:xfrm>
            <a:custGeom>
              <a:avLst/>
              <a:gdLst/>
              <a:ahLst/>
              <a:cxnLst/>
              <a:rect l="l" t="t" r="r" b="b"/>
              <a:pathLst>
                <a:path w="2724150" h="9525">
                  <a:moveTo>
                    <a:pt x="0" y="0"/>
                  </a:moveTo>
                  <a:lnTo>
                    <a:pt x="2724150" y="0"/>
                  </a:lnTo>
                </a:path>
              </a:pathLst>
            </a:custGeom>
            <a:solidFill>
              <a:srgbClr val="000000"/>
            </a:solidFill>
            <a:ln w="19050">
              <a:solidFill>
                <a:srgbClr val="7DD3FC"/>
              </a:solidFill>
              <a:prstDash val="lgDash"/>
            </a:ln>
          </p:spPr>
        </p:sp>
        <p:grpSp>
          <p:nvGrpSpPr>
            <p:cNvPr id="52" name="Group 52"/>
            <p:cNvGrpSpPr/>
            <p:nvPr/>
          </p:nvGrpSpPr>
          <p:grpSpPr>
            <a:xfrm>
              <a:off x="8546306" y="4000500"/>
              <a:ext cx="300038" cy="400050"/>
              <a:chOff x="8546306" y="4000500"/>
              <a:chExt cx="300038" cy="400050"/>
            </a:xfrm>
          </p:grpSpPr>
          <p:sp>
            <p:nvSpPr>
              <p:cNvPr id="47" name="Freeform 47"/>
              <p:cNvSpPr/>
              <p:nvPr/>
            </p:nvSpPr>
            <p:spPr>
              <a:xfrm>
                <a:off x="8546306" y="4000500"/>
                <a:ext cx="300038" cy="100012"/>
              </a:xfrm>
              <a:custGeom>
                <a:avLst/>
                <a:gdLst/>
                <a:ahLst/>
                <a:cxnLst/>
                <a:rect l="l" t="t" r="r" b="b"/>
                <a:pathLst>
                  <a:path w="300038" h="100012">
                    <a:moveTo>
                      <a:pt x="300038" y="0"/>
                    </a:moveTo>
                    <a:lnTo>
                      <a:pt x="0" y="0"/>
                    </a:lnTo>
                    <a:lnTo>
                      <a:pt x="0" y="100012"/>
                    </a:lnTo>
                    <a:lnTo>
                      <a:pt x="300038" y="100012"/>
                    </a:lnTo>
                    <a:lnTo>
                      <a:pt x="300038" y="0"/>
                    </a:lnTo>
                    <a:close/>
                  </a:path>
                </a:pathLst>
              </a:custGeom>
              <a:solidFill>
                <a:srgbClr val="7DD3FC"/>
              </a:solidFill>
              <a:ln>
                <a:noFill/>
              </a:ln>
            </p:spPr>
          </p:sp>
          <p:sp>
            <p:nvSpPr>
              <p:cNvPr id="48" name="Freeform 48"/>
              <p:cNvSpPr/>
              <p:nvPr/>
            </p:nvSpPr>
            <p:spPr>
              <a:xfrm>
                <a:off x="8546306" y="4150519"/>
                <a:ext cx="125016" cy="100012"/>
              </a:xfrm>
              <a:custGeom>
                <a:avLst/>
                <a:gdLst/>
                <a:ahLst/>
                <a:cxnLst/>
                <a:rect l="l" t="t" r="r" b="b"/>
                <a:pathLst>
                  <a:path w="125016" h="100012">
                    <a:moveTo>
                      <a:pt x="0" y="0"/>
                    </a:moveTo>
                    <a:lnTo>
                      <a:pt x="125016" y="0"/>
                    </a:lnTo>
                    <a:lnTo>
                      <a:pt x="125016" y="100012"/>
                    </a:lnTo>
                    <a:lnTo>
                      <a:pt x="0" y="100012"/>
                    </a:lnTo>
                    <a:lnTo>
                      <a:pt x="0" y="0"/>
                    </a:lnTo>
                    <a:close/>
                  </a:path>
                </a:pathLst>
              </a:custGeom>
              <a:solidFill>
                <a:srgbClr val="7DD3FC"/>
              </a:solidFill>
              <a:ln>
                <a:noFill/>
              </a:ln>
            </p:spPr>
          </p:sp>
          <p:sp>
            <p:nvSpPr>
              <p:cNvPr id="49" name="Freeform 49"/>
              <p:cNvSpPr/>
              <p:nvPr/>
            </p:nvSpPr>
            <p:spPr>
              <a:xfrm>
                <a:off x="8546306" y="4300538"/>
                <a:ext cx="125016" cy="100012"/>
              </a:xfrm>
              <a:custGeom>
                <a:avLst/>
                <a:gdLst/>
                <a:ahLst/>
                <a:cxnLst/>
                <a:rect l="l" t="t" r="r" b="b"/>
                <a:pathLst>
                  <a:path w="125016" h="100012">
                    <a:moveTo>
                      <a:pt x="0" y="0"/>
                    </a:moveTo>
                    <a:lnTo>
                      <a:pt x="125016" y="0"/>
                    </a:lnTo>
                    <a:lnTo>
                      <a:pt x="125016" y="100012"/>
                    </a:lnTo>
                    <a:lnTo>
                      <a:pt x="0" y="100012"/>
                    </a:lnTo>
                    <a:lnTo>
                      <a:pt x="0" y="0"/>
                    </a:lnTo>
                    <a:close/>
                  </a:path>
                </a:pathLst>
              </a:custGeom>
              <a:solidFill>
                <a:srgbClr val="7DD3FC"/>
              </a:solidFill>
              <a:ln>
                <a:noFill/>
              </a:ln>
            </p:spPr>
          </p:sp>
          <p:sp>
            <p:nvSpPr>
              <p:cNvPr id="50" name="Freeform 50"/>
              <p:cNvSpPr/>
              <p:nvPr/>
            </p:nvSpPr>
            <p:spPr>
              <a:xfrm>
                <a:off x="8721328" y="4300538"/>
                <a:ext cx="125016" cy="100012"/>
              </a:xfrm>
              <a:custGeom>
                <a:avLst/>
                <a:gdLst/>
                <a:ahLst/>
                <a:cxnLst/>
                <a:rect l="l" t="t" r="r" b="b"/>
                <a:pathLst>
                  <a:path w="125016" h="100012">
                    <a:moveTo>
                      <a:pt x="0" y="0"/>
                    </a:moveTo>
                    <a:lnTo>
                      <a:pt x="125016" y="0"/>
                    </a:lnTo>
                    <a:lnTo>
                      <a:pt x="125016" y="100012"/>
                    </a:lnTo>
                    <a:lnTo>
                      <a:pt x="0" y="100012"/>
                    </a:lnTo>
                    <a:lnTo>
                      <a:pt x="0" y="0"/>
                    </a:lnTo>
                    <a:close/>
                  </a:path>
                </a:pathLst>
              </a:custGeom>
              <a:solidFill>
                <a:srgbClr val="7DD3FC"/>
              </a:solidFill>
              <a:ln>
                <a:noFill/>
              </a:ln>
            </p:spPr>
          </p:sp>
          <p:sp>
            <p:nvSpPr>
              <p:cNvPr id="51" name="Freeform 51"/>
              <p:cNvSpPr/>
              <p:nvPr/>
            </p:nvSpPr>
            <p:spPr>
              <a:xfrm>
                <a:off x="8721328" y="4150519"/>
                <a:ext cx="125016" cy="100012"/>
              </a:xfrm>
              <a:custGeom>
                <a:avLst/>
                <a:gdLst/>
                <a:ahLst/>
                <a:cxnLst/>
                <a:rect l="l" t="t" r="r" b="b"/>
                <a:pathLst>
                  <a:path w="125016" h="100012">
                    <a:moveTo>
                      <a:pt x="125016" y="0"/>
                    </a:moveTo>
                    <a:lnTo>
                      <a:pt x="0" y="0"/>
                    </a:lnTo>
                    <a:lnTo>
                      <a:pt x="0" y="100012"/>
                    </a:lnTo>
                    <a:lnTo>
                      <a:pt x="125016" y="100012"/>
                    </a:lnTo>
                    <a:lnTo>
                      <a:pt x="125016" y="0"/>
                    </a:lnTo>
                    <a:close/>
                  </a:path>
                </a:pathLst>
              </a:custGeom>
              <a:solidFill>
                <a:srgbClr val="7DD3FC"/>
              </a:solidFill>
              <a:ln>
                <a:noFill/>
              </a:ln>
            </p:spPr>
          </p:sp>
        </p:grpSp>
        <p:sp>
          <p:nvSpPr>
            <p:cNvPr id="53" name="TextBox 53"/>
            <p:cNvSpPr txBox="1"/>
            <p:nvPr/>
          </p:nvSpPr>
          <p:spPr>
            <a:xfrm>
              <a:off x="9075420" y="4024312"/>
              <a:ext cx="97697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霢求对</a:t>
              </a:r>
            </a:p>
          </p:txBody>
        </p:sp>
        <p:grpSp>
          <p:nvGrpSpPr>
            <p:cNvPr id="56" name="Group 56"/>
            <p:cNvGrpSpPr/>
            <p:nvPr/>
          </p:nvGrpSpPr>
          <p:grpSpPr>
            <a:xfrm>
              <a:off x="8521303" y="4629150"/>
              <a:ext cx="350044" cy="400050"/>
              <a:chOff x="8521303" y="4629150"/>
              <a:chExt cx="350044" cy="400050"/>
            </a:xfrm>
          </p:grpSpPr>
          <p:sp>
            <p:nvSpPr>
              <p:cNvPr id="54" name="Freeform 54"/>
              <p:cNvSpPr/>
              <p:nvPr/>
            </p:nvSpPr>
            <p:spPr>
              <a:xfrm>
                <a:off x="8621316" y="4629150"/>
                <a:ext cx="250031" cy="300038"/>
              </a:xfrm>
              <a:custGeom>
                <a:avLst/>
                <a:gdLst/>
                <a:ahLst/>
                <a:cxnLst/>
                <a:rect l="l" t="t" r="r" b="b"/>
                <a:pathLst>
                  <a:path w="250031" h="300038">
                    <a:moveTo>
                      <a:pt x="150019" y="0"/>
                    </a:moveTo>
                    <a:lnTo>
                      <a:pt x="0" y="0"/>
                    </a:lnTo>
                    <a:lnTo>
                      <a:pt x="0" y="300038"/>
                    </a:lnTo>
                    <a:lnTo>
                      <a:pt x="250031" y="300038"/>
                    </a:lnTo>
                    <a:lnTo>
                      <a:pt x="250031" y="100012"/>
                    </a:lnTo>
                    <a:lnTo>
                      <a:pt x="150019" y="0"/>
                    </a:lnTo>
                    <a:close/>
                  </a:path>
                </a:pathLst>
              </a:custGeom>
              <a:solidFill>
                <a:srgbClr val="F59E0B"/>
              </a:solidFill>
              <a:ln>
                <a:noFill/>
              </a:ln>
            </p:spPr>
          </p:sp>
          <p:sp>
            <p:nvSpPr>
              <p:cNvPr id="55" name="Freeform 55"/>
              <p:cNvSpPr/>
              <p:nvPr/>
            </p:nvSpPr>
            <p:spPr>
              <a:xfrm>
                <a:off x="8521303" y="4729162"/>
                <a:ext cx="250031" cy="300038"/>
              </a:xfrm>
              <a:custGeom>
                <a:avLst/>
                <a:gdLst/>
                <a:ahLst/>
                <a:cxnLst/>
                <a:rect l="l" t="t" r="r" b="b"/>
                <a:pathLst>
                  <a:path w="250031" h="300038">
                    <a:moveTo>
                      <a:pt x="0" y="0"/>
                    </a:moveTo>
                    <a:lnTo>
                      <a:pt x="0" y="300038"/>
                    </a:lnTo>
                    <a:lnTo>
                      <a:pt x="250031" y="300038"/>
                    </a:lnTo>
                    <a:lnTo>
                      <a:pt x="250031" y="250031"/>
                    </a:lnTo>
                    <a:lnTo>
                      <a:pt x="50006" y="250031"/>
                    </a:lnTo>
                    <a:lnTo>
                      <a:pt x="50006" y="0"/>
                    </a:lnTo>
                    <a:lnTo>
                      <a:pt x="0" y="0"/>
                    </a:lnTo>
                    <a:close/>
                  </a:path>
                </a:pathLst>
              </a:custGeom>
              <a:solidFill>
                <a:srgbClr val="F59E0B"/>
              </a:solidFill>
              <a:ln>
                <a:noFill/>
              </a:ln>
            </p:spPr>
          </p:sp>
        </p:grpSp>
        <p:sp>
          <p:nvSpPr>
            <p:cNvPr id="57" name="TextBox 57"/>
            <p:cNvSpPr txBox="1"/>
            <p:nvPr/>
          </p:nvSpPr>
          <p:spPr>
            <a:xfrm>
              <a:off x="9075420" y="46529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测试沉淀</a:t>
              </a:r>
            </a:p>
          </p:txBody>
        </p:sp>
        <p:sp>
          <p:nvSpPr>
            <p:cNvPr id="58" name="TextBox 58"/>
            <p:cNvSpPr txBox="1"/>
            <p:nvPr/>
          </p:nvSpPr>
          <p:spPr>
            <a:xfrm>
              <a:off x="8297418" y="5213032"/>
              <a:ext cx="4681347"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验收结论：功能治理观测回归四条证据同时闭合</a:t>
              </a:r>
            </a:p>
          </p:txBody>
        </p:sp>
      </p:grpSp>
      <p:sp>
        <p:nvSpPr>
          <p:cNvPr id="60" name="TextBox 60"/>
          <p:cNvSpPr txBox="1"/>
          <p:nvPr/>
        </p:nvSpPr>
        <p:spPr>
          <a:xfrm>
            <a:off x="527304" y="6309360"/>
            <a:ext cx="5189096"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P09 ?consulting table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1" grpId="0"/>
      <p:bldP spid="5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33400" y="1428750"/>
              <a:ext cx="11125200" cy="4572000"/>
            </a:xfrm>
            <a:custGeom>
              <a:avLst/>
              <a:gdLst/>
              <a:ahLst/>
              <a:cxnLst/>
              <a:rect l="l" t="t" r="r" b="b"/>
              <a:pathLst>
                <a:path w="11125200" h="4572000">
                  <a:moveTo>
                    <a:pt x="0" y="0"/>
                  </a:moveTo>
                  <a:lnTo>
                    <a:pt x="11125200" y="0"/>
                  </a:lnTo>
                  <a:moveTo>
                    <a:pt x="0" y="1143000"/>
                  </a:moveTo>
                  <a:lnTo>
                    <a:pt x="11125200" y="1143000"/>
                  </a:lnTo>
                  <a:moveTo>
                    <a:pt x="0" y="2286000"/>
                  </a:moveTo>
                  <a:lnTo>
                    <a:pt x="11125200" y="2286000"/>
                  </a:lnTo>
                  <a:moveTo>
                    <a:pt x="0" y="3429000"/>
                  </a:moveTo>
                  <a:lnTo>
                    <a:pt x="11125200" y="3429000"/>
                  </a:lnTo>
                  <a:moveTo>
                    <a:pt x="0" y="4572000"/>
                  </a:moveTo>
                  <a:lnTo>
                    <a:pt x="11125200" y="4572000"/>
                  </a:lnTo>
                </a:path>
              </a:pathLst>
            </a:custGeom>
            <a:solidFill>
              <a:srgbClr val="000000"/>
            </a:solidFill>
            <a:ln w="9525">
              <a:solidFill>
                <a:srgbClr val="1C2A3D"/>
              </a:solidFill>
              <a:prstDash val="lgDash"/>
            </a:ln>
          </p:spPr>
        </p:sp>
        <p:sp>
          <p:nvSpPr>
            <p:cNvPr id="4" name="Freeform 4"/>
            <p:cNvSpPr/>
            <p:nvPr/>
          </p:nvSpPr>
          <p:spPr>
            <a:xfrm>
              <a:off x="762000" y="419100"/>
              <a:ext cx="10668000" cy="6019800"/>
            </a:xfrm>
            <a:custGeom>
              <a:avLst/>
              <a:gdLst/>
              <a:ahLst/>
              <a:cxnLst/>
              <a:rect l="l" t="t" r="r" b="b"/>
              <a:pathLst>
                <a:path w="10668000" h="6019800">
                  <a:moveTo>
                    <a:pt x="0" y="0"/>
                  </a:moveTo>
                  <a:lnTo>
                    <a:pt x="0" y="6019800"/>
                  </a:lnTo>
                  <a:moveTo>
                    <a:pt x="2286000" y="0"/>
                  </a:moveTo>
                  <a:lnTo>
                    <a:pt x="2286000" y="6019800"/>
                  </a:lnTo>
                  <a:moveTo>
                    <a:pt x="4572000" y="0"/>
                  </a:moveTo>
                  <a:lnTo>
                    <a:pt x="4572000" y="6019800"/>
                  </a:lnTo>
                  <a:moveTo>
                    <a:pt x="6858000" y="0"/>
                  </a:moveTo>
                  <a:lnTo>
                    <a:pt x="6858000" y="6019800"/>
                  </a:lnTo>
                  <a:moveTo>
                    <a:pt x="9144000" y="0"/>
                  </a:moveTo>
                  <a:lnTo>
                    <a:pt x="9144000" y="6019800"/>
                  </a:lnTo>
                  <a:moveTo>
                    <a:pt x="10668000" y="0"/>
                  </a:moveTo>
                  <a:lnTo>
                    <a:pt x="10668000" y="6019800"/>
                  </a:lnTo>
                </a:path>
              </a:pathLst>
            </a:custGeom>
            <a:solidFill>
              <a:srgbClr val="000000"/>
            </a:solidFill>
            <a:ln w="9525">
              <a:solidFill>
                <a:srgbClr val="1C2A3D">
                  <a:alpha val="45000"/>
                </a:srgbClr>
              </a:solidFill>
            </a:ln>
          </p:spPr>
        </p:sp>
      </p:grpSp>
      <p:grpSp>
        <p:nvGrpSpPr>
          <p:cNvPr id="8" name="Group 8"/>
          <p:cNvGrpSpPr/>
          <p:nvPr/>
        </p:nvGrpSpPr>
        <p:grpSpPr>
          <a:xfrm>
            <a:off x="514350" y="264795"/>
            <a:ext cx="8396195" cy="946594"/>
            <a:chOff x="514350" y="264795"/>
            <a:chExt cx="8396195" cy="946594"/>
          </a:xfrm>
        </p:grpSpPr>
        <p:sp>
          <p:nvSpPr>
            <p:cNvPr id="6" name="TextBox 6"/>
            <p:cNvSpPr txBox="1"/>
            <p:nvPr/>
          </p:nvSpPr>
          <p:spPr>
            <a:xfrm>
              <a:off x="514350" y="264795"/>
              <a:ext cx="839619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非功能验收证明它不是丢次?Demo</a:t>
              </a:r>
            </a:p>
          </p:txBody>
        </p:sp>
        <p:sp>
          <p:nvSpPr>
            <p:cNvPr id="7" name="TextBox 7"/>
            <p:cNvSpPr txBox="1"/>
            <p:nvPr/>
          </p:nvSpPr>
          <p:spPr>
            <a:xfrm>
              <a:off x="544068" y="888682"/>
              <a:ext cx="579196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稳定性可维护性可扩展性安全和用户体验都有对应工程抓手</a:t>
              </a:r>
            </a:p>
          </p:txBody>
        </p:sp>
      </p:grpSp>
      <p:grpSp>
        <p:nvGrpSpPr>
          <p:cNvPr id="17" name="Group 17"/>
          <p:cNvGrpSpPr/>
          <p:nvPr/>
        </p:nvGrpSpPr>
        <p:grpSpPr>
          <a:xfrm>
            <a:off x="552450" y="1524000"/>
            <a:ext cx="2038350" cy="3981450"/>
            <a:chOff x="552450" y="1524000"/>
            <a:chExt cx="2038350" cy="3981450"/>
          </a:xfrm>
        </p:grpSpPr>
        <p:sp>
          <p:nvSpPr>
            <p:cNvPr id="9" name="Rectangle 9"/>
            <p:cNvSpPr/>
            <p:nvPr/>
          </p:nvSpPr>
          <p:spPr>
            <a:xfrm>
              <a:off x="552450" y="1524000"/>
              <a:ext cx="2038350" cy="3981450"/>
            </a:xfrm>
            <a:prstGeom prst="roundRect">
              <a:avLst>
                <a:gd name="adj" fmla="val 2804"/>
              </a:avLst>
            </a:prstGeom>
            <a:solidFill>
              <a:srgbClr val="111827"/>
            </a:solidFill>
            <a:ln w="9525">
              <a:solidFill>
                <a:srgbClr val="2A3A52"/>
              </a:solidFill>
            </a:ln>
          </p:spPr>
        </p:sp>
        <p:sp>
          <p:nvSpPr>
            <p:cNvPr id="10" name="Rectangle 10"/>
            <p:cNvSpPr/>
            <p:nvPr/>
          </p:nvSpPr>
          <p:spPr>
            <a:xfrm>
              <a:off x="552450" y="1524000"/>
              <a:ext cx="2038350" cy="114300"/>
            </a:xfrm>
            <a:prstGeom prst="rect">
              <a:avLst/>
            </a:prstGeom>
            <a:solidFill>
              <a:srgbClr val="7DD3FC"/>
            </a:solidFill>
            <a:ln>
              <a:noFill/>
            </a:ln>
          </p:spPr>
        </p:sp>
        <p:grpSp>
          <p:nvGrpSpPr>
            <p:cNvPr id="13" name="Group 13"/>
            <p:cNvGrpSpPr/>
            <p:nvPr/>
          </p:nvGrpSpPr>
          <p:grpSpPr>
            <a:xfrm>
              <a:off x="781050" y="1902619"/>
              <a:ext cx="438150" cy="328612"/>
              <a:chOff x="781050" y="1902619"/>
              <a:chExt cx="438150" cy="328612"/>
            </a:xfrm>
          </p:grpSpPr>
          <p:sp>
            <p:nvSpPr>
              <p:cNvPr id="11" name="Freeform 11"/>
              <p:cNvSpPr/>
              <p:nvPr/>
            </p:nvSpPr>
            <p:spPr>
              <a:xfrm>
                <a:off x="781050" y="1902619"/>
                <a:ext cx="438150" cy="136922"/>
              </a:xfrm>
              <a:custGeom>
                <a:avLst/>
                <a:gdLst/>
                <a:ahLst/>
                <a:cxnLst/>
                <a:rect l="l" t="t" r="r" b="b"/>
                <a:pathLst>
                  <a:path w="438150" h="136922">
                    <a:moveTo>
                      <a:pt x="438150" y="0"/>
                    </a:moveTo>
                    <a:lnTo>
                      <a:pt x="0" y="0"/>
                    </a:lnTo>
                    <a:lnTo>
                      <a:pt x="0" y="136922"/>
                    </a:lnTo>
                    <a:lnTo>
                      <a:pt x="438150" y="136922"/>
                    </a:lnTo>
                    <a:lnTo>
                      <a:pt x="438150" y="0"/>
                    </a:lnTo>
                    <a:close/>
                    <a:moveTo>
                      <a:pt x="109538" y="68461"/>
                    </a:moveTo>
                    <a:cubicBezTo>
                      <a:pt x="109538" y="83585"/>
                      <a:pt x="97277" y="95845"/>
                      <a:pt x="82153" y="95845"/>
                    </a:cubicBezTo>
                    <a:cubicBezTo>
                      <a:pt x="67029" y="95845"/>
                      <a:pt x="54769" y="83585"/>
                      <a:pt x="54769" y="68461"/>
                    </a:cubicBezTo>
                    <a:cubicBezTo>
                      <a:pt x="54769" y="53337"/>
                      <a:pt x="67029" y="41077"/>
                      <a:pt x="82153" y="41077"/>
                    </a:cubicBezTo>
                    <a:cubicBezTo>
                      <a:pt x="97277" y="41077"/>
                      <a:pt x="109538" y="53337"/>
                      <a:pt x="109538" y="68461"/>
                    </a:cubicBezTo>
                    <a:close/>
                  </a:path>
                </a:pathLst>
              </a:custGeom>
              <a:solidFill>
                <a:srgbClr val="7DD3FC"/>
              </a:solidFill>
              <a:ln>
                <a:noFill/>
              </a:ln>
            </p:spPr>
          </p:sp>
          <p:sp>
            <p:nvSpPr>
              <p:cNvPr id="12" name="Freeform 12"/>
              <p:cNvSpPr/>
              <p:nvPr/>
            </p:nvSpPr>
            <p:spPr>
              <a:xfrm>
                <a:off x="781050" y="2094309"/>
                <a:ext cx="438150" cy="136922"/>
              </a:xfrm>
              <a:custGeom>
                <a:avLst/>
                <a:gdLst/>
                <a:ahLst/>
                <a:cxnLst/>
                <a:rect l="l" t="t" r="r" b="b"/>
                <a:pathLst>
                  <a:path w="438150" h="136922">
                    <a:moveTo>
                      <a:pt x="438150" y="0"/>
                    </a:moveTo>
                    <a:lnTo>
                      <a:pt x="0" y="0"/>
                    </a:lnTo>
                    <a:lnTo>
                      <a:pt x="0" y="136922"/>
                    </a:lnTo>
                    <a:lnTo>
                      <a:pt x="438150" y="136922"/>
                    </a:lnTo>
                    <a:lnTo>
                      <a:pt x="438150" y="0"/>
                    </a:lnTo>
                    <a:close/>
                    <a:moveTo>
                      <a:pt x="82153" y="95845"/>
                    </a:moveTo>
                    <a:cubicBezTo>
                      <a:pt x="97277" y="95845"/>
                      <a:pt x="109538" y="83585"/>
                      <a:pt x="109538" y="68461"/>
                    </a:cubicBezTo>
                    <a:cubicBezTo>
                      <a:pt x="109538" y="53337"/>
                      <a:pt x="97277" y="41077"/>
                      <a:pt x="82153" y="41077"/>
                    </a:cubicBezTo>
                    <a:cubicBezTo>
                      <a:pt x="67029" y="41077"/>
                      <a:pt x="54769" y="53337"/>
                      <a:pt x="54769" y="68461"/>
                    </a:cubicBezTo>
                    <a:cubicBezTo>
                      <a:pt x="54769" y="83585"/>
                      <a:pt x="67029" y="95845"/>
                      <a:pt x="82153" y="95845"/>
                    </a:cubicBezTo>
                    <a:close/>
                  </a:path>
                </a:pathLst>
              </a:custGeom>
              <a:solidFill>
                <a:srgbClr val="7DD3FC"/>
              </a:solidFill>
              <a:ln>
                <a:noFill/>
              </a:ln>
            </p:spPr>
          </p:sp>
        </p:grpSp>
        <p:sp>
          <p:nvSpPr>
            <p:cNvPr id="14" name="TextBox 14"/>
            <p:cNvSpPr txBox="1"/>
            <p:nvPr/>
          </p:nvSpPr>
          <p:spPr>
            <a:xfrm>
              <a:off x="769620" y="2405062"/>
              <a:ext cx="658940"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稳定</a:t>
              </a:r>
            </a:p>
          </p:txBody>
        </p:sp>
        <p:sp>
          <p:nvSpPr>
            <p:cNvPr id="15" name="TextBox 15"/>
            <p:cNvSpPr txBox="1"/>
            <p:nvPr/>
          </p:nvSpPr>
          <p:spPr>
            <a:xfrm>
              <a:off x="772668" y="2927032"/>
              <a:ext cx="1693164"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独立子系统边</a:t>
              </a:r>
              <a:r>
                <a:rPr lang="zh-CN" sz="1650" dirty="0">
                  <a:solidFill>
                    <a:srgbClr val="B6C2D2"/>
                  </a:solidFill>
                  <a:latin typeface="Arial"/>
                  <a:ea typeface="Microsoft YaHei"/>
                  <a:cs typeface="Arial"/>
                </a:rPr>
                <a:t>MCP 不可用回逢</a:t>
              </a:r>
              <a:r>
                <a:rPr lang="zh-CN" sz="1650" dirty="0">
                  <a:solidFill>
                    <a:srgbClr val="B6C2D2"/>
                  </a:solidFill>
                  <a:latin typeface="Arial"/>
                  <a:ea typeface="Microsoft YaHei"/>
                  <a:cs typeface="Arial"/>
                </a:rPr>
                <a:t>输入异常前置拦截</a:t>
              </a:r>
              <a:r>
                <a:rPr lang="zh-CN" sz="1650" dirty="0">
                  <a:solidFill>
                    <a:srgbClr val="B6C2D2"/>
                  </a:solidFill>
                  <a:latin typeface="Arial"/>
                  <a:ea typeface="Microsoft YaHei"/>
                  <a:cs typeface="Arial"/>
                </a:rPr>
                <a:t>工具链降级策</a:t>
              </a:r>
            </a:p>
          </p:txBody>
        </p:sp>
        <p:sp>
          <p:nvSpPr>
            <p:cNvPr id="16" name="TextBox 16"/>
            <p:cNvSpPr txBox="1"/>
            <p:nvPr/>
          </p:nvSpPr>
          <p:spPr>
            <a:xfrm>
              <a:off x="774192" y="4883468"/>
              <a:ext cx="1127455"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NFR-01 PASS</a:t>
              </a:r>
            </a:p>
          </p:txBody>
        </p:sp>
      </p:grpSp>
      <p:grpSp>
        <p:nvGrpSpPr>
          <p:cNvPr id="27" name="Group 27"/>
          <p:cNvGrpSpPr/>
          <p:nvPr/>
        </p:nvGrpSpPr>
        <p:grpSpPr>
          <a:xfrm>
            <a:off x="2819400" y="1524000"/>
            <a:ext cx="2038350" cy="3981450"/>
            <a:chOff x="2819400" y="1524000"/>
            <a:chExt cx="2038350" cy="3981450"/>
          </a:xfrm>
        </p:grpSpPr>
        <p:sp>
          <p:nvSpPr>
            <p:cNvPr id="18" name="Rectangle 18"/>
            <p:cNvSpPr/>
            <p:nvPr/>
          </p:nvSpPr>
          <p:spPr>
            <a:xfrm>
              <a:off x="2819400" y="1524000"/>
              <a:ext cx="2038350" cy="3981450"/>
            </a:xfrm>
            <a:prstGeom prst="roundRect">
              <a:avLst>
                <a:gd name="adj" fmla="val 2804"/>
              </a:avLst>
            </a:prstGeom>
            <a:solidFill>
              <a:srgbClr val="111827"/>
            </a:solidFill>
            <a:ln w="9525">
              <a:solidFill>
                <a:srgbClr val="2A3A52"/>
              </a:solidFill>
            </a:ln>
          </p:spPr>
        </p:sp>
        <p:sp>
          <p:nvSpPr>
            <p:cNvPr id="19" name="Rectangle 19"/>
            <p:cNvSpPr/>
            <p:nvPr/>
          </p:nvSpPr>
          <p:spPr>
            <a:xfrm>
              <a:off x="2819400" y="1524000"/>
              <a:ext cx="2038350" cy="114300"/>
            </a:xfrm>
            <a:prstGeom prst="rect">
              <a:avLst/>
            </a:prstGeom>
            <a:solidFill>
              <a:srgbClr val="8B5CF6"/>
            </a:solidFill>
            <a:ln>
              <a:noFill/>
            </a:ln>
          </p:spPr>
        </p:sp>
        <p:grpSp>
          <p:nvGrpSpPr>
            <p:cNvPr id="23" name="Group 23"/>
            <p:cNvGrpSpPr/>
            <p:nvPr/>
          </p:nvGrpSpPr>
          <p:grpSpPr>
            <a:xfrm>
              <a:off x="3075384" y="1847850"/>
              <a:ext cx="383381" cy="438150"/>
              <a:chOff x="3075384" y="1847850"/>
              <a:chExt cx="383381" cy="438150"/>
            </a:xfrm>
          </p:grpSpPr>
          <p:sp>
            <p:nvSpPr>
              <p:cNvPr id="20" name="Freeform 20"/>
              <p:cNvSpPr/>
              <p:nvPr/>
            </p:nvSpPr>
            <p:spPr>
              <a:xfrm>
                <a:off x="3075384" y="1847850"/>
                <a:ext cx="383381" cy="219075"/>
              </a:xfrm>
              <a:custGeom>
                <a:avLst/>
                <a:gdLst/>
                <a:ahLst/>
                <a:cxnLst/>
                <a:rect l="l" t="t" r="r" b="b"/>
                <a:pathLst>
                  <a:path w="383381" h="219075">
                    <a:moveTo>
                      <a:pt x="0" y="136922"/>
                    </a:moveTo>
                    <a:lnTo>
                      <a:pt x="0" y="82153"/>
                    </a:lnTo>
                    <a:lnTo>
                      <a:pt x="191691" y="0"/>
                    </a:lnTo>
                    <a:lnTo>
                      <a:pt x="383381" y="82153"/>
                    </a:lnTo>
                    <a:lnTo>
                      <a:pt x="383381" y="136922"/>
                    </a:lnTo>
                    <a:lnTo>
                      <a:pt x="191691" y="219075"/>
                    </a:lnTo>
                    <a:lnTo>
                      <a:pt x="0" y="136922"/>
                    </a:lnTo>
                    <a:close/>
                  </a:path>
                </a:pathLst>
              </a:custGeom>
              <a:solidFill>
                <a:srgbClr val="8B5CF6"/>
              </a:solidFill>
              <a:ln>
                <a:noFill/>
              </a:ln>
            </p:spPr>
          </p:sp>
          <p:sp>
            <p:nvSpPr>
              <p:cNvPr id="21" name="Freeform 21"/>
              <p:cNvSpPr/>
              <p:nvPr/>
            </p:nvSpPr>
            <p:spPr>
              <a:xfrm>
                <a:off x="3075384" y="2149078"/>
                <a:ext cx="383381" cy="136922"/>
              </a:xfrm>
              <a:custGeom>
                <a:avLst/>
                <a:gdLst/>
                <a:ahLst/>
                <a:cxnLst/>
                <a:rect l="l" t="t" r="r" b="b"/>
                <a:pathLst>
                  <a:path w="383381" h="136922">
                    <a:moveTo>
                      <a:pt x="191691" y="136922"/>
                    </a:moveTo>
                    <a:lnTo>
                      <a:pt x="0" y="54769"/>
                    </a:lnTo>
                    <a:lnTo>
                      <a:pt x="0" y="0"/>
                    </a:lnTo>
                    <a:lnTo>
                      <a:pt x="191691" y="82153"/>
                    </a:lnTo>
                    <a:lnTo>
                      <a:pt x="383381" y="0"/>
                    </a:lnTo>
                    <a:lnTo>
                      <a:pt x="383381" y="54769"/>
                    </a:lnTo>
                    <a:lnTo>
                      <a:pt x="191691" y="136922"/>
                    </a:lnTo>
                    <a:close/>
                  </a:path>
                </a:pathLst>
              </a:custGeom>
              <a:solidFill>
                <a:srgbClr val="8B5CF6"/>
              </a:solidFill>
              <a:ln>
                <a:noFill/>
              </a:ln>
            </p:spPr>
          </p:sp>
          <p:sp>
            <p:nvSpPr>
              <p:cNvPr id="22" name="Freeform 22"/>
              <p:cNvSpPr/>
              <p:nvPr/>
            </p:nvSpPr>
            <p:spPr>
              <a:xfrm>
                <a:off x="3075384" y="2039541"/>
                <a:ext cx="383381" cy="136922"/>
              </a:xfrm>
              <a:custGeom>
                <a:avLst/>
                <a:gdLst/>
                <a:ahLst/>
                <a:cxnLst/>
                <a:rect l="l" t="t" r="r" b="b"/>
                <a:pathLst>
                  <a:path w="383381" h="136922">
                    <a:moveTo>
                      <a:pt x="0" y="54769"/>
                    </a:moveTo>
                    <a:lnTo>
                      <a:pt x="191691" y="136922"/>
                    </a:lnTo>
                    <a:lnTo>
                      <a:pt x="383381" y="54769"/>
                    </a:lnTo>
                    <a:lnTo>
                      <a:pt x="383381" y="0"/>
                    </a:lnTo>
                    <a:lnTo>
                      <a:pt x="191691" y="82153"/>
                    </a:lnTo>
                    <a:lnTo>
                      <a:pt x="0" y="0"/>
                    </a:lnTo>
                    <a:lnTo>
                      <a:pt x="0" y="54769"/>
                    </a:lnTo>
                    <a:close/>
                  </a:path>
                </a:pathLst>
              </a:custGeom>
              <a:solidFill>
                <a:srgbClr val="8B5CF6"/>
              </a:solidFill>
              <a:ln>
                <a:noFill/>
              </a:ln>
            </p:spPr>
          </p:sp>
        </p:grpSp>
        <p:sp>
          <p:nvSpPr>
            <p:cNvPr id="24" name="TextBox 24"/>
            <p:cNvSpPr txBox="1"/>
            <p:nvPr/>
          </p:nvSpPr>
          <p:spPr>
            <a:xfrm>
              <a:off x="3036570" y="2405062"/>
              <a:ext cx="97697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可维护</a:t>
              </a:r>
            </a:p>
          </p:txBody>
        </p:sp>
        <p:sp>
          <p:nvSpPr>
            <p:cNvPr id="25" name="TextBox 25"/>
            <p:cNvSpPr txBox="1"/>
            <p:nvPr/>
          </p:nvSpPr>
          <p:spPr>
            <a:xfrm>
              <a:off x="3039618" y="2927032"/>
              <a:ext cx="1274064"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分层目录结构</a:t>
              </a:r>
              <a:r>
                <a:rPr lang="zh-CN" sz="1650" dirty="0">
                  <a:solidFill>
                    <a:srgbClr val="B6C2D2"/>
                  </a:solidFill>
                  <a:latin typeface="Arial"/>
                  <a:ea typeface="Microsoft YaHei"/>
                  <a:cs typeface="Arial"/>
                </a:rPr>
                <a:t>独立数据模型</a:t>
              </a:r>
              <a:r>
                <a:rPr lang="zh-CN" sz="1650" dirty="0">
                  <a:solidFill>
                    <a:srgbClr val="B6C2D2"/>
                  </a:solidFill>
                  <a:latin typeface="Arial"/>
                  <a:ea typeface="Microsoft YaHei"/>
                  <a:cs typeface="Arial"/>
                </a:rPr>
                <a:t>工具逻辑收敛</a:t>
              </a:r>
              <a:r>
                <a:rPr lang="zh-CN" sz="1650" dirty="0">
                  <a:solidFill>
                    <a:srgbClr val="B6C2D2"/>
                  </a:solidFill>
                  <a:latin typeface="Arial"/>
                  <a:ea typeface="Microsoft YaHei"/>
                  <a:cs typeface="Arial"/>
                </a:rPr>
                <a:t>协议单独沉淀</a:t>
              </a:r>
            </a:p>
          </p:txBody>
        </p:sp>
        <p:sp>
          <p:nvSpPr>
            <p:cNvPr id="26" name="TextBox 26"/>
            <p:cNvSpPr txBox="1"/>
            <p:nvPr/>
          </p:nvSpPr>
          <p:spPr>
            <a:xfrm>
              <a:off x="3041142" y="4883468"/>
              <a:ext cx="1127455" cy="264033"/>
            </a:xfrm>
            <a:prstGeom prst="rect">
              <a:avLst/>
            </a:prstGeom>
            <a:noFill/>
            <a:ln>
              <a:noFill/>
            </a:ln>
          </p:spPr>
          <p:txBody>
            <a:bodyPr wrap="none" lIns="0" tIns="0" rIns="0" bIns="0" anchor="t" anchorCtr="0">
              <a:spAutoFit/>
            </a:bodyPr>
            <a:lstStyle/>
            <a:p>
              <a:pPr algn="l"/>
              <a:r>
                <a:rPr lang="en-US" sz="1350" dirty="0">
                  <a:solidFill>
                    <a:srgbClr val="8B5CF6"/>
                  </a:solidFill>
                  <a:latin typeface="Consolas"/>
                  <a:ea typeface="Consolas"/>
                  <a:cs typeface="Consolas"/>
                </a:rPr>
                <a:t>NFR-02 PASS</a:t>
              </a:r>
            </a:p>
          </p:txBody>
        </p:sp>
      </p:grpSp>
      <p:grpSp>
        <p:nvGrpSpPr>
          <p:cNvPr id="34" name="Group 34"/>
          <p:cNvGrpSpPr/>
          <p:nvPr/>
        </p:nvGrpSpPr>
        <p:grpSpPr>
          <a:xfrm>
            <a:off x="5086350" y="1524000"/>
            <a:ext cx="2038350" cy="3981450"/>
            <a:chOff x="5086350" y="1524000"/>
            <a:chExt cx="2038350" cy="3981450"/>
          </a:xfrm>
        </p:grpSpPr>
        <p:sp>
          <p:nvSpPr>
            <p:cNvPr id="28" name="Rectangle 28"/>
            <p:cNvSpPr/>
            <p:nvPr/>
          </p:nvSpPr>
          <p:spPr>
            <a:xfrm>
              <a:off x="5086350" y="1524000"/>
              <a:ext cx="2038350" cy="3981450"/>
            </a:xfrm>
            <a:prstGeom prst="roundRect">
              <a:avLst>
                <a:gd name="adj" fmla="val 2804"/>
              </a:avLst>
            </a:prstGeom>
            <a:solidFill>
              <a:srgbClr val="111827"/>
            </a:solidFill>
            <a:ln w="9525">
              <a:solidFill>
                <a:srgbClr val="2A3A52"/>
              </a:solidFill>
            </a:ln>
          </p:spPr>
        </p:sp>
        <p:sp>
          <p:nvSpPr>
            <p:cNvPr id="29" name="Rectangle 29"/>
            <p:cNvSpPr/>
            <p:nvPr/>
          </p:nvSpPr>
          <p:spPr>
            <a:xfrm>
              <a:off x="5086350" y="1524000"/>
              <a:ext cx="2038350" cy="114300"/>
            </a:xfrm>
            <a:prstGeom prst="rect">
              <a:avLst/>
            </a:prstGeom>
            <a:solidFill>
              <a:srgbClr val="F59E0B"/>
            </a:solidFill>
            <a:ln>
              <a:noFill/>
            </a:ln>
          </p:spPr>
        </p:sp>
        <p:sp>
          <p:nvSpPr>
            <p:cNvPr id="30" name="Freeform 30"/>
            <p:cNvSpPr/>
            <p:nvPr/>
          </p:nvSpPr>
          <p:spPr>
            <a:xfrm>
              <a:off x="5342334" y="1875234"/>
              <a:ext cx="383381" cy="383381"/>
            </a:xfrm>
            <a:custGeom>
              <a:avLst/>
              <a:gdLst/>
              <a:ahLst/>
              <a:cxnLst/>
              <a:rect l="l" t="t" r="r" b="b"/>
              <a:pathLst>
                <a:path w="383381" h="383381">
                  <a:moveTo>
                    <a:pt x="383381" y="0"/>
                  </a:moveTo>
                  <a:lnTo>
                    <a:pt x="0" y="0"/>
                  </a:lnTo>
                  <a:lnTo>
                    <a:pt x="0" y="383381"/>
                  </a:lnTo>
                  <a:lnTo>
                    <a:pt x="383381" y="383381"/>
                  </a:lnTo>
                  <a:lnTo>
                    <a:pt x="383381" y="0"/>
                  </a:lnTo>
                  <a:close/>
                  <a:moveTo>
                    <a:pt x="136922" y="109538"/>
                  </a:moveTo>
                  <a:lnTo>
                    <a:pt x="175649" y="148265"/>
                  </a:lnTo>
                  <a:lnTo>
                    <a:pt x="132224" y="191691"/>
                  </a:lnTo>
                  <a:lnTo>
                    <a:pt x="175649" y="235116"/>
                  </a:lnTo>
                  <a:lnTo>
                    <a:pt x="136922" y="273844"/>
                  </a:lnTo>
                  <a:lnTo>
                    <a:pt x="54769" y="191691"/>
                  </a:lnTo>
                  <a:lnTo>
                    <a:pt x="136922" y="109538"/>
                  </a:lnTo>
                  <a:close/>
                  <a:moveTo>
                    <a:pt x="246459" y="109538"/>
                  </a:moveTo>
                  <a:lnTo>
                    <a:pt x="207732" y="148265"/>
                  </a:lnTo>
                  <a:lnTo>
                    <a:pt x="251159" y="191691"/>
                  </a:lnTo>
                  <a:lnTo>
                    <a:pt x="207732" y="235116"/>
                  </a:lnTo>
                  <a:lnTo>
                    <a:pt x="246459" y="273844"/>
                  </a:lnTo>
                  <a:lnTo>
                    <a:pt x="328612" y="191691"/>
                  </a:lnTo>
                  <a:lnTo>
                    <a:pt x="246459" y="109538"/>
                  </a:lnTo>
                  <a:close/>
                </a:path>
              </a:pathLst>
            </a:custGeom>
            <a:solidFill>
              <a:srgbClr val="F59E0B"/>
            </a:solidFill>
            <a:ln>
              <a:noFill/>
            </a:ln>
          </p:spPr>
        </p:sp>
        <p:sp>
          <p:nvSpPr>
            <p:cNvPr id="31" name="TextBox 31"/>
            <p:cNvSpPr txBox="1"/>
            <p:nvPr/>
          </p:nvSpPr>
          <p:spPr>
            <a:xfrm>
              <a:off x="5303520" y="2405062"/>
              <a:ext cx="97697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可扩展</a:t>
              </a:r>
            </a:p>
          </p:txBody>
        </p:sp>
        <p:sp>
          <p:nvSpPr>
            <p:cNvPr id="32" name="TextBox 32"/>
            <p:cNvSpPr txBox="1"/>
            <p:nvPr/>
          </p:nvSpPr>
          <p:spPr>
            <a:xfrm>
              <a:off x="5306568" y="2927032"/>
              <a:ext cx="1368362"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BaseTool 契约</a:t>
              </a:r>
              <a:r>
                <a:rPr lang="zh-CN" sz="1650" dirty="0">
                  <a:solidFill>
                    <a:srgbClr val="B6C2D2"/>
                  </a:solidFill>
                  <a:latin typeface="Arial"/>
                  <a:ea typeface="Microsoft YaHei"/>
                  <a:cs typeface="Arial"/>
                </a:rPr>
                <a:t>Persona 注册</a:t>
              </a:r>
              <a:r>
                <a:rPr lang="zh-CN" sz="1650" dirty="0">
                  <a:solidFill>
                    <a:srgbClr val="B6C2D2"/>
                  </a:solidFill>
                  <a:latin typeface="Arial"/>
                  <a:ea typeface="Microsoft YaHei"/>
                  <a:cs typeface="Arial"/>
                </a:rPr>
                <a:t>卡片协议版本</a:t>
              </a:r>
              <a:r>
                <a:rPr lang="zh-CN" sz="1650" dirty="0">
                  <a:solidFill>
                    <a:srgbClr val="B6C2D2"/>
                  </a:solidFill>
                  <a:latin typeface="Arial"/>
                  <a:ea typeface="Microsoft YaHei"/>
                  <a:cs typeface="Arial"/>
                </a:rPr>
                <a:t>知识库可扩域</a:t>
              </a:r>
            </a:p>
          </p:txBody>
        </p:sp>
        <p:sp>
          <p:nvSpPr>
            <p:cNvPr id="33" name="TextBox 33"/>
            <p:cNvSpPr txBox="1"/>
            <p:nvPr/>
          </p:nvSpPr>
          <p:spPr>
            <a:xfrm>
              <a:off x="5308092" y="4883468"/>
              <a:ext cx="1127455" cy="264033"/>
            </a:xfrm>
            <a:prstGeom prst="rect">
              <a:avLst/>
            </a:prstGeom>
            <a:noFill/>
            <a:ln>
              <a:noFill/>
            </a:ln>
          </p:spPr>
          <p:txBody>
            <a:bodyPr wrap="none" lIns="0" tIns="0" rIns="0" bIns="0" anchor="t" anchorCtr="0">
              <a:spAutoFit/>
            </a:bodyPr>
            <a:lstStyle/>
            <a:p>
              <a:pPr algn="l"/>
              <a:r>
                <a:rPr lang="en-US" sz="1350" dirty="0">
                  <a:solidFill>
                    <a:srgbClr val="F59E0B"/>
                  </a:solidFill>
                  <a:latin typeface="Consolas"/>
                  <a:ea typeface="Consolas"/>
                  <a:cs typeface="Consolas"/>
                </a:rPr>
                <a:t>NFR-03 PASS</a:t>
              </a:r>
            </a:p>
          </p:txBody>
        </p:sp>
      </p:grpSp>
      <p:grpSp>
        <p:nvGrpSpPr>
          <p:cNvPr id="41" name="Group 41"/>
          <p:cNvGrpSpPr/>
          <p:nvPr/>
        </p:nvGrpSpPr>
        <p:grpSpPr>
          <a:xfrm>
            <a:off x="7353300" y="1524000"/>
            <a:ext cx="2038350" cy="3981450"/>
            <a:chOff x="7353300" y="1524000"/>
            <a:chExt cx="2038350" cy="3981450"/>
          </a:xfrm>
        </p:grpSpPr>
        <p:sp>
          <p:nvSpPr>
            <p:cNvPr id="35" name="Rectangle 35"/>
            <p:cNvSpPr/>
            <p:nvPr/>
          </p:nvSpPr>
          <p:spPr>
            <a:xfrm>
              <a:off x="7353300" y="1524000"/>
              <a:ext cx="2038350" cy="3981450"/>
            </a:xfrm>
            <a:prstGeom prst="roundRect">
              <a:avLst>
                <a:gd name="adj" fmla="val 2804"/>
              </a:avLst>
            </a:prstGeom>
            <a:solidFill>
              <a:srgbClr val="111827"/>
            </a:solidFill>
            <a:ln w="9525">
              <a:solidFill>
                <a:srgbClr val="2A3A52"/>
              </a:solidFill>
            </a:ln>
          </p:spPr>
        </p:sp>
        <p:sp>
          <p:nvSpPr>
            <p:cNvPr id="36" name="Rectangle 36"/>
            <p:cNvSpPr/>
            <p:nvPr/>
          </p:nvSpPr>
          <p:spPr>
            <a:xfrm>
              <a:off x="7353300" y="1524000"/>
              <a:ext cx="2038350" cy="114300"/>
            </a:xfrm>
            <a:prstGeom prst="rect">
              <a:avLst/>
            </a:prstGeom>
            <a:solidFill>
              <a:srgbClr val="22C55E"/>
            </a:solidFill>
            <a:ln>
              <a:noFill/>
            </a:ln>
          </p:spPr>
        </p:sp>
        <p:sp>
          <p:nvSpPr>
            <p:cNvPr id="37" name="Freeform 37"/>
            <p:cNvSpPr/>
            <p:nvPr/>
          </p:nvSpPr>
          <p:spPr>
            <a:xfrm>
              <a:off x="7609284" y="1847850"/>
              <a:ext cx="383381" cy="438150"/>
            </a:xfrm>
            <a:custGeom>
              <a:avLst/>
              <a:gdLst/>
              <a:ahLst/>
              <a:cxnLst/>
              <a:rect l="l" t="t" r="r" b="b"/>
              <a:pathLst>
                <a:path w="383381" h="438150">
                  <a:moveTo>
                    <a:pt x="191691" y="438150"/>
                  </a:moveTo>
                  <a:lnTo>
                    <a:pt x="91740" y="366756"/>
                  </a:lnTo>
                  <a:cubicBezTo>
                    <a:pt x="34168" y="325633"/>
                    <a:pt x="0" y="259239"/>
                    <a:pt x="0" y="188488"/>
                  </a:cubicBezTo>
                  <a:lnTo>
                    <a:pt x="0" y="82153"/>
                  </a:lnTo>
                  <a:lnTo>
                    <a:pt x="191691" y="0"/>
                  </a:lnTo>
                  <a:lnTo>
                    <a:pt x="383381" y="82153"/>
                  </a:lnTo>
                  <a:lnTo>
                    <a:pt x="383381" y="188488"/>
                  </a:lnTo>
                  <a:cubicBezTo>
                    <a:pt x="383381" y="259239"/>
                    <a:pt x="349214" y="325633"/>
                    <a:pt x="291641" y="366756"/>
                  </a:cubicBezTo>
                  <a:lnTo>
                    <a:pt x="191691" y="438150"/>
                  </a:lnTo>
                  <a:close/>
                  <a:moveTo>
                    <a:pt x="306899" y="156286"/>
                  </a:moveTo>
                  <a:lnTo>
                    <a:pt x="268172" y="117558"/>
                  </a:lnTo>
                  <a:lnTo>
                    <a:pt x="164306" y="221424"/>
                  </a:lnTo>
                  <a:lnTo>
                    <a:pt x="115209" y="172327"/>
                  </a:lnTo>
                  <a:lnTo>
                    <a:pt x="76482" y="211054"/>
                  </a:lnTo>
                  <a:lnTo>
                    <a:pt x="164306" y="298879"/>
                  </a:lnTo>
                  <a:lnTo>
                    <a:pt x="306899" y="156286"/>
                  </a:lnTo>
                  <a:close/>
                </a:path>
              </a:pathLst>
            </a:custGeom>
            <a:solidFill>
              <a:srgbClr val="22C55E"/>
            </a:solidFill>
            <a:ln>
              <a:noFill/>
            </a:ln>
          </p:spPr>
        </p:sp>
        <p:sp>
          <p:nvSpPr>
            <p:cNvPr id="38" name="TextBox 38"/>
            <p:cNvSpPr txBox="1"/>
            <p:nvPr/>
          </p:nvSpPr>
          <p:spPr>
            <a:xfrm>
              <a:off x="7570470" y="2405062"/>
              <a:ext cx="658940"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安全</a:t>
              </a:r>
            </a:p>
          </p:txBody>
        </p:sp>
        <p:sp>
          <p:nvSpPr>
            <p:cNvPr id="39" name="TextBox 39"/>
            <p:cNvSpPr txBox="1"/>
            <p:nvPr/>
          </p:nvSpPr>
          <p:spPr>
            <a:xfrm>
              <a:off x="7573518" y="2927032"/>
              <a:ext cx="1326452"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权限映射约束</a:t>
              </a:r>
              <a:r>
                <a:rPr lang="zh-CN" sz="1650" dirty="0">
                  <a:solidFill>
                    <a:srgbClr val="B6C2D2"/>
                  </a:solidFill>
                  <a:latin typeface="Arial"/>
                  <a:ea typeface="Microsoft YaHei"/>
                  <a:cs typeface="Arial"/>
                </a:rPr>
                <a:t>输入安全棢</a:t>
              </a:r>
              <a:r>
                <a:rPr lang="zh-CN" sz="1650" dirty="0">
                  <a:solidFill>
                    <a:srgbClr val="B6C2D2"/>
                  </a:solidFill>
                  <a:latin typeface="Arial"/>
                  <a:ea typeface="Microsoft YaHei"/>
                  <a:cs typeface="Arial"/>
                </a:rPr>
                <a:t>邮件白名</a:t>
              </a:r>
              <a:r>
                <a:rPr lang="zh-CN" sz="1650" dirty="0">
                  <a:solidFill>
                    <a:srgbClr val="B6C2D2"/>
                  </a:solidFill>
                  <a:latin typeface="Arial"/>
                  <a:ea typeface="Microsoft YaHei"/>
                  <a:cs typeface="Arial"/>
                </a:rPr>
                <a:t>HITL 人工确认</a:t>
              </a:r>
            </a:p>
          </p:txBody>
        </p:sp>
        <p:sp>
          <p:nvSpPr>
            <p:cNvPr id="40" name="TextBox 40"/>
            <p:cNvSpPr txBox="1"/>
            <p:nvPr/>
          </p:nvSpPr>
          <p:spPr>
            <a:xfrm>
              <a:off x="7575042" y="4883468"/>
              <a:ext cx="1127455" cy="264033"/>
            </a:xfrm>
            <a:prstGeom prst="rect">
              <a:avLst/>
            </a:prstGeom>
            <a:noFill/>
            <a:ln>
              <a:noFill/>
            </a:ln>
          </p:spPr>
          <p:txBody>
            <a:bodyPr wrap="none" lIns="0" tIns="0" rIns="0" bIns="0" anchor="t" anchorCtr="0">
              <a:spAutoFit/>
            </a:bodyPr>
            <a:lstStyle/>
            <a:p>
              <a:pPr algn="l"/>
              <a:r>
                <a:rPr lang="en-US" sz="1350" dirty="0">
                  <a:solidFill>
                    <a:srgbClr val="22C55E"/>
                  </a:solidFill>
                  <a:latin typeface="Consolas"/>
                  <a:ea typeface="Consolas"/>
                  <a:cs typeface="Consolas"/>
                </a:rPr>
                <a:t>NFR-04 PASS</a:t>
              </a:r>
            </a:p>
          </p:txBody>
        </p:sp>
      </p:grpSp>
      <p:grpSp>
        <p:nvGrpSpPr>
          <p:cNvPr id="52" name="Group 52"/>
          <p:cNvGrpSpPr/>
          <p:nvPr/>
        </p:nvGrpSpPr>
        <p:grpSpPr>
          <a:xfrm>
            <a:off x="9620250" y="1524000"/>
            <a:ext cx="2038350" cy="3981450"/>
            <a:chOff x="9620250" y="1524000"/>
            <a:chExt cx="2038350" cy="3981450"/>
          </a:xfrm>
        </p:grpSpPr>
        <p:sp>
          <p:nvSpPr>
            <p:cNvPr id="42" name="Rectangle 42"/>
            <p:cNvSpPr/>
            <p:nvPr/>
          </p:nvSpPr>
          <p:spPr>
            <a:xfrm>
              <a:off x="9620250" y="1524000"/>
              <a:ext cx="2038350" cy="3981450"/>
            </a:xfrm>
            <a:prstGeom prst="roundRect">
              <a:avLst>
                <a:gd name="adj" fmla="val 2804"/>
              </a:avLst>
            </a:prstGeom>
            <a:solidFill>
              <a:srgbClr val="111827"/>
            </a:solidFill>
            <a:ln w="9525">
              <a:solidFill>
                <a:srgbClr val="2A3A52"/>
              </a:solidFill>
            </a:ln>
          </p:spPr>
        </p:sp>
        <p:sp>
          <p:nvSpPr>
            <p:cNvPr id="43" name="Rectangle 43"/>
            <p:cNvSpPr/>
            <p:nvPr/>
          </p:nvSpPr>
          <p:spPr>
            <a:xfrm>
              <a:off x="9620250" y="1524000"/>
              <a:ext cx="2038350" cy="114300"/>
            </a:xfrm>
            <a:prstGeom prst="rect">
              <a:avLst/>
            </a:prstGeom>
            <a:solidFill>
              <a:srgbClr val="7DD3FC"/>
            </a:solidFill>
            <a:ln>
              <a:noFill/>
            </a:ln>
          </p:spPr>
        </p:sp>
        <p:grpSp>
          <p:nvGrpSpPr>
            <p:cNvPr id="48" name="Group 48"/>
            <p:cNvGrpSpPr/>
            <p:nvPr/>
          </p:nvGrpSpPr>
          <p:grpSpPr>
            <a:xfrm>
              <a:off x="9848850" y="1875234"/>
              <a:ext cx="438150" cy="383382"/>
              <a:chOff x="9848850" y="1875234"/>
              <a:chExt cx="438150" cy="383382"/>
            </a:xfrm>
          </p:grpSpPr>
          <p:sp>
            <p:nvSpPr>
              <p:cNvPr id="44" name="Freeform 44"/>
              <p:cNvSpPr/>
              <p:nvPr/>
            </p:nvSpPr>
            <p:spPr>
              <a:xfrm>
                <a:off x="9931003" y="1875234"/>
                <a:ext cx="136922" cy="136922"/>
              </a:xfrm>
              <a:custGeom>
                <a:avLst/>
                <a:gdLst/>
                <a:ahLst/>
                <a:cxnLst/>
                <a:rect l="l" t="t" r="r" b="b"/>
                <a:pathLst>
                  <a:path w="136922" h="136922">
                    <a:moveTo>
                      <a:pt x="136922" y="68461"/>
                    </a:moveTo>
                    <a:cubicBezTo>
                      <a:pt x="136922" y="106271"/>
                      <a:pt x="106271" y="136922"/>
                      <a:pt x="68461" y="136922"/>
                    </a:cubicBezTo>
                    <a:cubicBezTo>
                      <a:pt x="30651" y="136922"/>
                      <a:pt x="0" y="106271"/>
                      <a:pt x="0" y="68461"/>
                    </a:cubicBezTo>
                    <a:cubicBezTo>
                      <a:pt x="0" y="30651"/>
                      <a:pt x="30651" y="0"/>
                      <a:pt x="68461" y="0"/>
                    </a:cubicBezTo>
                    <a:cubicBezTo>
                      <a:pt x="106271" y="0"/>
                      <a:pt x="136922" y="30651"/>
                      <a:pt x="136922" y="68461"/>
                    </a:cubicBezTo>
                    <a:close/>
                  </a:path>
                </a:pathLst>
              </a:custGeom>
              <a:solidFill>
                <a:srgbClr val="7DD3FC"/>
              </a:solidFill>
              <a:ln>
                <a:noFill/>
              </a:ln>
            </p:spPr>
          </p:sp>
          <p:sp>
            <p:nvSpPr>
              <p:cNvPr id="45" name="Freeform 45"/>
              <p:cNvSpPr/>
              <p:nvPr/>
            </p:nvSpPr>
            <p:spPr>
              <a:xfrm>
                <a:off x="9848850" y="2066925"/>
                <a:ext cx="219075" cy="191691"/>
              </a:xfrm>
              <a:custGeom>
                <a:avLst/>
                <a:gdLst/>
                <a:ahLst/>
                <a:cxnLst/>
                <a:rect l="l" t="t" r="r" b="b"/>
                <a:pathLst>
                  <a:path w="219075" h="191691">
                    <a:moveTo>
                      <a:pt x="82153" y="0"/>
                    </a:moveTo>
                    <a:cubicBezTo>
                      <a:pt x="36781" y="0"/>
                      <a:pt x="0" y="36781"/>
                      <a:pt x="0" y="82153"/>
                    </a:cubicBezTo>
                    <a:lnTo>
                      <a:pt x="0" y="191691"/>
                    </a:lnTo>
                    <a:lnTo>
                      <a:pt x="219075" y="191691"/>
                    </a:lnTo>
                    <a:lnTo>
                      <a:pt x="219075" y="0"/>
                    </a:lnTo>
                    <a:lnTo>
                      <a:pt x="82153" y="0"/>
                    </a:lnTo>
                    <a:close/>
                  </a:path>
                </a:pathLst>
              </a:custGeom>
              <a:solidFill>
                <a:srgbClr val="7DD3FC"/>
              </a:solidFill>
              <a:ln>
                <a:noFill/>
              </a:ln>
            </p:spPr>
          </p:sp>
          <p:sp>
            <p:nvSpPr>
              <p:cNvPr id="46" name="Freeform 46"/>
              <p:cNvSpPr/>
              <p:nvPr/>
            </p:nvSpPr>
            <p:spPr>
              <a:xfrm>
                <a:off x="10122694" y="2066925"/>
                <a:ext cx="164306" cy="191691"/>
              </a:xfrm>
              <a:custGeom>
                <a:avLst/>
                <a:gdLst/>
                <a:ahLst/>
                <a:cxnLst/>
                <a:rect l="l" t="t" r="r" b="b"/>
                <a:pathLst>
                  <a:path w="164306" h="191691">
                    <a:moveTo>
                      <a:pt x="82153" y="0"/>
                    </a:moveTo>
                    <a:lnTo>
                      <a:pt x="0" y="0"/>
                    </a:lnTo>
                    <a:lnTo>
                      <a:pt x="0" y="191691"/>
                    </a:lnTo>
                    <a:lnTo>
                      <a:pt x="164306" y="191691"/>
                    </a:lnTo>
                    <a:lnTo>
                      <a:pt x="164306" y="82153"/>
                    </a:lnTo>
                    <a:cubicBezTo>
                      <a:pt x="164306" y="36781"/>
                      <a:pt x="127526" y="0"/>
                      <a:pt x="82153" y="0"/>
                    </a:cubicBezTo>
                    <a:close/>
                  </a:path>
                </a:pathLst>
              </a:custGeom>
              <a:solidFill>
                <a:srgbClr val="7DD3FC"/>
              </a:solidFill>
              <a:ln>
                <a:noFill/>
              </a:ln>
            </p:spPr>
          </p:sp>
          <p:sp>
            <p:nvSpPr>
              <p:cNvPr id="47" name="Freeform 47"/>
              <p:cNvSpPr/>
              <p:nvPr/>
            </p:nvSpPr>
            <p:spPr>
              <a:xfrm>
                <a:off x="10122694" y="1902619"/>
                <a:ext cx="109538" cy="109538"/>
              </a:xfrm>
              <a:custGeom>
                <a:avLst/>
                <a:gdLst/>
                <a:ahLst/>
                <a:cxnLst/>
                <a:rect l="l" t="t" r="r" b="b"/>
                <a:pathLst>
                  <a:path w="109538" h="109538">
                    <a:moveTo>
                      <a:pt x="54769" y="109538"/>
                    </a:moveTo>
                    <a:cubicBezTo>
                      <a:pt x="85018" y="109538"/>
                      <a:pt x="109538" y="85017"/>
                      <a:pt x="109538" y="54769"/>
                    </a:cubicBezTo>
                    <a:cubicBezTo>
                      <a:pt x="109538" y="24521"/>
                      <a:pt x="85018" y="0"/>
                      <a:pt x="54769" y="0"/>
                    </a:cubicBezTo>
                    <a:cubicBezTo>
                      <a:pt x="24520" y="0"/>
                      <a:pt x="0" y="24521"/>
                      <a:pt x="0" y="54769"/>
                    </a:cubicBezTo>
                    <a:cubicBezTo>
                      <a:pt x="0" y="85017"/>
                      <a:pt x="24520" y="109538"/>
                      <a:pt x="54769" y="109538"/>
                    </a:cubicBezTo>
                    <a:close/>
                  </a:path>
                </a:pathLst>
              </a:custGeom>
              <a:solidFill>
                <a:srgbClr val="7DD3FC"/>
              </a:solidFill>
              <a:ln>
                <a:noFill/>
              </a:ln>
            </p:spPr>
          </p:sp>
        </p:grpSp>
        <p:sp>
          <p:nvSpPr>
            <p:cNvPr id="49" name="TextBox 49"/>
            <p:cNvSpPr txBox="1"/>
            <p:nvPr/>
          </p:nvSpPr>
          <p:spPr>
            <a:xfrm>
              <a:off x="9837420" y="24050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用户体验</a:t>
              </a:r>
            </a:p>
          </p:txBody>
        </p:sp>
        <p:sp>
          <p:nvSpPr>
            <p:cNvPr id="50" name="TextBox 50"/>
            <p:cNvSpPr txBox="1"/>
            <p:nvPr/>
          </p:nvSpPr>
          <p:spPr>
            <a:xfrm>
              <a:off x="9840468" y="2927032"/>
              <a:ext cx="1556956"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SSE 流式回复</a:t>
              </a:r>
              <a:r>
                <a:rPr lang="zh-CN" sz="1650" dirty="0">
                  <a:solidFill>
                    <a:srgbClr val="B6C2D2"/>
                  </a:solidFill>
                  <a:latin typeface="Arial"/>
                  <a:ea typeface="Microsoft YaHei"/>
                  <a:cs typeface="Arial"/>
                </a:rPr>
                <a:t>全局 Agent 入口</a:t>
              </a:r>
              <a:r>
                <a:rPr lang="zh-CN" sz="1650" dirty="0">
                  <a:solidFill>
                    <a:srgbClr val="B6C2D2"/>
                  </a:solidFill>
                  <a:latin typeface="Arial"/>
                  <a:ea typeface="Microsoft YaHei"/>
                  <a:cs typeface="Arial"/>
                </a:rPr>
                <a:t>结构化卡</a:t>
              </a:r>
              <a:r>
                <a:rPr lang="zh-CN" sz="1650" dirty="0">
                  <a:solidFill>
                    <a:srgbClr val="B6C2D2"/>
                  </a:solidFill>
                  <a:latin typeface="Arial"/>
                  <a:ea typeface="Microsoft YaHei"/>
                  <a:cs typeface="Arial"/>
                </a:rPr>
                <a:t>反馈与历史摘</a:t>
              </a:r>
            </a:p>
          </p:txBody>
        </p:sp>
        <p:sp>
          <p:nvSpPr>
            <p:cNvPr id="51" name="TextBox 51"/>
            <p:cNvSpPr txBox="1"/>
            <p:nvPr/>
          </p:nvSpPr>
          <p:spPr>
            <a:xfrm>
              <a:off x="9841992" y="4883468"/>
              <a:ext cx="1127455"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NFR-05 PASS</a:t>
              </a:r>
            </a:p>
          </p:txBody>
        </p:sp>
      </p:grpSp>
      <p:grpSp>
        <p:nvGrpSpPr>
          <p:cNvPr id="55" name="Group 55"/>
          <p:cNvGrpSpPr/>
          <p:nvPr/>
        </p:nvGrpSpPr>
        <p:grpSpPr>
          <a:xfrm>
            <a:off x="1313974" y="5791200"/>
            <a:ext cx="9564052" cy="530543"/>
            <a:chOff x="1313974" y="5791200"/>
            <a:chExt cx="9564052" cy="530543"/>
          </a:xfrm>
        </p:grpSpPr>
        <p:sp>
          <p:nvSpPr>
            <p:cNvPr id="53" name="Rectangle 53"/>
            <p:cNvSpPr/>
            <p:nvPr/>
          </p:nvSpPr>
          <p:spPr>
            <a:xfrm>
              <a:off x="1485900" y="5791200"/>
              <a:ext cx="9220200" cy="514350"/>
            </a:xfrm>
            <a:prstGeom prst="roundRect">
              <a:avLst>
                <a:gd name="adj" fmla="val 11111"/>
              </a:avLst>
            </a:prstGeom>
            <a:solidFill>
              <a:srgbClr val="111827"/>
            </a:solidFill>
            <a:ln w="9525">
              <a:solidFill>
                <a:srgbClr val="2A3A52"/>
              </a:solidFill>
            </a:ln>
          </p:spPr>
        </p:sp>
        <p:sp>
          <p:nvSpPr>
            <p:cNvPr id="54" name="TextBox 54"/>
            <p:cNvSpPr txBox="1"/>
            <p:nvPr/>
          </p:nvSpPr>
          <p:spPr>
            <a:xfrm>
              <a:off x="1313974" y="5881688"/>
              <a:ext cx="9564052"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非功能验收的意义：证明系统可以长期运行持续扩展被治理和被回归</a:t>
              </a:r>
            </a:p>
          </p:txBody>
        </p:sp>
      </p:grpSp>
      <p:sp>
        <p:nvSpPr>
          <p:cNvPr id="56" name="TextBox 56"/>
          <p:cNvSpPr txBox="1"/>
          <p:nvPr/>
        </p:nvSpPr>
        <p:spPr>
          <a:xfrm>
            <a:off x="527304" y="6309360"/>
            <a:ext cx="5107954"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P10 ?vertical pillars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Bottom)">
                                      <p:cBhvr>
                                        <p:cTn id="11" dur="400"/>
                                        <p:tgtEl>
                                          <p:spTgt spid="2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slide(fromBottom)">
                                      <p:cBhvr>
                                        <p:cTn id="15" dur="400"/>
                                        <p:tgtEl>
                                          <p:spTgt spid="3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slide(fromBottom)">
                                      <p:cBhvr>
                                        <p:cTn id="19" dur="400"/>
                                        <p:tgtEl>
                                          <p:spTgt spid="41"/>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slide(fromBottom)">
                                      <p:cBhvr>
                                        <p:cTn id="23" dur="400"/>
                                        <p:tgtEl>
                                          <p:spTgt spid="52"/>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7" grpId="0"/>
      <p:bldP spid="34" grpId="0"/>
      <p:bldP spid="41" grpId="0"/>
      <p:bldP spid="52" grpId="0"/>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609600" y="1371600"/>
              <a:ext cx="10972800" cy="4572000"/>
            </a:xfrm>
            <a:custGeom>
              <a:avLst/>
              <a:gdLst/>
              <a:ahLst/>
              <a:cxnLst/>
              <a:rect l="l" t="t" r="r" b="b"/>
              <a:pathLst>
                <a:path w="10972800" h="4572000">
                  <a:moveTo>
                    <a:pt x="0" y="0"/>
                  </a:moveTo>
                  <a:lnTo>
                    <a:pt x="10972800" y="0"/>
                  </a:lnTo>
                  <a:moveTo>
                    <a:pt x="0" y="1143000"/>
                  </a:moveTo>
                  <a:lnTo>
                    <a:pt x="10972800" y="1143000"/>
                  </a:lnTo>
                  <a:moveTo>
                    <a:pt x="0" y="2286000"/>
                  </a:moveTo>
                  <a:lnTo>
                    <a:pt x="10972800" y="2286000"/>
                  </a:lnTo>
                  <a:moveTo>
                    <a:pt x="0" y="3429000"/>
                  </a:moveTo>
                  <a:lnTo>
                    <a:pt x="10972800" y="3429000"/>
                  </a:lnTo>
                  <a:moveTo>
                    <a:pt x="0" y="4572000"/>
                  </a:moveTo>
                  <a:lnTo>
                    <a:pt x="10972800" y="4572000"/>
                  </a:lnTo>
                </a:path>
              </a:pathLst>
            </a:custGeom>
            <a:solidFill>
              <a:srgbClr val="000000"/>
            </a:solidFill>
            <a:ln w="9525">
              <a:solidFill>
                <a:srgbClr val="1C2A3D"/>
              </a:solidFill>
              <a:prstDash val="lgDash"/>
            </a:ln>
          </p:spPr>
        </p:sp>
        <p:sp>
          <p:nvSpPr>
            <p:cNvPr id="4" name="Freeform 4"/>
            <p:cNvSpPr/>
            <p:nvPr/>
          </p:nvSpPr>
          <p:spPr>
            <a:xfrm>
              <a:off x="1524000" y="419100"/>
              <a:ext cx="9144000" cy="6019800"/>
            </a:xfrm>
            <a:custGeom>
              <a:avLst/>
              <a:gdLst/>
              <a:ahLst/>
              <a:cxnLst/>
              <a:rect l="l" t="t" r="r" b="b"/>
              <a:pathLst>
                <a:path w="9144000" h="6019800">
                  <a:moveTo>
                    <a:pt x="0" y="0"/>
                  </a:moveTo>
                  <a:lnTo>
                    <a:pt x="0" y="6019800"/>
                  </a:lnTo>
                  <a:moveTo>
                    <a:pt x="1524000" y="0"/>
                  </a:moveTo>
                  <a:lnTo>
                    <a:pt x="1524000" y="6019800"/>
                  </a:lnTo>
                  <a:moveTo>
                    <a:pt x="3048000" y="0"/>
                  </a:moveTo>
                  <a:lnTo>
                    <a:pt x="3048000" y="6019800"/>
                  </a:lnTo>
                  <a:moveTo>
                    <a:pt x="4572000" y="0"/>
                  </a:moveTo>
                  <a:lnTo>
                    <a:pt x="4572000" y="6019800"/>
                  </a:lnTo>
                  <a:moveTo>
                    <a:pt x="6096000" y="0"/>
                  </a:moveTo>
                  <a:lnTo>
                    <a:pt x="6096000" y="6019800"/>
                  </a:lnTo>
                  <a:moveTo>
                    <a:pt x="7620000" y="0"/>
                  </a:moveTo>
                  <a:lnTo>
                    <a:pt x="7620000" y="6019800"/>
                  </a:lnTo>
                  <a:moveTo>
                    <a:pt x="9144000" y="0"/>
                  </a:moveTo>
                  <a:lnTo>
                    <a:pt x="9144000" y="6019800"/>
                  </a:lnTo>
                </a:path>
              </a:pathLst>
            </a:custGeom>
            <a:solidFill>
              <a:srgbClr val="000000"/>
            </a:solidFill>
            <a:ln w="9525">
              <a:solidFill>
                <a:srgbClr val="1C2A3D">
                  <a:alpha val="42000"/>
                </a:srgbClr>
              </a:solidFill>
            </a:ln>
          </p:spPr>
        </p:sp>
      </p:grpSp>
      <p:grpSp>
        <p:nvGrpSpPr>
          <p:cNvPr id="8" name="Group 8"/>
          <p:cNvGrpSpPr/>
          <p:nvPr/>
        </p:nvGrpSpPr>
        <p:grpSpPr>
          <a:xfrm>
            <a:off x="514350" y="264795"/>
            <a:ext cx="9960940" cy="946594"/>
            <a:chOff x="514350" y="264795"/>
            <a:chExt cx="9960940" cy="946594"/>
          </a:xfrm>
        </p:grpSpPr>
        <p:sp>
          <p:nvSpPr>
            <p:cNvPr id="6" name="TextBox 6"/>
            <p:cNvSpPr txBox="1"/>
            <p:nvPr/>
          </p:nvSpPr>
          <p:spPr>
            <a:xfrm>
              <a:off x="514350" y="264795"/>
              <a:ext cx="9960940"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可运营来自任务反馈监控和健康状的闭环</a:t>
              </a:r>
            </a:p>
          </p:txBody>
        </p:sp>
        <p:sp>
          <p:nvSpPr>
            <p:cNvPr id="7" name="TextBox 7"/>
            <p:cNvSpPr txBox="1"/>
            <p:nvPr/>
          </p:nvSpPr>
          <p:spPr>
            <a:xfrm>
              <a:off x="544068" y="888682"/>
              <a:ext cx="914744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系统好不好用不靠主观判断，由 AgentTask、AgentFeedback、Provider ?MCP 健康状支撑</a:t>
              </a:r>
            </a:p>
          </p:txBody>
        </p:sp>
      </p:grpSp>
      <p:grpSp>
        <p:nvGrpSpPr>
          <p:cNvPr id="16" name="Group 16"/>
          <p:cNvGrpSpPr/>
          <p:nvPr/>
        </p:nvGrpSpPr>
        <p:grpSpPr>
          <a:xfrm>
            <a:off x="4723341" y="2343150"/>
            <a:ext cx="2595813" cy="2400300"/>
            <a:chOff x="4723341" y="2343150"/>
            <a:chExt cx="2595813" cy="2400300"/>
          </a:xfrm>
        </p:grpSpPr>
        <p:sp>
          <p:nvSpPr>
            <p:cNvPr id="9" name="Ellipse 9"/>
            <p:cNvSpPr/>
            <p:nvPr/>
          </p:nvSpPr>
          <p:spPr>
            <a:xfrm>
              <a:off x="4895850" y="2343150"/>
              <a:ext cx="2400300" cy="2400300"/>
            </a:xfrm>
            <a:prstGeom prst="ellipse">
              <a:avLst/>
            </a:prstGeom>
            <a:solidFill>
              <a:srgbClr val="111827"/>
            </a:solidFill>
            <a:ln w="19050">
              <a:solidFill>
                <a:srgbClr val="7DD3FC"/>
              </a:solidFill>
            </a:ln>
          </p:spPr>
        </p:sp>
        <p:sp>
          <p:nvSpPr>
            <p:cNvPr id="10" name="Ellipse 10"/>
            <p:cNvSpPr/>
            <p:nvPr/>
          </p:nvSpPr>
          <p:spPr>
            <a:xfrm>
              <a:off x="5219700" y="2667000"/>
              <a:ext cx="1752600" cy="1752600"/>
            </a:xfrm>
            <a:prstGeom prst="ellipse">
              <a:avLst/>
            </a:prstGeom>
            <a:solidFill>
              <a:srgbClr val="111827"/>
            </a:solidFill>
            <a:ln w="9525">
              <a:solidFill>
                <a:srgbClr val="2A3A52"/>
              </a:solidFill>
              <a:prstDash val="lgDash"/>
            </a:ln>
          </p:spPr>
        </p:sp>
        <p:grpSp>
          <p:nvGrpSpPr>
            <p:cNvPr id="13" name="Group 13"/>
            <p:cNvGrpSpPr/>
            <p:nvPr/>
          </p:nvGrpSpPr>
          <p:grpSpPr>
            <a:xfrm>
              <a:off x="5795962" y="2862262"/>
              <a:ext cx="600075" cy="600075"/>
              <a:chOff x="5795962" y="2862262"/>
              <a:chExt cx="600075" cy="600075"/>
            </a:xfrm>
          </p:grpSpPr>
          <p:sp>
            <p:nvSpPr>
              <p:cNvPr id="11" name="Freeform 11"/>
              <p:cNvSpPr/>
              <p:nvPr/>
            </p:nvSpPr>
            <p:spPr>
              <a:xfrm>
                <a:off x="5795962" y="2862262"/>
                <a:ext cx="600075" cy="600075"/>
              </a:xfrm>
              <a:custGeom>
                <a:avLst/>
                <a:gdLst/>
                <a:ahLst/>
                <a:cxnLst/>
                <a:rect l="l" t="t" r="r" b="b"/>
                <a:pathLst>
                  <a:path w="600075" h="600075">
                    <a:moveTo>
                      <a:pt x="0" y="0"/>
                    </a:moveTo>
                    <a:lnTo>
                      <a:pt x="0" y="600075"/>
                    </a:lnTo>
                    <a:lnTo>
                      <a:pt x="600075" y="600075"/>
                    </a:lnTo>
                    <a:lnTo>
                      <a:pt x="600075" y="514350"/>
                    </a:lnTo>
                    <a:lnTo>
                      <a:pt x="85725" y="514350"/>
                    </a:lnTo>
                    <a:lnTo>
                      <a:pt x="85725" y="0"/>
                    </a:lnTo>
                    <a:lnTo>
                      <a:pt x="0" y="0"/>
                    </a:lnTo>
                    <a:close/>
                  </a:path>
                </a:pathLst>
              </a:custGeom>
              <a:solidFill>
                <a:srgbClr val="F59E0B"/>
              </a:solidFill>
              <a:ln>
                <a:noFill/>
              </a:ln>
            </p:spPr>
          </p:sp>
          <p:sp>
            <p:nvSpPr>
              <p:cNvPr id="12" name="Freeform 12"/>
              <p:cNvSpPr/>
              <p:nvPr/>
            </p:nvSpPr>
            <p:spPr>
              <a:xfrm>
                <a:off x="5967412" y="2947988"/>
                <a:ext cx="428625" cy="342900"/>
              </a:xfrm>
              <a:custGeom>
                <a:avLst/>
                <a:gdLst/>
                <a:ahLst/>
                <a:cxnLst/>
                <a:rect l="l" t="t" r="r" b="b"/>
                <a:pathLst>
                  <a:path w="428625" h="342900">
                    <a:moveTo>
                      <a:pt x="0" y="171450"/>
                    </a:moveTo>
                    <a:lnTo>
                      <a:pt x="85725" y="85725"/>
                    </a:lnTo>
                    <a:lnTo>
                      <a:pt x="214312" y="214312"/>
                    </a:lnTo>
                    <a:lnTo>
                      <a:pt x="428625" y="0"/>
                    </a:lnTo>
                    <a:lnTo>
                      <a:pt x="428625" y="342900"/>
                    </a:lnTo>
                    <a:lnTo>
                      <a:pt x="0" y="342900"/>
                    </a:lnTo>
                    <a:lnTo>
                      <a:pt x="0" y="171450"/>
                    </a:lnTo>
                    <a:close/>
                  </a:path>
                </a:pathLst>
              </a:custGeom>
              <a:solidFill>
                <a:srgbClr val="F59E0B"/>
              </a:solidFill>
              <a:ln>
                <a:noFill/>
              </a:ln>
            </p:spPr>
          </p:sp>
        </p:grpSp>
        <p:sp>
          <p:nvSpPr>
            <p:cNvPr id="14" name="TextBox 14"/>
            <p:cNvSpPr txBox="1"/>
            <p:nvPr/>
          </p:nvSpPr>
          <p:spPr>
            <a:xfrm>
              <a:off x="4723341" y="3624424"/>
              <a:ext cx="2595813" cy="498729"/>
            </a:xfrm>
            <a:prstGeom prst="rect">
              <a:avLst/>
            </a:prstGeom>
            <a:noFill/>
            <a:ln>
              <a:noFill/>
            </a:ln>
          </p:spPr>
          <p:txBody>
            <a:bodyPr wrap="none" lIns="0" tIns="0" rIns="0" bIns="0" anchor="t" anchorCtr="0">
              <a:spAutoFit/>
            </a:bodyPr>
            <a:lstStyle/>
            <a:p>
              <a:pPr algn="ctr"/>
              <a:r>
                <a:rPr lang="zh-CN" sz="2550" b="1" dirty="0">
                  <a:solidFill>
                    <a:srgbClr val="F8FAFC"/>
                  </a:solidFill>
                  <a:latin typeface="Arial"/>
                  <a:ea typeface="Microsoft YaHei"/>
                  <a:cs typeface="Arial"/>
                </a:rPr>
                <a:t>Agent 运营面板</a:t>
              </a:r>
            </a:p>
          </p:txBody>
        </p:sp>
        <p:sp>
          <p:nvSpPr>
            <p:cNvPr id="15" name="TextBox 15"/>
            <p:cNvSpPr txBox="1"/>
            <p:nvPr/>
          </p:nvSpPr>
          <p:spPr>
            <a:xfrm>
              <a:off x="5284956" y="4121468"/>
              <a:ext cx="1622088" cy="264033"/>
            </a:xfrm>
            <a:prstGeom prst="rect">
              <a:avLst/>
            </a:prstGeom>
            <a:noFill/>
            <a:ln>
              <a:noFill/>
            </a:ln>
          </p:spPr>
          <p:txBody>
            <a:bodyPr wrap="none" lIns="0" tIns="0" rIns="0" bIns="0" anchor="t" anchorCtr="0">
              <a:spAutoFit/>
            </a:bodyPr>
            <a:lstStyle/>
            <a:p>
              <a:pPr algn="ctr"/>
              <a:r>
                <a:rPr lang="en-US" sz="1350" dirty="0">
                  <a:solidFill>
                    <a:srgbClr val="7DD3FC"/>
                  </a:solidFill>
                  <a:latin typeface="Consolas"/>
                  <a:ea typeface="Consolas"/>
                  <a:cs typeface="Consolas"/>
                </a:rPr>
                <a:t>dashboard + tasks</a:t>
              </a:r>
            </a:p>
          </p:txBody>
        </p:sp>
      </p:grpSp>
      <p:grpSp>
        <p:nvGrpSpPr>
          <p:cNvPr id="23" name="Group 23"/>
          <p:cNvGrpSpPr/>
          <p:nvPr/>
        </p:nvGrpSpPr>
        <p:grpSpPr>
          <a:xfrm>
            <a:off x="2647950" y="1657350"/>
            <a:ext cx="6896100" cy="3924300"/>
            <a:chOff x="2647950" y="1657350"/>
            <a:chExt cx="6896100" cy="3924300"/>
          </a:xfrm>
        </p:grpSpPr>
        <p:sp>
          <p:nvSpPr>
            <p:cNvPr id="17" name="Line 17"/>
            <p:cNvSpPr/>
            <p:nvPr/>
          </p:nvSpPr>
          <p:spPr>
            <a:xfrm>
              <a:off x="2857500" y="2038350"/>
              <a:ext cx="2238375" cy="819150"/>
            </a:xfrm>
            <a:custGeom>
              <a:avLst/>
              <a:gdLst/>
              <a:ahLst/>
              <a:cxnLst/>
              <a:rect l="l" t="t" r="r" b="b"/>
              <a:pathLst>
                <a:path w="2238375" h="819150">
                  <a:moveTo>
                    <a:pt x="2238375" y="819150"/>
                  </a:moveTo>
                  <a:lnTo>
                    <a:pt x="0" y="0"/>
                  </a:lnTo>
                </a:path>
              </a:pathLst>
            </a:custGeom>
            <a:noFill/>
            <a:ln w="19050">
              <a:solidFill>
                <a:srgbClr val="2A3A52"/>
              </a:solidFill>
            </a:ln>
          </p:spPr>
        </p:sp>
        <p:sp>
          <p:nvSpPr>
            <p:cNvPr id="18" name="Line 18"/>
            <p:cNvSpPr/>
            <p:nvPr/>
          </p:nvSpPr>
          <p:spPr>
            <a:xfrm>
              <a:off x="6096000" y="1657350"/>
              <a:ext cx="9525" cy="685800"/>
            </a:xfrm>
            <a:custGeom>
              <a:avLst/>
              <a:gdLst/>
              <a:ahLst/>
              <a:cxnLst/>
              <a:rect l="l" t="t" r="r" b="b"/>
              <a:pathLst>
                <a:path w="9525" h="685800">
                  <a:moveTo>
                    <a:pt x="0" y="685800"/>
                  </a:moveTo>
                  <a:lnTo>
                    <a:pt x="0" y="0"/>
                  </a:lnTo>
                </a:path>
              </a:pathLst>
            </a:custGeom>
            <a:noFill/>
            <a:ln w="19050">
              <a:solidFill>
                <a:srgbClr val="2A3A52"/>
              </a:solidFill>
            </a:ln>
          </p:spPr>
        </p:sp>
        <p:sp>
          <p:nvSpPr>
            <p:cNvPr id="19" name="Line 19"/>
            <p:cNvSpPr/>
            <p:nvPr/>
          </p:nvSpPr>
          <p:spPr>
            <a:xfrm>
              <a:off x="7096125" y="2038350"/>
              <a:ext cx="2238375" cy="819150"/>
            </a:xfrm>
            <a:custGeom>
              <a:avLst/>
              <a:gdLst/>
              <a:ahLst/>
              <a:cxnLst/>
              <a:rect l="l" t="t" r="r" b="b"/>
              <a:pathLst>
                <a:path w="2238375" h="819150">
                  <a:moveTo>
                    <a:pt x="0" y="819150"/>
                  </a:moveTo>
                  <a:lnTo>
                    <a:pt x="2238375" y="0"/>
                  </a:lnTo>
                </a:path>
              </a:pathLst>
            </a:custGeom>
            <a:noFill/>
            <a:ln w="19050">
              <a:solidFill>
                <a:srgbClr val="2A3A52"/>
              </a:solidFill>
            </a:ln>
          </p:spPr>
        </p:sp>
        <p:sp>
          <p:nvSpPr>
            <p:cNvPr id="20" name="Line 20"/>
            <p:cNvSpPr/>
            <p:nvPr/>
          </p:nvSpPr>
          <p:spPr>
            <a:xfrm>
              <a:off x="2647950" y="3714750"/>
              <a:ext cx="2247900" cy="266700"/>
            </a:xfrm>
            <a:custGeom>
              <a:avLst/>
              <a:gdLst/>
              <a:ahLst/>
              <a:cxnLst/>
              <a:rect l="l" t="t" r="r" b="b"/>
              <a:pathLst>
                <a:path w="2247900" h="266700">
                  <a:moveTo>
                    <a:pt x="2247900" y="0"/>
                  </a:moveTo>
                  <a:lnTo>
                    <a:pt x="0" y="266700"/>
                  </a:lnTo>
                </a:path>
              </a:pathLst>
            </a:custGeom>
            <a:noFill/>
            <a:ln w="19050">
              <a:solidFill>
                <a:srgbClr val="2A3A52"/>
              </a:solidFill>
            </a:ln>
          </p:spPr>
        </p:sp>
        <p:sp>
          <p:nvSpPr>
            <p:cNvPr id="21" name="Line 21"/>
            <p:cNvSpPr/>
            <p:nvPr/>
          </p:nvSpPr>
          <p:spPr>
            <a:xfrm>
              <a:off x="7296150" y="3714750"/>
              <a:ext cx="2247900" cy="266700"/>
            </a:xfrm>
            <a:custGeom>
              <a:avLst/>
              <a:gdLst/>
              <a:ahLst/>
              <a:cxnLst/>
              <a:rect l="l" t="t" r="r" b="b"/>
              <a:pathLst>
                <a:path w="2247900" h="266700">
                  <a:moveTo>
                    <a:pt x="0" y="0"/>
                  </a:moveTo>
                  <a:lnTo>
                    <a:pt x="2247900" y="266700"/>
                  </a:lnTo>
                </a:path>
              </a:pathLst>
            </a:custGeom>
            <a:noFill/>
            <a:ln w="19050">
              <a:solidFill>
                <a:srgbClr val="2A3A52"/>
              </a:solidFill>
            </a:ln>
          </p:spPr>
        </p:sp>
        <p:sp>
          <p:nvSpPr>
            <p:cNvPr id="22" name="Line 22"/>
            <p:cNvSpPr/>
            <p:nvPr/>
          </p:nvSpPr>
          <p:spPr>
            <a:xfrm>
              <a:off x="6096000" y="4743450"/>
              <a:ext cx="9525" cy="838200"/>
            </a:xfrm>
            <a:custGeom>
              <a:avLst/>
              <a:gdLst/>
              <a:ahLst/>
              <a:cxnLst/>
              <a:rect l="l" t="t" r="r" b="b"/>
              <a:pathLst>
                <a:path w="9525" h="838200">
                  <a:moveTo>
                    <a:pt x="0" y="0"/>
                  </a:moveTo>
                  <a:lnTo>
                    <a:pt x="0" y="838200"/>
                  </a:lnTo>
                </a:path>
              </a:pathLst>
            </a:custGeom>
            <a:noFill/>
            <a:ln w="19050">
              <a:solidFill>
                <a:srgbClr val="2A3A52"/>
              </a:solidFill>
            </a:ln>
          </p:spPr>
        </p:sp>
      </p:grpSp>
      <p:grpSp>
        <p:nvGrpSpPr>
          <p:cNvPr id="31" name="Group 31"/>
          <p:cNvGrpSpPr/>
          <p:nvPr/>
        </p:nvGrpSpPr>
        <p:grpSpPr>
          <a:xfrm>
            <a:off x="990600" y="1504950"/>
            <a:ext cx="2381250" cy="1066800"/>
            <a:chOff x="990600" y="1504950"/>
            <a:chExt cx="2381250" cy="1066800"/>
          </a:xfrm>
        </p:grpSpPr>
        <p:sp>
          <p:nvSpPr>
            <p:cNvPr id="24" name="Rectangle 24"/>
            <p:cNvSpPr/>
            <p:nvPr/>
          </p:nvSpPr>
          <p:spPr>
            <a:xfrm>
              <a:off x="990600" y="1504950"/>
              <a:ext cx="2381250" cy="1066800"/>
            </a:xfrm>
            <a:prstGeom prst="roundRect">
              <a:avLst>
                <a:gd name="adj" fmla="val 5357"/>
              </a:avLst>
            </a:prstGeom>
            <a:solidFill>
              <a:srgbClr val="111827"/>
            </a:solidFill>
            <a:ln w="9525">
              <a:solidFill>
                <a:srgbClr val="2A3A52"/>
              </a:solidFill>
            </a:ln>
          </p:spPr>
        </p:sp>
        <p:grpSp>
          <p:nvGrpSpPr>
            <p:cNvPr id="28" name="Group 28"/>
            <p:cNvGrpSpPr/>
            <p:nvPr/>
          </p:nvGrpSpPr>
          <p:grpSpPr>
            <a:xfrm>
              <a:off x="1243012" y="1771650"/>
              <a:ext cx="257175" cy="342900"/>
              <a:chOff x="1243012" y="1771650"/>
              <a:chExt cx="257175" cy="342900"/>
            </a:xfrm>
          </p:grpSpPr>
          <p:sp>
            <p:nvSpPr>
              <p:cNvPr id="25" name="Freeform 25"/>
              <p:cNvSpPr/>
              <p:nvPr/>
            </p:nvSpPr>
            <p:spPr>
              <a:xfrm>
                <a:off x="1243012" y="1908810"/>
                <a:ext cx="257175" cy="98584"/>
              </a:xfrm>
              <a:custGeom>
                <a:avLst/>
                <a:gdLst/>
                <a:ahLst/>
                <a:cxnLst/>
                <a:rect l="l" t="t" r="r" b="b"/>
                <a:pathLst>
                  <a:path w="257175" h="98584">
                    <a:moveTo>
                      <a:pt x="238682" y="10934"/>
                    </a:moveTo>
                    <a:cubicBezTo>
                      <a:pt x="244711" y="7919"/>
                      <a:pt x="251009" y="4282"/>
                      <a:pt x="257175" y="0"/>
                    </a:cubicBezTo>
                    <a:lnTo>
                      <a:pt x="257175" y="34290"/>
                    </a:lnTo>
                    <a:cubicBezTo>
                      <a:pt x="257175" y="69798"/>
                      <a:pt x="199604" y="98584"/>
                      <a:pt x="128588" y="98584"/>
                    </a:cubicBezTo>
                    <a:cubicBezTo>
                      <a:pt x="57571" y="98584"/>
                      <a:pt x="0" y="69798"/>
                      <a:pt x="0" y="34290"/>
                    </a:cubicBezTo>
                    <a:lnTo>
                      <a:pt x="0" y="0"/>
                    </a:lnTo>
                    <a:cubicBezTo>
                      <a:pt x="6166" y="4282"/>
                      <a:pt x="12464" y="7919"/>
                      <a:pt x="18494" y="10934"/>
                    </a:cubicBezTo>
                    <a:cubicBezTo>
                      <a:pt x="48884" y="26129"/>
                      <a:pt x="87868" y="34290"/>
                      <a:pt x="128588" y="34290"/>
                    </a:cubicBezTo>
                    <a:cubicBezTo>
                      <a:pt x="169307" y="34290"/>
                      <a:pt x="208290" y="26129"/>
                      <a:pt x="238682" y="10934"/>
                    </a:cubicBezTo>
                    <a:close/>
                  </a:path>
                </a:pathLst>
              </a:custGeom>
              <a:solidFill>
                <a:srgbClr val="7DD3FC"/>
              </a:solidFill>
              <a:ln>
                <a:noFill/>
              </a:ln>
            </p:spPr>
          </p:sp>
          <p:sp>
            <p:nvSpPr>
              <p:cNvPr id="26" name="Freeform 26"/>
              <p:cNvSpPr/>
              <p:nvPr/>
            </p:nvSpPr>
            <p:spPr>
              <a:xfrm>
                <a:off x="1243012" y="2015966"/>
                <a:ext cx="257175" cy="98584"/>
              </a:xfrm>
              <a:custGeom>
                <a:avLst/>
                <a:gdLst/>
                <a:ahLst/>
                <a:cxnLst/>
                <a:rect l="l" t="t" r="r" b="b"/>
                <a:pathLst>
                  <a:path w="257175" h="98584">
                    <a:moveTo>
                      <a:pt x="0" y="0"/>
                    </a:moveTo>
                    <a:lnTo>
                      <a:pt x="0" y="34290"/>
                    </a:lnTo>
                    <a:cubicBezTo>
                      <a:pt x="0" y="69799"/>
                      <a:pt x="57571" y="98584"/>
                      <a:pt x="128588" y="98584"/>
                    </a:cubicBezTo>
                    <a:cubicBezTo>
                      <a:pt x="199604" y="98584"/>
                      <a:pt x="257175" y="69799"/>
                      <a:pt x="257175" y="34290"/>
                    </a:cubicBezTo>
                    <a:lnTo>
                      <a:pt x="257175" y="0"/>
                    </a:lnTo>
                    <a:cubicBezTo>
                      <a:pt x="251009" y="4282"/>
                      <a:pt x="244711" y="7919"/>
                      <a:pt x="238682" y="10934"/>
                    </a:cubicBezTo>
                    <a:cubicBezTo>
                      <a:pt x="208290" y="26129"/>
                      <a:pt x="169307" y="34290"/>
                      <a:pt x="128588" y="34290"/>
                    </a:cubicBezTo>
                    <a:cubicBezTo>
                      <a:pt x="87868" y="34290"/>
                      <a:pt x="48884" y="26129"/>
                      <a:pt x="18494" y="10934"/>
                    </a:cubicBezTo>
                    <a:cubicBezTo>
                      <a:pt x="12464" y="7919"/>
                      <a:pt x="6166" y="4282"/>
                      <a:pt x="0" y="0"/>
                    </a:cubicBezTo>
                    <a:close/>
                  </a:path>
                </a:pathLst>
              </a:custGeom>
              <a:solidFill>
                <a:srgbClr val="7DD3FC"/>
              </a:solidFill>
              <a:ln>
                <a:noFill/>
              </a:ln>
            </p:spPr>
          </p:sp>
          <p:sp>
            <p:nvSpPr>
              <p:cNvPr id="27" name="Freeform 27"/>
              <p:cNvSpPr/>
              <p:nvPr/>
            </p:nvSpPr>
            <p:spPr>
              <a:xfrm>
                <a:off x="1243012" y="1771650"/>
                <a:ext cx="257175" cy="128588"/>
              </a:xfrm>
              <a:custGeom>
                <a:avLst/>
                <a:gdLst/>
                <a:ahLst/>
                <a:cxnLst/>
                <a:rect l="l" t="t" r="r" b="b"/>
                <a:pathLst>
                  <a:path w="257175" h="128588">
                    <a:moveTo>
                      <a:pt x="128588" y="0"/>
                    </a:moveTo>
                    <a:cubicBezTo>
                      <a:pt x="199604" y="0"/>
                      <a:pt x="257175" y="28785"/>
                      <a:pt x="257175" y="64294"/>
                    </a:cubicBezTo>
                    <a:cubicBezTo>
                      <a:pt x="257175" y="99802"/>
                      <a:pt x="199604" y="128588"/>
                      <a:pt x="128588" y="128588"/>
                    </a:cubicBezTo>
                    <a:cubicBezTo>
                      <a:pt x="57571" y="128588"/>
                      <a:pt x="0" y="99802"/>
                      <a:pt x="0" y="64294"/>
                    </a:cubicBezTo>
                    <a:cubicBezTo>
                      <a:pt x="0" y="28785"/>
                      <a:pt x="57571" y="0"/>
                      <a:pt x="128588" y="0"/>
                    </a:cubicBezTo>
                    <a:close/>
                  </a:path>
                </a:pathLst>
              </a:custGeom>
              <a:solidFill>
                <a:srgbClr val="7DD3FC"/>
              </a:solidFill>
              <a:ln>
                <a:noFill/>
              </a:ln>
            </p:spPr>
          </p:sp>
        </p:grpSp>
        <p:sp>
          <p:nvSpPr>
            <p:cNvPr id="29" name="TextBox 29"/>
            <p:cNvSpPr txBox="1"/>
            <p:nvPr/>
          </p:nvSpPr>
          <p:spPr>
            <a:xfrm>
              <a:off x="1665732" y="17735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任务记录</a:t>
              </a:r>
            </a:p>
          </p:txBody>
        </p:sp>
        <p:sp>
          <p:nvSpPr>
            <p:cNvPr id="30" name="TextBox 30"/>
            <p:cNvSpPr txBox="1"/>
            <p:nvPr/>
          </p:nvSpPr>
          <p:spPr>
            <a:xfrm>
              <a:off x="1193292" y="2216468"/>
              <a:ext cx="1688325"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Consolas"/>
                  <a:ea typeface="Microsoft YaHei"/>
                  <a:cs typeface="Consolas"/>
                </a:rPr>
                <a:t>AgentTask / 朢近任</a:t>
              </a:r>
            </a:p>
          </p:txBody>
        </p:sp>
      </p:grpSp>
      <p:grpSp>
        <p:nvGrpSpPr>
          <p:cNvPr id="40" name="Group 40"/>
          <p:cNvGrpSpPr/>
          <p:nvPr/>
        </p:nvGrpSpPr>
        <p:grpSpPr>
          <a:xfrm>
            <a:off x="4905375" y="1219200"/>
            <a:ext cx="2381250" cy="1066800"/>
            <a:chOff x="4905375" y="1219200"/>
            <a:chExt cx="2381250" cy="1066800"/>
          </a:xfrm>
        </p:grpSpPr>
        <p:sp>
          <p:nvSpPr>
            <p:cNvPr id="32" name="Rectangle 32"/>
            <p:cNvSpPr/>
            <p:nvPr/>
          </p:nvSpPr>
          <p:spPr>
            <a:xfrm>
              <a:off x="4905375" y="1219200"/>
              <a:ext cx="2381250" cy="1066800"/>
            </a:xfrm>
            <a:prstGeom prst="roundRect">
              <a:avLst>
                <a:gd name="adj" fmla="val 5357"/>
              </a:avLst>
            </a:prstGeom>
            <a:solidFill>
              <a:srgbClr val="111827"/>
            </a:solidFill>
            <a:ln w="9525">
              <a:solidFill>
                <a:srgbClr val="2A3A52"/>
              </a:solidFill>
            </a:ln>
          </p:spPr>
        </p:sp>
        <p:grpSp>
          <p:nvGrpSpPr>
            <p:cNvPr id="37" name="Group 37"/>
            <p:cNvGrpSpPr/>
            <p:nvPr/>
          </p:nvGrpSpPr>
          <p:grpSpPr>
            <a:xfrm>
              <a:off x="5114925" y="1507331"/>
              <a:ext cx="342901" cy="300038"/>
              <a:chOff x="5114925" y="1507331"/>
              <a:chExt cx="342901" cy="300038"/>
            </a:xfrm>
          </p:grpSpPr>
          <p:sp>
            <p:nvSpPr>
              <p:cNvPr id="33" name="Freeform 33"/>
              <p:cNvSpPr/>
              <p:nvPr/>
            </p:nvSpPr>
            <p:spPr>
              <a:xfrm>
                <a:off x="5179219" y="1507331"/>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8B5CF6"/>
              </a:solidFill>
              <a:ln>
                <a:noFill/>
              </a:ln>
            </p:spPr>
          </p:sp>
          <p:sp>
            <p:nvSpPr>
              <p:cNvPr id="34" name="Freeform 34"/>
              <p:cNvSpPr/>
              <p:nvPr/>
            </p:nvSpPr>
            <p:spPr>
              <a:xfrm>
                <a:off x="5114925" y="1657350"/>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8B5CF6"/>
              </a:solidFill>
              <a:ln>
                <a:noFill/>
              </a:ln>
            </p:spPr>
          </p:sp>
          <p:sp>
            <p:nvSpPr>
              <p:cNvPr id="35" name="Freeform 35"/>
              <p:cNvSpPr/>
              <p:nvPr/>
            </p:nvSpPr>
            <p:spPr>
              <a:xfrm>
                <a:off x="5329238" y="1657350"/>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8B5CF6"/>
              </a:solidFill>
              <a:ln>
                <a:noFill/>
              </a:ln>
            </p:spPr>
          </p:sp>
          <p:sp>
            <p:nvSpPr>
              <p:cNvPr id="36" name="Freeform 36"/>
              <p:cNvSpPr/>
              <p:nvPr/>
            </p:nvSpPr>
            <p:spPr>
              <a:xfrm>
                <a:off x="5329238" y="152876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8B5CF6"/>
              </a:solidFill>
              <a:ln>
                <a:noFill/>
              </a:ln>
            </p:spPr>
          </p:sp>
        </p:grpSp>
        <p:sp>
          <p:nvSpPr>
            <p:cNvPr id="38" name="TextBox 38"/>
            <p:cNvSpPr txBox="1"/>
            <p:nvPr/>
          </p:nvSpPr>
          <p:spPr>
            <a:xfrm>
              <a:off x="5580507" y="148780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用户反馈</a:t>
              </a:r>
            </a:p>
          </p:txBody>
        </p:sp>
        <p:sp>
          <p:nvSpPr>
            <p:cNvPr id="39" name="TextBox 39"/>
            <p:cNvSpPr txBox="1"/>
            <p:nvPr/>
          </p:nvSpPr>
          <p:spPr>
            <a:xfrm>
              <a:off x="4984128" y="1930718"/>
              <a:ext cx="2268547"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Consolas"/>
                  <a:ea typeface="Microsoft YaHei"/>
                  <a:cs typeface="Consolas"/>
                </a:rPr>
                <a:t>AgentFeedback / 原因聚合</a:t>
              </a:r>
            </a:p>
          </p:txBody>
        </p:sp>
      </p:grpSp>
      <p:grpSp>
        <p:nvGrpSpPr>
          <p:cNvPr id="48" name="Group 48"/>
          <p:cNvGrpSpPr/>
          <p:nvPr/>
        </p:nvGrpSpPr>
        <p:grpSpPr>
          <a:xfrm>
            <a:off x="8820150" y="1504950"/>
            <a:ext cx="2381250" cy="1066800"/>
            <a:chOff x="8820150" y="1504950"/>
            <a:chExt cx="2381250" cy="1066800"/>
          </a:xfrm>
        </p:grpSpPr>
        <p:sp>
          <p:nvSpPr>
            <p:cNvPr id="41" name="Rectangle 41"/>
            <p:cNvSpPr/>
            <p:nvPr/>
          </p:nvSpPr>
          <p:spPr>
            <a:xfrm>
              <a:off x="8820150" y="1504950"/>
              <a:ext cx="2381250" cy="1066800"/>
            </a:xfrm>
            <a:prstGeom prst="roundRect">
              <a:avLst>
                <a:gd name="adj" fmla="val 5357"/>
              </a:avLst>
            </a:prstGeom>
            <a:solidFill>
              <a:srgbClr val="111827"/>
            </a:solidFill>
            <a:ln w="9525">
              <a:solidFill>
                <a:srgbClr val="2A3A52"/>
              </a:solidFill>
            </a:ln>
          </p:spPr>
        </p:sp>
        <p:grpSp>
          <p:nvGrpSpPr>
            <p:cNvPr id="45" name="Group 45"/>
            <p:cNvGrpSpPr/>
            <p:nvPr/>
          </p:nvGrpSpPr>
          <p:grpSpPr>
            <a:xfrm>
              <a:off x="9051131" y="1793081"/>
              <a:ext cx="300038" cy="300038"/>
              <a:chOff x="9051131" y="1793081"/>
              <a:chExt cx="300038" cy="300038"/>
            </a:xfrm>
          </p:grpSpPr>
          <p:sp>
            <p:nvSpPr>
              <p:cNvPr id="42" name="Freeform 42"/>
              <p:cNvSpPr/>
              <p:nvPr/>
            </p:nvSpPr>
            <p:spPr>
              <a:xfrm>
                <a:off x="9051131" y="1793081"/>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F59E0B"/>
              </a:solidFill>
              <a:ln>
                <a:noFill/>
              </a:ln>
            </p:spPr>
          </p:sp>
          <p:sp>
            <p:nvSpPr>
              <p:cNvPr id="43" name="Freeform 43"/>
              <p:cNvSpPr/>
              <p:nvPr/>
            </p:nvSpPr>
            <p:spPr>
              <a:xfrm>
                <a:off x="9265444" y="2007394"/>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F59E0B"/>
              </a:solidFill>
              <a:ln>
                <a:noFill/>
              </a:ln>
            </p:spPr>
          </p:sp>
          <p:sp>
            <p:nvSpPr>
              <p:cNvPr id="44" name="Freeform 44"/>
              <p:cNvSpPr/>
              <p:nvPr/>
            </p:nvSpPr>
            <p:spPr>
              <a:xfrm>
                <a:off x="9072562" y="1793081"/>
                <a:ext cx="257175" cy="300038"/>
              </a:xfrm>
              <a:custGeom>
                <a:avLst/>
                <a:gdLst/>
                <a:ahLst/>
                <a:cxnLst/>
                <a:rect l="l" t="t" r="r" b="b"/>
                <a:pathLst>
                  <a:path w="257175" h="300038">
                    <a:moveTo>
                      <a:pt x="150019" y="75009"/>
                    </a:moveTo>
                    <a:cubicBezTo>
                      <a:pt x="150019" y="57255"/>
                      <a:pt x="164411" y="42862"/>
                      <a:pt x="182166" y="42862"/>
                    </a:cubicBezTo>
                    <a:cubicBezTo>
                      <a:pt x="199919" y="42862"/>
                      <a:pt x="214312" y="57255"/>
                      <a:pt x="214312" y="75009"/>
                    </a:cubicBezTo>
                    <a:lnTo>
                      <a:pt x="214312" y="171450"/>
                    </a:lnTo>
                    <a:lnTo>
                      <a:pt x="257175" y="171450"/>
                    </a:lnTo>
                    <a:lnTo>
                      <a:pt x="257175" y="75009"/>
                    </a:lnTo>
                    <a:cubicBezTo>
                      <a:pt x="257175" y="33583"/>
                      <a:pt x="223592" y="0"/>
                      <a:pt x="182166" y="0"/>
                    </a:cubicBezTo>
                    <a:cubicBezTo>
                      <a:pt x="140739" y="0"/>
                      <a:pt x="107156" y="33583"/>
                      <a:pt x="107156" y="75009"/>
                    </a:cubicBezTo>
                    <a:lnTo>
                      <a:pt x="107156" y="225028"/>
                    </a:lnTo>
                    <a:cubicBezTo>
                      <a:pt x="107156" y="242782"/>
                      <a:pt x="92764" y="257175"/>
                      <a:pt x="75009" y="257175"/>
                    </a:cubicBezTo>
                    <a:cubicBezTo>
                      <a:pt x="57255" y="257175"/>
                      <a:pt x="42862" y="242782"/>
                      <a:pt x="42862" y="225028"/>
                    </a:cubicBezTo>
                    <a:lnTo>
                      <a:pt x="42862" y="128588"/>
                    </a:lnTo>
                    <a:lnTo>
                      <a:pt x="0" y="128588"/>
                    </a:lnTo>
                    <a:lnTo>
                      <a:pt x="0" y="225028"/>
                    </a:lnTo>
                    <a:cubicBezTo>
                      <a:pt x="0" y="266455"/>
                      <a:pt x="33583" y="300038"/>
                      <a:pt x="75009" y="300038"/>
                    </a:cubicBezTo>
                    <a:cubicBezTo>
                      <a:pt x="116436" y="300038"/>
                      <a:pt x="150019" y="266455"/>
                      <a:pt x="150019" y="225028"/>
                    </a:cubicBezTo>
                    <a:lnTo>
                      <a:pt x="150019" y="75009"/>
                    </a:lnTo>
                    <a:close/>
                  </a:path>
                </a:pathLst>
              </a:custGeom>
              <a:solidFill>
                <a:srgbClr val="F59E0B"/>
              </a:solidFill>
              <a:ln>
                <a:noFill/>
              </a:ln>
            </p:spPr>
          </p:sp>
        </p:grpSp>
        <p:sp>
          <p:nvSpPr>
            <p:cNvPr id="46" name="TextBox 46"/>
            <p:cNvSpPr txBox="1"/>
            <p:nvPr/>
          </p:nvSpPr>
          <p:spPr>
            <a:xfrm>
              <a:off x="9495282" y="17735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意图与工</a:t>
              </a:r>
            </a:p>
          </p:txBody>
        </p:sp>
        <p:sp>
          <p:nvSpPr>
            <p:cNvPr id="47" name="TextBox 47"/>
            <p:cNvSpPr txBox="1"/>
            <p:nvPr/>
          </p:nvSpPr>
          <p:spPr>
            <a:xfrm>
              <a:off x="9022842" y="2216468"/>
              <a:ext cx="1876520" cy="264033"/>
            </a:xfrm>
            <a:prstGeom prst="rect">
              <a:avLst/>
            </a:prstGeom>
            <a:noFill/>
            <a:ln>
              <a:noFill/>
            </a:ln>
          </p:spPr>
          <p:txBody>
            <a:bodyPr wrap="none" lIns="0" tIns="0" rIns="0" bIns="0" anchor="t" anchorCtr="0">
              <a:spAutoFit/>
            </a:bodyPr>
            <a:lstStyle/>
            <a:p>
              <a:pPr algn="l"/>
              <a:r>
                <a:rPr lang="en-US" sz="1350" dirty="0">
                  <a:solidFill>
                    <a:srgbClr val="B6C2D2"/>
                  </a:solidFill>
                  <a:latin typeface="Consolas"/>
                  <a:ea typeface="Consolas"/>
                  <a:cs typeface="Consolas"/>
                </a:rPr>
                <a:t>intent / tool metrics</a:t>
              </a:r>
            </a:p>
          </p:txBody>
        </p:sp>
      </p:grpSp>
      <p:grpSp>
        <p:nvGrpSpPr>
          <p:cNvPr id="55" name="Group 55"/>
          <p:cNvGrpSpPr/>
          <p:nvPr/>
        </p:nvGrpSpPr>
        <p:grpSpPr>
          <a:xfrm>
            <a:off x="1059456" y="3676650"/>
            <a:ext cx="2555758" cy="1066800"/>
            <a:chOff x="1059456" y="3676650"/>
            <a:chExt cx="2555758" cy="1066800"/>
          </a:xfrm>
        </p:grpSpPr>
        <p:sp>
          <p:nvSpPr>
            <p:cNvPr id="49" name="Rectangle 49"/>
            <p:cNvSpPr/>
            <p:nvPr/>
          </p:nvSpPr>
          <p:spPr>
            <a:xfrm>
              <a:off x="1059456" y="3676650"/>
              <a:ext cx="2381250" cy="1066800"/>
            </a:xfrm>
            <a:prstGeom prst="roundRect">
              <a:avLst>
                <a:gd name="adj" fmla="val 5357"/>
              </a:avLst>
            </a:prstGeom>
            <a:solidFill>
              <a:srgbClr val="111827"/>
            </a:solidFill>
            <a:ln w="9525">
              <a:solidFill>
                <a:srgbClr val="2A3A52"/>
              </a:solidFill>
            </a:ln>
          </p:spPr>
        </p:sp>
        <p:grpSp>
          <p:nvGrpSpPr>
            <p:cNvPr id="52" name="Group 52"/>
            <p:cNvGrpSpPr/>
            <p:nvPr/>
          </p:nvGrpSpPr>
          <p:grpSpPr>
            <a:xfrm>
              <a:off x="1200150" y="3986212"/>
              <a:ext cx="342900" cy="257175"/>
              <a:chOff x="1200150" y="3986212"/>
              <a:chExt cx="342900" cy="257175"/>
            </a:xfrm>
          </p:grpSpPr>
          <p:sp>
            <p:nvSpPr>
              <p:cNvPr id="50" name="Freeform 50"/>
              <p:cNvSpPr/>
              <p:nvPr/>
            </p:nvSpPr>
            <p:spPr>
              <a:xfrm>
                <a:off x="1200150" y="3986212"/>
                <a:ext cx="342900" cy="107156"/>
              </a:xfrm>
              <a:custGeom>
                <a:avLst/>
                <a:gdLst/>
                <a:ahLst/>
                <a:cxnLst/>
                <a:rect l="l" t="t" r="r" b="b"/>
                <a:pathLst>
                  <a:path w="342900" h="107156">
                    <a:moveTo>
                      <a:pt x="342900" y="0"/>
                    </a:moveTo>
                    <a:lnTo>
                      <a:pt x="0" y="0"/>
                    </a:lnTo>
                    <a:lnTo>
                      <a:pt x="0" y="107156"/>
                    </a:lnTo>
                    <a:lnTo>
                      <a:pt x="342900" y="107156"/>
                    </a:lnTo>
                    <a:lnTo>
                      <a:pt x="342900" y="0"/>
                    </a:lnTo>
                    <a:close/>
                    <a:moveTo>
                      <a:pt x="85725" y="53578"/>
                    </a:moveTo>
                    <a:cubicBezTo>
                      <a:pt x="85725" y="65414"/>
                      <a:pt x="76130" y="75009"/>
                      <a:pt x="64294" y="75009"/>
                    </a:cubicBezTo>
                    <a:cubicBezTo>
                      <a:pt x="52458" y="75009"/>
                      <a:pt x="42862" y="65414"/>
                      <a:pt x="42862" y="53578"/>
                    </a:cubicBezTo>
                    <a:cubicBezTo>
                      <a:pt x="42862" y="41742"/>
                      <a:pt x="52458" y="32147"/>
                      <a:pt x="64294" y="32147"/>
                    </a:cubicBezTo>
                    <a:cubicBezTo>
                      <a:pt x="76130" y="32147"/>
                      <a:pt x="85725" y="41742"/>
                      <a:pt x="85725" y="53578"/>
                    </a:cubicBezTo>
                    <a:close/>
                  </a:path>
                </a:pathLst>
              </a:custGeom>
              <a:solidFill>
                <a:srgbClr val="22C55E"/>
              </a:solidFill>
              <a:ln>
                <a:noFill/>
              </a:ln>
            </p:spPr>
          </p:sp>
          <p:sp>
            <p:nvSpPr>
              <p:cNvPr id="51" name="Freeform 51"/>
              <p:cNvSpPr/>
              <p:nvPr/>
            </p:nvSpPr>
            <p:spPr>
              <a:xfrm>
                <a:off x="1200150" y="4136231"/>
                <a:ext cx="342900" cy="107156"/>
              </a:xfrm>
              <a:custGeom>
                <a:avLst/>
                <a:gdLst/>
                <a:ahLst/>
                <a:cxnLst/>
                <a:rect l="l" t="t" r="r" b="b"/>
                <a:pathLst>
                  <a:path w="342900" h="107156">
                    <a:moveTo>
                      <a:pt x="342900" y="0"/>
                    </a:moveTo>
                    <a:lnTo>
                      <a:pt x="0" y="0"/>
                    </a:lnTo>
                    <a:lnTo>
                      <a:pt x="0" y="107156"/>
                    </a:lnTo>
                    <a:lnTo>
                      <a:pt x="342900" y="107156"/>
                    </a:lnTo>
                    <a:lnTo>
                      <a:pt x="342900" y="0"/>
                    </a:lnTo>
                    <a:close/>
                    <a:moveTo>
                      <a:pt x="64294" y="75009"/>
                    </a:moveTo>
                    <a:cubicBezTo>
                      <a:pt x="76130" y="75009"/>
                      <a:pt x="85725" y="65415"/>
                      <a:pt x="85725" y="53578"/>
                    </a:cubicBezTo>
                    <a:cubicBezTo>
                      <a:pt x="85725" y="41742"/>
                      <a:pt x="76130" y="32147"/>
                      <a:pt x="64294" y="32147"/>
                    </a:cubicBezTo>
                    <a:cubicBezTo>
                      <a:pt x="52458" y="32147"/>
                      <a:pt x="42862" y="41742"/>
                      <a:pt x="42862" y="53578"/>
                    </a:cubicBezTo>
                    <a:cubicBezTo>
                      <a:pt x="42862" y="65415"/>
                      <a:pt x="52458" y="75009"/>
                      <a:pt x="64294" y="75009"/>
                    </a:cubicBezTo>
                    <a:close/>
                  </a:path>
                </a:pathLst>
              </a:custGeom>
              <a:solidFill>
                <a:srgbClr val="22C55E"/>
              </a:solidFill>
              <a:ln>
                <a:noFill/>
              </a:ln>
            </p:spPr>
          </p:sp>
        </p:grpSp>
        <p:sp>
          <p:nvSpPr>
            <p:cNvPr id="53" name="TextBox 53"/>
            <p:cNvSpPr txBox="1"/>
            <p:nvPr/>
          </p:nvSpPr>
          <p:spPr>
            <a:xfrm>
              <a:off x="1665732" y="3945255"/>
              <a:ext cx="1949482"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Provider 分布</a:t>
              </a:r>
            </a:p>
          </p:txBody>
        </p:sp>
        <p:sp>
          <p:nvSpPr>
            <p:cNvPr id="54" name="TextBox 54"/>
            <p:cNvSpPr txBox="1"/>
            <p:nvPr/>
          </p:nvSpPr>
          <p:spPr>
            <a:xfrm>
              <a:off x="1193292" y="4388168"/>
              <a:ext cx="1467612"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Consolas"/>
                  <a:ea typeface="Microsoft YaHei"/>
                  <a:cs typeface="Consolas"/>
                </a:rPr>
                <a:t>模型调用与路由状</a:t>
              </a:r>
            </a:p>
          </p:txBody>
        </p:sp>
      </p:grpSp>
      <p:grpSp>
        <p:nvGrpSpPr>
          <p:cNvPr id="63" name="Group 63"/>
          <p:cNvGrpSpPr/>
          <p:nvPr/>
        </p:nvGrpSpPr>
        <p:grpSpPr>
          <a:xfrm>
            <a:off x="8820150" y="3676650"/>
            <a:ext cx="2381250" cy="1066800"/>
            <a:chOff x="8820150" y="3676650"/>
            <a:chExt cx="2381250" cy="1066800"/>
          </a:xfrm>
        </p:grpSpPr>
        <p:sp>
          <p:nvSpPr>
            <p:cNvPr id="56" name="Rectangle 56"/>
            <p:cNvSpPr/>
            <p:nvPr/>
          </p:nvSpPr>
          <p:spPr>
            <a:xfrm>
              <a:off x="8820150" y="3676650"/>
              <a:ext cx="2381250" cy="1066800"/>
            </a:xfrm>
            <a:prstGeom prst="roundRect">
              <a:avLst>
                <a:gd name="adj" fmla="val 5357"/>
              </a:avLst>
            </a:prstGeom>
            <a:solidFill>
              <a:srgbClr val="111827"/>
            </a:solidFill>
            <a:ln w="9525">
              <a:solidFill>
                <a:srgbClr val="2A3A52"/>
              </a:solidFill>
            </a:ln>
          </p:spPr>
        </p:sp>
        <p:grpSp>
          <p:nvGrpSpPr>
            <p:cNvPr id="60" name="Group 60"/>
            <p:cNvGrpSpPr/>
            <p:nvPr/>
          </p:nvGrpSpPr>
          <p:grpSpPr>
            <a:xfrm>
              <a:off x="9029700" y="3964781"/>
              <a:ext cx="342900" cy="300038"/>
              <a:chOff x="9029700" y="3964781"/>
              <a:chExt cx="342900" cy="300038"/>
            </a:xfrm>
          </p:grpSpPr>
          <p:sp>
            <p:nvSpPr>
              <p:cNvPr id="57" name="Freeform 57"/>
              <p:cNvSpPr/>
              <p:nvPr/>
            </p:nvSpPr>
            <p:spPr>
              <a:xfrm>
                <a:off x="9029700" y="3964781"/>
                <a:ext cx="85725" cy="300038"/>
              </a:xfrm>
              <a:custGeom>
                <a:avLst/>
                <a:gdLst/>
                <a:ahLst/>
                <a:cxnLst/>
                <a:rect l="l" t="t" r="r" b="b"/>
                <a:pathLst>
                  <a:path w="85725" h="300038">
                    <a:moveTo>
                      <a:pt x="85725" y="21431"/>
                    </a:moveTo>
                    <a:lnTo>
                      <a:pt x="0" y="0"/>
                    </a:lnTo>
                    <a:lnTo>
                      <a:pt x="0" y="278606"/>
                    </a:lnTo>
                    <a:lnTo>
                      <a:pt x="85725" y="300038"/>
                    </a:lnTo>
                    <a:lnTo>
                      <a:pt x="85725" y="21431"/>
                    </a:lnTo>
                    <a:close/>
                  </a:path>
                </a:pathLst>
              </a:custGeom>
              <a:solidFill>
                <a:srgbClr val="7DD3FC"/>
              </a:solidFill>
              <a:ln>
                <a:noFill/>
              </a:ln>
            </p:spPr>
          </p:sp>
          <p:sp>
            <p:nvSpPr>
              <p:cNvPr id="58" name="Freeform 58"/>
              <p:cNvSpPr/>
              <p:nvPr/>
            </p:nvSpPr>
            <p:spPr>
              <a:xfrm>
                <a:off x="9286875" y="3964781"/>
                <a:ext cx="85725" cy="300038"/>
              </a:xfrm>
              <a:custGeom>
                <a:avLst/>
                <a:gdLst/>
                <a:ahLst/>
                <a:cxnLst/>
                <a:rect l="l" t="t" r="r" b="b"/>
                <a:pathLst>
                  <a:path w="85725" h="300038">
                    <a:moveTo>
                      <a:pt x="85725" y="21431"/>
                    </a:moveTo>
                    <a:lnTo>
                      <a:pt x="0" y="0"/>
                    </a:lnTo>
                    <a:lnTo>
                      <a:pt x="0" y="278606"/>
                    </a:lnTo>
                    <a:lnTo>
                      <a:pt x="85725" y="300038"/>
                    </a:lnTo>
                    <a:lnTo>
                      <a:pt x="85725" y="21431"/>
                    </a:lnTo>
                    <a:close/>
                  </a:path>
                </a:pathLst>
              </a:custGeom>
              <a:solidFill>
                <a:srgbClr val="7DD3FC"/>
              </a:solidFill>
              <a:ln>
                <a:noFill/>
              </a:ln>
            </p:spPr>
          </p:sp>
          <p:sp>
            <p:nvSpPr>
              <p:cNvPr id="59" name="Freeform 59"/>
              <p:cNvSpPr/>
              <p:nvPr/>
            </p:nvSpPr>
            <p:spPr>
              <a:xfrm>
                <a:off x="9158288" y="3964781"/>
                <a:ext cx="85725" cy="300038"/>
              </a:xfrm>
              <a:custGeom>
                <a:avLst/>
                <a:gdLst/>
                <a:ahLst/>
                <a:cxnLst/>
                <a:rect l="l" t="t" r="r" b="b"/>
                <a:pathLst>
                  <a:path w="85725" h="300038">
                    <a:moveTo>
                      <a:pt x="85725" y="0"/>
                    </a:moveTo>
                    <a:lnTo>
                      <a:pt x="0" y="21431"/>
                    </a:lnTo>
                    <a:lnTo>
                      <a:pt x="0" y="300038"/>
                    </a:lnTo>
                    <a:lnTo>
                      <a:pt x="85725" y="278606"/>
                    </a:lnTo>
                    <a:lnTo>
                      <a:pt x="85725" y="0"/>
                    </a:lnTo>
                    <a:close/>
                  </a:path>
                </a:pathLst>
              </a:custGeom>
              <a:solidFill>
                <a:srgbClr val="7DD3FC"/>
              </a:solidFill>
              <a:ln>
                <a:noFill/>
              </a:ln>
            </p:spPr>
          </p:sp>
        </p:grpSp>
        <p:sp>
          <p:nvSpPr>
            <p:cNvPr id="61" name="TextBox 61"/>
            <p:cNvSpPr txBox="1"/>
            <p:nvPr/>
          </p:nvSpPr>
          <p:spPr>
            <a:xfrm>
              <a:off x="9495282" y="3945255"/>
              <a:ext cx="1322939"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MCP 健康</a:t>
              </a:r>
            </a:p>
          </p:txBody>
        </p:sp>
        <p:sp>
          <p:nvSpPr>
            <p:cNvPr id="62" name="TextBox 62"/>
            <p:cNvSpPr txBox="1"/>
            <p:nvPr/>
          </p:nvSpPr>
          <p:spPr>
            <a:xfrm>
              <a:off x="9022842" y="4388168"/>
              <a:ext cx="1724980" cy="264033"/>
            </a:xfrm>
            <a:prstGeom prst="rect">
              <a:avLst/>
            </a:prstGeom>
            <a:noFill/>
            <a:ln>
              <a:noFill/>
            </a:ln>
          </p:spPr>
          <p:txBody>
            <a:bodyPr wrap="none" lIns="0" tIns="0" rIns="0" bIns="0" anchor="t" anchorCtr="0">
              <a:spAutoFit/>
            </a:bodyPr>
            <a:lstStyle/>
            <a:p>
              <a:pPr algn="l"/>
              <a:r>
                <a:rPr lang="en-US" sz="1350" dirty="0">
                  <a:solidFill>
                    <a:srgbClr val="B6C2D2"/>
                  </a:solidFill>
                  <a:latin typeface="Consolas"/>
                  <a:ea typeface="Consolas"/>
                  <a:cs typeface="Consolas"/>
                </a:rPr>
                <a:t>Tencent Map health</a:t>
              </a:r>
            </a:p>
          </p:txBody>
        </p:sp>
      </p:grpSp>
      <p:grpSp>
        <p:nvGrpSpPr>
          <p:cNvPr id="70" name="Group 70"/>
          <p:cNvGrpSpPr/>
          <p:nvPr/>
        </p:nvGrpSpPr>
        <p:grpSpPr>
          <a:xfrm>
            <a:off x="4667250" y="5448300"/>
            <a:ext cx="2980763" cy="855974"/>
            <a:chOff x="4667250" y="5448300"/>
            <a:chExt cx="2980763" cy="855974"/>
          </a:xfrm>
        </p:grpSpPr>
        <p:sp>
          <p:nvSpPr>
            <p:cNvPr id="64" name="Rectangle 64"/>
            <p:cNvSpPr/>
            <p:nvPr/>
          </p:nvSpPr>
          <p:spPr>
            <a:xfrm>
              <a:off x="4667250" y="5448300"/>
              <a:ext cx="2857500" cy="819150"/>
            </a:xfrm>
            <a:prstGeom prst="roundRect">
              <a:avLst>
                <a:gd name="adj" fmla="val 6977"/>
              </a:avLst>
            </a:prstGeom>
            <a:solidFill>
              <a:srgbClr val="111827"/>
            </a:solidFill>
            <a:ln w="9525">
              <a:solidFill>
                <a:srgbClr val="2A3A52"/>
              </a:solidFill>
            </a:ln>
          </p:spPr>
        </p:sp>
        <p:grpSp>
          <p:nvGrpSpPr>
            <p:cNvPr id="67" name="Group 67"/>
            <p:cNvGrpSpPr/>
            <p:nvPr/>
          </p:nvGrpSpPr>
          <p:grpSpPr>
            <a:xfrm>
              <a:off x="4916091" y="5657850"/>
              <a:ext cx="283368" cy="323850"/>
              <a:chOff x="4916091" y="5657850"/>
              <a:chExt cx="283368" cy="323850"/>
            </a:xfrm>
          </p:grpSpPr>
          <p:sp>
            <p:nvSpPr>
              <p:cNvPr id="65" name="Freeform 65"/>
              <p:cNvSpPr/>
              <p:nvPr/>
            </p:nvSpPr>
            <p:spPr>
              <a:xfrm>
                <a:off x="4997053" y="5657850"/>
                <a:ext cx="202406" cy="242888"/>
              </a:xfrm>
              <a:custGeom>
                <a:avLst/>
                <a:gdLst/>
                <a:ahLst/>
                <a:cxnLst/>
                <a:rect l="l" t="t" r="r" b="b"/>
                <a:pathLst>
                  <a:path w="202406" h="242888">
                    <a:moveTo>
                      <a:pt x="121444" y="0"/>
                    </a:moveTo>
                    <a:lnTo>
                      <a:pt x="0" y="0"/>
                    </a:lnTo>
                    <a:lnTo>
                      <a:pt x="0" y="242888"/>
                    </a:lnTo>
                    <a:lnTo>
                      <a:pt x="202406" y="242888"/>
                    </a:lnTo>
                    <a:lnTo>
                      <a:pt x="202406" y="80962"/>
                    </a:lnTo>
                    <a:lnTo>
                      <a:pt x="121444" y="0"/>
                    </a:lnTo>
                    <a:close/>
                  </a:path>
                </a:pathLst>
              </a:custGeom>
              <a:solidFill>
                <a:srgbClr val="F59E0B"/>
              </a:solidFill>
              <a:ln>
                <a:noFill/>
              </a:ln>
            </p:spPr>
          </p:sp>
          <p:sp>
            <p:nvSpPr>
              <p:cNvPr id="66" name="Freeform 66"/>
              <p:cNvSpPr/>
              <p:nvPr/>
            </p:nvSpPr>
            <p:spPr>
              <a:xfrm>
                <a:off x="4916091" y="5738812"/>
                <a:ext cx="202406" cy="242888"/>
              </a:xfrm>
              <a:custGeom>
                <a:avLst/>
                <a:gdLst/>
                <a:ahLst/>
                <a:cxnLst/>
                <a:rect l="l" t="t" r="r" b="b"/>
                <a:pathLst>
                  <a:path w="202406" h="242888">
                    <a:moveTo>
                      <a:pt x="0" y="0"/>
                    </a:moveTo>
                    <a:lnTo>
                      <a:pt x="0" y="242888"/>
                    </a:lnTo>
                    <a:lnTo>
                      <a:pt x="202406" y="242888"/>
                    </a:lnTo>
                    <a:lnTo>
                      <a:pt x="202406" y="202406"/>
                    </a:lnTo>
                    <a:lnTo>
                      <a:pt x="40481" y="202406"/>
                    </a:lnTo>
                    <a:lnTo>
                      <a:pt x="40481" y="0"/>
                    </a:lnTo>
                    <a:lnTo>
                      <a:pt x="0" y="0"/>
                    </a:lnTo>
                    <a:close/>
                  </a:path>
                </a:pathLst>
              </a:custGeom>
              <a:solidFill>
                <a:srgbClr val="F59E0B"/>
              </a:solidFill>
              <a:ln>
                <a:noFill/>
              </a:ln>
            </p:spPr>
          </p:sp>
        </p:grpSp>
        <p:sp>
          <p:nvSpPr>
            <p:cNvPr id="68" name="TextBox 68"/>
            <p:cNvSpPr txBox="1"/>
            <p:nvPr/>
          </p:nvSpPr>
          <p:spPr>
            <a:xfrm>
              <a:off x="5342382" y="5659755"/>
              <a:ext cx="1802359"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任务详情可复</a:t>
              </a:r>
            </a:p>
          </p:txBody>
        </p:sp>
        <p:sp>
          <p:nvSpPr>
            <p:cNvPr id="69" name="TextBox 69"/>
            <p:cNvSpPr txBox="1"/>
            <p:nvPr/>
          </p:nvSpPr>
          <p:spPr>
            <a:xfrm>
              <a:off x="4726505" y="6040241"/>
              <a:ext cx="2921508"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Arial"/>
                  <a:ea typeface="Microsoft YaHei"/>
                  <a:cs typeface="Arial"/>
                </a:rPr>
                <a:t>从指标回到具体链路，形成定位闭环</a:t>
              </a:r>
            </a:p>
          </p:txBody>
        </p:sp>
      </p:grpSp>
      <p:sp>
        <p:nvSpPr>
          <p:cNvPr id="71" name="TextBox 71"/>
          <p:cNvSpPr txBox="1"/>
          <p:nvPr/>
        </p:nvSpPr>
        <p:spPr>
          <a:xfrm>
            <a:off x="527304" y="6309360"/>
            <a:ext cx="4731609"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P11 ?hub-spoke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image">
                                      <p:cBhvr>
                                        <p:cTn id="7" dur="400"/>
                                        <p:tgtEl>
                                          <p:spTgt spid="1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400"/>
                                        <p:tgtEl>
                                          <p:spTgt spid="40"/>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400"/>
                                        <p:tgtEl>
                                          <p:spTgt spid="48"/>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400"/>
                                        <p:tgtEl>
                                          <p:spTgt spid="63"/>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fade">
                                      <p:cBhvr>
                                        <p:cTn id="3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31" grpId="0"/>
      <p:bldP spid="40" grpId="0"/>
      <p:bldP spid="48" grpId="0"/>
      <p:bldP spid="55" grpId="0"/>
      <p:bldP spid="63" grpId="0"/>
      <p:bldP spid="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52450" y="1447800"/>
              <a:ext cx="11087100" cy="4572000"/>
            </a:xfrm>
            <a:custGeom>
              <a:avLst/>
              <a:gdLst/>
              <a:ahLst/>
              <a:cxnLst/>
              <a:rect l="l" t="t" r="r" b="b"/>
              <a:pathLst>
                <a:path w="11087100" h="4572000">
                  <a:moveTo>
                    <a:pt x="0" y="0"/>
                  </a:moveTo>
                  <a:lnTo>
                    <a:pt x="11087100" y="0"/>
                  </a:lnTo>
                  <a:moveTo>
                    <a:pt x="0" y="1143000"/>
                  </a:moveTo>
                  <a:lnTo>
                    <a:pt x="11087100" y="1143000"/>
                  </a:lnTo>
                  <a:moveTo>
                    <a:pt x="0" y="2286000"/>
                  </a:moveTo>
                  <a:lnTo>
                    <a:pt x="11087100" y="2286000"/>
                  </a:lnTo>
                  <a:moveTo>
                    <a:pt x="0" y="3429000"/>
                  </a:moveTo>
                  <a:lnTo>
                    <a:pt x="11087100" y="3429000"/>
                  </a:lnTo>
                  <a:moveTo>
                    <a:pt x="0" y="4572000"/>
                  </a:moveTo>
                  <a:lnTo>
                    <a:pt x="11087100" y="4572000"/>
                  </a:lnTo>
                </a:path>
              </a:pathLst>
            </a:custGeom>
            <a:solidFill>
              <a:srgbClr val="000000"/>
            </a:solidFill>
            <a:ln w="9525">
              <a:solidFill>
                <a:srgbClr val="1C2A3D"/>
              </a:solidFill>
              <a:prstDash val="lgDash"/>
            </a:ln>
          </p:spPr>
        </p:sp>
        <p:sp>
          <p:nvSpPr>
            <p:cNvPr id="4" name="Freeform 4"/>
            <p:cNvSpPr/>
            <p:nvPr/>
          </p:nvSpPr>
          <p:spPr>
            <a:xfrm>
              <a:off x="4000500" y="1352550"/>
              <a:ext cx="4191000" cy="4572000"/>
            </a:xfrm>
            <a:custGeom>
              <a:avLst/>
              <a:gdLst/>
              <a:ahLst/>
              <a:cxnLst/>
              <a:rect l="l" t="t" r="r" b="b"/>
              <a:pathLst>
                <a:path w="4191000" h="4572000">
                  <a:moveTo>
                    <a:pt x="0" y="0"/>
                  </a:moveTo>
                  <a:lnTo>
                    <a:pt x="0" y="4572000"/>
                  </a:lnTo>
                  <a:moveTo>
                    <a:pt x="4191000" y="0"/>
                  </a:moveTo>
                  <a:lnTo>
                    <a:pt x="4191000" y="4572000"/>
                  </a:lnTo>
                </a:path>
              </a:pathLst>
            </a:custGeom>
            <a:solidFill>
              <a:srgbClr val="000000"/>
            </a:solidFill>
            <a:ln w="9525">
              <a:solidFill>
                <a:srgbClr val="2A3A52"/>
              </a:solidFill>
              <a:prstDash val="lgDash"/>
            </a:ln>
          </p:spPr>
        </p:sp>
      </p:grpSp>
      <p:grpSp>
        <p:nvGrpSpPr>
          <p:cNvPr id="8" name="Group 8"/>
          <p:cNvGrpSpPr/>
          <p:nvPr/>
        </p:nvGrpSpPr>
        <p:grpSpPr>
          <a:xfrm>
            <a:off x="514350" y="264795"/>
            <a:ext cx="12757434" cy="946594"/>
            <a:chOff x="514350" y="264795"/>
            <a:chExt cx="12757434" cy="946594"/>
          </a:xfrm>
        </p:grpSpPr>
        <p:sp>
          <p:nvSpPr>
            <p:cNvPr id="6" name="TextBox 6"/>
            <p:cNvSpPr txBox="1"/>
            <p:nvPr/>
          </p:nvSpPr>
          <p:spPr>
            <a:xfrm>
              <a:off x="514350" y="264795"/>
              <a:ext cx="12757434"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Supervisor 朢小闭环证明多 Agent 协作已经跨域跑</a:t>
              </a:r>
            </a:p>
          </p:txBody>
        </p:sp>
        <p:sp>
          <p:nvSpPr>
            <p:cNvPr id="7" name="TextBox 7"/>
            <p:cNvSpPr txBox="1"/>
            <p:nvPr/>
          </p:nvSpPr>
          <p:spPr>
            <a:xfrm>
              <a:off x="544068" y="888682"/>
              <a:ext cx="712470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它没有追求大而全，是通过路线规划加邮件知完成丢条可验收的跨域链路</a:t>
              </a:r>
            </a:p>
          </p:txBody>
        </p:sp>
      </p:grpSp>
      <p:grpSp>
        <p:nvGrpSpPr>
          <p:cNvPr id="18" name="Group 18"/>
          <p:cNvGrpSpPr/>
          <p:nvPr/>
        </p:nvGrpSpPr>
        <p:grpSpPr>
          <a:xfrm>
            <a:off x="590550" y="1866900"/>
            <a:ext cx="2571750" cy="2933700"/>
            <a:chOff x="590550" y="1866900"/>
            <a:chExt cx="2571750" cy="2933700"/>
          </a:xfrm>
        </p:grpSpPr>
        <p:sp>
          <p:nvSpPr>
            <p:cNvPr id="9" name="Rectangle 9"/>
            <p:cNvSpPr/>
            <p:nvPr/>
          </p:nvSpPr>
          <p:spPr>
            <a:xfrm>
              <a:off x="590550" y="1866900"/>
              <a:ext cx="2571750" cy="2933700"/>
            </a:xfrm>
            <a:prstGeom prst="roundRect">
              <a:avLst>
                <a:gd name="adj" fmla="val 2222"/>
              </a:avLst>
            </a:prstGeom>
            <a:solidFill>
              <a:srgbClr val="111827"/>
            </a:solidFill>
            <a:ln w="9525">
              <a:solidFill>
                <a:srgbClr val="2A3A52"/>
              </a:solidFill>
            </a:ln>
          </p:spPr>
        </p:sp>
        <p:grpSp>
          <p:nvGrpSpPr>
            <p:cNvPr id="14" name="Group 14"/>
            <p:cNvGrpSpPr/>
            <p:nvPr/>
          </p:nvGrpSpPr>
          <p:grpSpPr>
            <a:xfrm>
              <a:off x="876300" y="2240756"/>
              <a:ext cx="495300" cy="433388"/>
              <a:chOff x="876300" y="2240756"/>
              <a:chExt cx="495300" cy="433388"/>
            </a:xfrm>
          </p:grpSpPr>
          <p:sp>
            <p:nvSpPr>
              <p:cNvPr id="10" name="Freeform 10"/>
              <p:cNvSpPr/>
              <p:nvPr/>
            </p:nvSpPr>
            <p:spPr>
              <a:xfrm>
                <a:off x="969169" y="2240756"/>
                <a:ext cx="154781" cy="154781"/>
              </a:xfrm>
              <a:custGeom>
                <a:avLst/>
                <a:gdLst/>
                <a:ahLst/>
                <a:cxnLst/>
                <a:rect l="l" t="t" r="r" b="b"/>
                <a:pathLst>
                  <a:path w="154781" h="154781">
                    <a:moveTo>
                      <a:pt x="154781" y="77391"/>
                    </a:moveTo>
                    <a:cubicBezTo>
                      <a:pt x="154781" y="120132"/>
                      <a:pt x="120132" y="154781"/>
                      <a:pt x="77391" y="154781"/>
                    </a:cubicBezTo>
                    <a:cubicBezTo>
                      <a:pt x="34649" y="154781"/>
                      <a:pt x="0" y="120132"/>
                      <a:pt x="0" y="77391"/>
                    </a:cubicBezTo>
                    <a:cubicBezTo>
                      <a:pt x="0" y="34649"/>
                      <a:pt x="34649" y="0"/>
                      <a:pt x="77391" y="0"/>
                    </a:cubicBezTo>
                    <a:cubicBezTo>
                      <a:pt x="120132" y="0"/>
                      <a:pt x="154781" y="34649"/>
                      <a:pt x="154781" y="77391"/>
                    </a:cubicBezTo>
                    <a:close/>
                  </a:path>
                </a:pathLst>
              </a:custGeom>
              <a:solidFill>
                <a:srgbClr val="7DD3FC"/>
              </a:solidFill>
              <a:ln>
                <a:noFill/>
              </a:ln>
            </p:spPr>
          </p:sp>
          <p:sp>
            <p:nvSpPr>
              <p:cNvPr id="11" name="Freeform 11"/>
              <p:cNvSpPr/>
              <p:nvPr/>
            </p:nvSpPr>
            <p:spPr>
              <a:xfrm>
                <a:off x="876300" y="2457450"/>
                <a:ext cx="247650" cy="216694"/>
              </a:xfrm>
              <a:custGeom>
                <a:avLst/>
                <a:gdLst/>
                <a:ahLst/>
                <a:cxnLst/>
                <a:rect l="l" t="t" r="r" b="b"/>
                <a:pathLst>
                  <a:path w="247650" h="216694">
                    <a:moveTo>
                      <a:pt x="92869" y="0"/>
                    </a:moveTo>
                    <a:cubicBezTo>
                      <a:pt x="41579" y="0"/>
                      <a:pt x="0" y="41579"/>
                      <a:pt x="0" y="92869"/>
                    </a:cubicBezTo>
                    <a:lnTo>
                      <a:pt x="0" y="216694"/>
                    </a:lnTo>
                    <a:lnTo>
                      <a:pt x="247650" y="216694"/>
                    </a:lnTo>
                    <a:lnTo>
                      <a:pt x="247650" y="0"/>
                    </a:lnTo>
                    <a:lnTo>
                      <a:pt x="92869" y="0"/>
                    </a:lnTo>
                    <a:close/>
                  </a:path>
                </a:pathLst>
              </a:custGeom>
              <a:solidFill>
                <a:srgbClr val="7DD3FC"/>
              </a:solidFill>
              <a:ln>
                <a:noFill/>
              </a:ln>
            </p:spPr>
          </p:sp>
          <p:sp>
            <p:nvSpPr>
              <p:cNvPr id="12" name="Freeform 12"/>
              <p:cNvSpPr/>
              <p:nvPr/>
            </p:nvSpPr>
            <p:spPr>
              <a:xfrm>
                <a:off x="1185862" y="2457450"/>
                <a:ext cx="185738" cy="216694"/>
              </a:xfrm>
              <a:custGeom>
                <a:avLst/>
                <a:gdLst/>
                <a:ahLst/>
                <a:cxnLst/>
                <a:rect l="l" t="t" r="r" b="b"/>
                <a:pathLst>
                  <a:path w="185738" h="216694">
                    <a:moveTo>
                      <a:pt x="92869" y="0"/>
                    </a:moveTo>
                    <a:lnTo>
                      <a:pt x="0" y="0"/>
                    </a:lnTo>
                    <a:lnTo>
                      <a:pt x="0" y="216694"/>
                    </a:lnTo>
                    <a:lnTo>
                      <a:pt x="185738" y="216694"/>
                    </a:lnTo>
                    <a:lnTo>
                      <a:pt x="185738" y="92869"/>
                    </a:lnTo>
                    <a:cubicBezTo>
                      <a:pt x="185738" y="41579"/>
                      <a:pt x="144160" y="0"/>
                      <a:pt x="92869" y="0"/>
                    </a:cubicBezTo>
                    <a:close/>
                  </a:path>
                </a:pathLst>
              </a:custGeom>
              <a:solidFill>
                <a:srgbClr val="7DD3FC"/>
              </a:solidFill>
              <a:ln>
                <a:noFill/>
              </a:ln>
            </p:spPr>
          </p:sp>
          <p:sp>
            <p:nvSpPr>
              <p:cNvPr id="13" name="Freeform 13"/>
              <p:cNvSpPr/>
              <p:nvPr/>
            </p:nvSpPr>
            <p:spPr>
              <a:xfrm>
                <a:off x="1185862" y="2271712"/>
                <a:ext cx="123825" cy="123825"/>
              </a:xfrm>
              <a:custGeom>
                <a:avLst/>
                <a:gdLst/>
                <a:ahLst/>
                <a:cxnLst/>
                <a:rect l="l" t="t" r="r" b="b"/>
                <a:pathLst>
                  <a:path w="123825" h="123825">
                    <a:moveTo>
                      <a:pt x="61912" y="123825"/>
                    </a:moveTo>
                    <a:cubicBezTo>
                      <a:pt x="96107" y="123825"/>
                      <a:pt x="123825" y="96106"/>
                      <a:pt x="123825" y="61912"/>
                    </a:cubicBezTo>
                    <a:cubicBezTo>
                      <a:pt x="123825" y="27719"/>
                      <a:pt x="96107" y="0"/>
                      <a:pt x="61912" y="0"/>
                    </a:cubicBezTo>
                    <a:cubicBezTo>
                      <a:pt x="27718" y="0"/>
                      <a:pt x="0" y="27719"/>
                      <a:pt x="0" y="61912"/>
                    </a:cubicBezTo>
                    <a:cubicBezTo>
                      <a:pt x="0" y="96106"/>
                      <a:pt x="27718" y="123825"/>
                      <a:pt x="61912" y="123825"/>
                    </a:cubicBezTo>
                    <a:close/>
                  </a:path>
                </a:pathLst>
              </a:custGeom>
              <a:solidFill>
                <a:srgbClr val="7DD3FC"/>
              </a:solidFill>
              <a:ln>
                <a:noFill/>
              </a:ln>
            </p:spPr>
          </p:sp>
        </p:grpSp>
        <p:sp>
          <p:nvSpPr>
            <p:cNvPr id="15" name="TextBox 15"/>
            <p:cNvSpPr txBox="1"/>
            <p:nvPr/>
          </p:nvSpPr>
          <p:spPr>
            <a:xfrm>
              <a:off x="864870" y="28241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用户请求</a:t>
              </a:r>
            </a:p>
          </p:txBody>
        </p:sp>
        <p:sp>
          <p:nvSpPr>
            <p:cNvPr id="16" name="TextBox 16"/>
            <p:cNvSpPr txBox="1"/>
            <p:nvPr/>
          </p:nvSpPr>
          <p:spPr>
            <a:xfrm>
              <a:off x="867918" y="3346132"/>
              <a:ext cx="1693164" cy="97040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从宝安中心到龙岗</a:t>
              </a:r>
              <a:r>
                <a:rPr lang="zh-CN" sz="1650" dirty="0">
                  <a:solidFill>
                    <a:srgbClr val="B6C2D2"/>
                  </a:solidFill>
                  <a:latin typeface="Arial"/>
                  <a:ea typeface="Microsoft YaHei"/>
                  <a:cs typeface="Arial"/>
                </a:rPr>
                <a:t>怎么走，并顺</a:t>
              </a:r>
              <a:r>
                <a:rPr lang="zh-CN" sz="1650" dirty="0">
                  <a:solidFill>
                    <a:srgbClr val="B6C2D2"/>
                  </a:solidFill>
                  <a:latin typeface="Arial"/>
                  <a:ea typeface="Microsoft YaHei"/>
                  <a:cs typeface="Arial"/>
                </a:rPr>
                <a:t>写邮件知老师</a:t>
              </a:r>
            </a:p>
          </p:txBody>
        </p:sp>
        <p:sp>
          <p:nvSpPr>
            <p:cNvPr id="17" name="TextBox 17"/>
            <p:cNvSpPr txBox="1"/>
            <p:nvPr/>
          </p:nvSpPr>
          <p:spPr>
            <a:xfrm>
              <a:off x="869442" y="4350068"/>
              <a:ext cx="1603915" cy="264033"/>
            </a:xfrm>
            <a:prstGeom prst="rect">
              <a:avLst/>
            </a:prstGeom>
            <a:noFill/>
            <a:ln>
              <a:noFill/>
            </a:ln>
          </p:spPr>
          <p:txBody>
            <a:bodyPr wrap="none" lIns="0" tIns="0" rIns="0" bIns="0" anchor="t" anchorCtr="0">
              <a:spAutoFit/>
            </a:bodyPr>
            <a:lstStyle/>
            <a:p>
              <a:pPr algn="l"/>
              <a:r>
                <a:rPr lang="en-US" sz="1350" dirty="0">
                  <a:solidFill>
                    <a:srgbClr val="7F8EA3"/>
                  </a:solidFill>
                  <a:latin typeface="Consolas"/>
                  <a:ea typeface="Consolas"/>
                  <a:cs typeface="Consolas"/>
                </a:rPr>
                <a:t>multi-domain task</a:t>
              </a:r>
            </a:p>
          </p:txBody>
        </p:sp>
      </p:grpSp>
      <p:grpSp>
        <p:nvGrpSpPr>
          <p:cNvPr id="23" name="Group 23"/>
          <p:cNvGrpSpPr/>
          <p:nvPr/>
        </p:nvGrpSpPr>
        <p:grpSpPr>
          <a:xfrm>
            <a:off x="4343400" y="1790700"/>
            <a:ext cx="3572260" cy="1162050"/>
            <a:chOff x="4343400" y="1790700"/>
            <a:chExt cx="3572260" cy="1162050"/>
          </a:xfrm>
        </p:grpSpPr>
        <p:sp>
          <p:nvSpPr>
            <p:cNvPr id="19" name="Rectangle 19"/>
            <p:cNvSpPr/>
            <p:nvPr/>
          </p:nvSpPr>
          <p:spPr>
            <a:xfrm>
              <a:off x="4343400" y="1790700"/>
              <a:ext cx="3505200" cy="1162050"/>
            </a:xfrm>
            <a:prstGeom prst="roundRect">
              <a:avLst>
                <a:gd name="adj" fmla="val 4918"/>
              </a:avLst>
            </a:prstGeom>
            <a:solidFill>
              <a:srgbClr val="111827"/>
            </a:solidFill>
            <a:ln w="19050">
              <a:solidFill>
                <a:srgbClr val="7DD3FC"/>
              </a:solidFill>
            </a:ln>
          </p:spPr>
        </p:sp>
        <p:sp>
          <p:nvSpPr>
            <p:cNvPr id="20" name="Freeform 20"/>
            <p:cNvSpPr/>
            <p:nvPr/>
          </p:nvSpPr>
          <p:spPr>
            <a:xfrm>
              <a:off x="4610100" y="1949301"/>
              <a:ext cx="457200" cy="428625"/>
            </a:xfrm>
            <a:custGeom>
              <a:avLst/>
              <a:gdLst/>
              <a:ahLst/>
              <a:cxnLst/>
              <a:rect l="l" t="t" r="r" b="b"/>
              <a:pathLst>
                <a:path w="457200" h="428625">
                  <a:moveTo>
                    <a:pt x="257175" y="0"/>
                  </a:moveTo>
                  <a:lnTo>
                    <a:pt x="257175" y="57150"/>
                  </a:lnTo>
                  <a:lnTo>
                    <a:pt x="371475" y="57150"/>
                  </a:lnTo>
                  <a:lnTo>
                    <a:pt x="457200" y="242888"/>
                  </a:lnTo>
                  <a:lnTo>
                    <a:pt x="371475" y="428625"/>
                  </a:lnTo>
                  <a:lnTo>
                    <a:pt x="85725" y="428625"/>
                  </a:lnTo>
                  <a:lnTo>
                    <a:pt x="0" y="242888"/>
                  </a:lnTo>
                  <a:lnTo>
                    <a:pt x="85725" y="57150"/>
                  </a:lnTo>
                  <a:lnTo>
                    <a:pt x="200025" y="57150"/>
                  </a:lnTo>
                  <a:lnTo>
                    <a:pt x="200025" y="0"/>
                  </a:lnTo>
                  <a:lnTo>
                    <a:pt x="257175" y="0"/>
                  </a:lnTo>
                  <a:close/>
                  <a:moveTo>
                    <a:pt x="131386" y="335425"/>
                  </a:moveTo>
                  <a:lnTo>
                    <a:pt x="228600" y="350381"/>
                  </a:lnTo>
                  <a:lnTo>
                    <a:pt x="325815" y="335425"/>
                  </a:lnTo>
                  <a:lnTo>
                    <a:pt x="317122" y="278939"/>
                  </a:lnTo>
                  <a:lnTo>
                    <a:pt x="228600" y="292557"/>
                  </a:lnTo>
                  <a:lnTo>
                    <a:pt x="140076" y="278939"/>
                  </a:lnTo>
                  <a:lnTo>
                    <a:pt x="131386" y="335425"/>
                  </a:lnTo>
                  <a:close/>
                  <a:moveTo>
                    <a:pt x="200025" y="192881"/>
                  </a:moveTo>
                  <a:cubicBezTo>
                    <a:pt x="200025" y="212608"/>
                    <a:pt x="184033" y="228600"/>
                    <a:pt x="164306" y="228600"/>
                  </a:cubicBezTo>
                  <a:cubicBezTo>
                    <a:pt x="144579" y="228600"/>
                    <a:pt x="128588" y="212608"/>
                    <a:pt x="128588" y="192881"/>
                  </a:cubicBezTo>
                  <a:cubicBezTo>
                    <a:pt x="128588" y="173154"/>
                    <a:pt x="144579" y="157162"/>
                    <a:pt x="164306" y="157162"/>
                  </a:cubicBezTo>
                  <a:cubicBezTo>
                    <a:pt x="184033" y="157162"/>
                    <a:pt x="200025" y="173154"/>
                    <a:pt x="200025" y="192881"/>
                  </a:cubicBezTo>
                  <a:close/>
                  <a:moveTo>
                    <a:pt x="292894" y="228600"/>
                  </a:moveTo>
                  <a:cubicBezTo>
                    <a:pt x="312622" y="228600"/>
                    <a:pt x="328612" y="212608"/>
                    <a:pt x="328612" y="192881"/>
                  </a:cubicBezTo>
                  <a:cubicBezTo>
                    <a:pt x="328612" y="173154"/>
                    <a:pt x="312622" y="157162"/>
                    <a:pt x="292894" y="157162"/>
                  </a:cubicBezTo>
                  <a:cubicBezTo>
                    <a:pt x="273167" y="157162"/>
                    <a:pt x="257175" y="173154"/>
                    <a:pt x="257175" y="192881"/>
                  </a:cubicBezTo>
                  <a:cubicBezTo>
                    <a:pt x="257175" y="212608"/>
                    <a:pt x="273167" y="228600"/>
                    <a:pt x="292894" y="228600"/>
                  </a:cubicBezTo>
                  <a:close/>
                </a:path>
              </a:pathLst>
            </a:custGeom>
            <a:solidFill>
              <a:srgbClr val="F59E0B"/>
            </a:solidFill>
            <a:ln>
              <a:noFill/>
            </a:ln>
          </p:spPr>
        </p:sp>
        <p:sp>
          <p:nvSpPr>
            <p:cNvPr id="21" name="TextBox 21"/>
            <p:cNvSpPr txBox="1"/>
            <p:nvPr/>
          </p:nvSpPr>
          <p:spPr>
            <a:xfrm>
              <a:off x="5244846" y="2048828"/>
              <a:ext cx="1928956" cy="498729"/>
            </a:xfrm>
            <a:prstGeom prst="rect">
              <a:avLst/>
            </a:prstGeom>
            <a:noFill/>
            <a:ln>
              <a:noFill/>
            </a:ln>
          </p:spPr>
          <p:txBody>
            <a:bodyPr wrap="none" lIns="0" tIns="0" rIns="0" bIns="0" anchor="t" anchorCtr="0">
              <a:spAutoFit/>
            </a:bodyPr>
            <a:lstStyle/>
            <a:p>
              <a:pPr algn="l"/>
              <a:r>
                <a:rPr lang="en-US" sz="2550" b="1" dirty="0">
                  <a:solidFill>
                    <a:srgbClr val="F8FAFC"/>
                  </a:solidFill>
                  <a:latin typeface="Arial"/>
                  <a:ea typeface="Arial"/>
                  <a:cs typeface="Arial"/>
                </a:rPr>
                <a:t>Supervisor</a:t>
              </a:r>
            </a:p>
          </p:txBody>
        </p:sp>
        <p:sp>
          <p:nvSpPr>
            <p:cNvPr id="22" name="TextBox 22"/>
            <p:cNvSpPr txBox="1"/>
            <p:nvPr/>
          </p:nvSpPr>
          <p:spPr>
            <a:xfrm>
              <a:off x="4450709" y="2535479"/>
              <a:ext cx="3464951"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任务拆解、状态汇总跨 Agent 编排</a:t>
              </a:r>
            </a:p>
          </p:txBody>
        </p:sp>
      </p:grpSp>
      <p:grpSp>
        <p:nvGrpSpPr>
          <p:cNvPr id="31" name="Group 31"/>
          <p:cNvGrpSpPr/>
          <p:nvPr/>
        </p:nvGrpSpPr>
        <p:grpSpPr>
          <a:xfrm>
            <a:off x="4343400" y="3752850"/>
            <a:ext cx="2882313" cy="1162050"/>
            <a:chOff x="4343400" y="3752850"/>
            <a:chExt cx="2882313" cy="1162050"/>
          </a:xfrm>
        </p:grpSpPr>
        <p:sp>
          <p:nvSpPr>
            <p:cNvPr id="24" name="Rectangle 24"/>
            <p:cNvSpPr/>
            <p:nvPr/>
          </p:nvSpPr>
          <p:spPr>
            <a:xfrm>
              <a:off x="4343400" y="3752850"/>
              <a:ext cx="2686050" cy="1162050"/>
            </a:xfrm>
            <a:prstGeom prst="roundRect">
              <a:avLst>
                <a:gd name="adj" fmla="val 4918"/>
              </a:avLst>
            </a:prstGeom>
            <a:solidFill>
              <a:srgbClr val="111827"/>
            </a:solidFill>
            <a:ln w="9525">
              <a:solidFill>
                <a:srgbClr val="2A3A52"/>
              </a:solidFill>
            </a:ln>
          </p:spPr>
        </p:sp>
        <p:grpSp>
          <p:nvGrpSpPr>
            <p:cNvPr id="28" name="Group 28"/>
            <p:cNvGrpSpPr/>
            <p:nvPr/>
          </p:nvGrpSpPr>
          <p:grpSpPr>
            <a:xfrm>
              <a:off x="4591050" y="4006501"/>
              <a:ext cx="419100" cy="366712"/>
              <a:chOff x="4591050" y="4006501"/>
              <a:chExt cx="419100" cy="366712"/>
            </a:xfrm>
          </p:grpSpPr>
          <p:sp>
            <p:nvSpPr>
              <p:cNvPr id="25" name="Freeform 25"/>
              <p:cNvSpPr/>
              <p:nvPr/>
            </p:nvSpPr>
            <p:spPr>
              <a:xfrm>
                <a:off x="4591050" y="4006501"/>
                <a:ext cx="104775" cy="366712"/>
              </a:xfrm>
              <a:custGeom>
                <a:avLst/>
                <a:gdLst/>
                <a:ahLst/>
                <a:cxnLst/>
                <a:rect l="l" t="t" r="r" b="b"/>
                <a:pathLst>
                  <a:path w="104775" h="366712">
                    <a:moveTo>
                      <a:pt x="104775" y="26194"/>
                    </a:moveTo>
                    <a:lnTo>
                      <a:pt x="0" y="0"/>
                    </a:lnTo>
                    <a:lnTo>
                      <a:pt x="0" y="340519"/>
                    </a:lnTo>
                    <a:lnTo>
                      <a:pt x="104775" y="366712"/>
                    </a:lnTo>
                    <a:lnTo>
                      <a:pt x="104775" y="26194"/>
                    </a:lnTo>
                    <a:close/>
                  </a:path>
                </a:pathLst>
              </a:custGeom>
              <a:solidFill>
                <a:srgbClr val="7DD3FC"/>
              </a:solidFill>
              <a:ln>
                <a:noFill/>
              </a:ln>
            </p:spPr>
          </p:sp>
          <p:sp>
            <p:nvSpPr>
              <p:cNvPr id="26" name="Freeform 26"/>
              <p:cNvSpPr/>
              <p:nvPr/>
            </p:nvSpPr>
            <p:spPr>
              <a:xfrm>
                <a:off x="4905375" y="4006501"/>
                <a:ext cx="104775" cy="366712"/>
              </a:xfrm>
              <a:custGeom>
                <a:avLst/>
                <a:gdLst/>
                <a:ahLst/>
                <a:cxnLst/>
                <a:rect l="l" t="t" r="r" b="b"/>
                <a:pathLst>
                  <a:path w="104775" h="366712">
                    <a:moveTo>
                      <a:pt x="104775" y="26194"/>
                    </a:moveTo>
                    <a:lnTo>
                      <a:pt x="0" y="0"/>
                    </a:lnTo>
                    <a:lnTo>
                      <a:pt x="0" y="340519"/>
                    </a:lnTo>
                    <a:lnTo>
                      <a:pt x="104775" y="366712"/>
                    </a:lnTo>
                    <a:lnTo>
                      <a:pt x="104775" y="26194"/>
                    </a:lnTo>
                    <a:close/>
                  </a:path>
                </a:pathLst>
              </a:custGeom>
              <a:solidFill>
                <a:srgbClr val="7DD3FC"/>
              </a:solidFill>
              <a:ln>
                <a:noFill/>
              </a:ln>
            </p:spPr>
          </p:sp>
          <p:sp>
            <p:nvSpPr>
              <p:cNvPr id="27" name="Freeform 27"/>
              <p:cNvSpPr/>
              <p:nvPr/>
            </p:nvSpPr>
            <p:spPr>
              <a:xfrm>
                <a:off x="4748212" y="4006501"/>
                <a:ext cx="104775" cy="366712"/>
              </a:xfrm>
              <a:custGeom>
                <a:avLst/>
                <a:gdLst/>
                <a:ahLst/>
                <a:cxnLst/>
                <a:rect l="l" t="t" r="r" b="b"/>
                <a:pathLst>
                  <a:path w="104775" h="366712">
                    <a:moveTo>
                      <a:pt x="104775" y="0"/>
                    </a:moveTo>
                    <a:lnTo>
                      <a:pt x="0" y="26194"/>
                    </a:lnTo>
                    <a:lnTo>
                      <a:pt x="0" y="366712"/>
                    </a:lnTo>
                    <a:lnTo>
                      <a:pt x="104775" y="340519"/>
                    </a:lnTo>
                    <a:lnTo>
                      <a:pt x="104775" y="0"/>
                    </a:lnTo>
                    <a:close/>
                  </a:path>
                </a:pathLst>
              </a:custGeom>
              <a:solidFill>
                <a:srgbClr val="7DD3FC"/>
              </a:solidFill>
              <a:ln>
                <a:noFill/>
              </a:ln>
            </p:spPr>
          </p:sp>
        </p:grpSp>
        <p:sp>
          <p:nvSpPr>
            <p:cNvPr id="29" name="TextBox 29"/>
            <p:cNvSpPr txBox="1"/>
            <p:nvPr/>
          </p:nvSpPr>
          <p:spPr>
            <a:xfrm>
              <a:off x="5170170" y="4062412"/>
              <a:ext cx="1506545" cy="440055"/>
            </a:xfrm>
            <a:prstGeom prst="rect">
              <a:avLst/>
            </a:prstGeom>
            <a:noFill/>
            <a:ln>
              <a:noFill/>
            </a:ln>
          </p:spPr>
          <p:txBody>
            <a:bodyPr wrap="none" lIns="0" tIns="0" rIns="0" bIns="0" anchor="t" anchorCtr="0">
              <a:spAutoFit/>
            </a:bodyPr>
            <a:lstStyle/>
            <a:p>
              <a:pPr algn="l"/>
              <a:r>
                <a:rPr lang="en-US" sz="2250" b="1" dirty="0">
                  <a:solidFill>
                    <a:srgbClr val="F8FAFC"/>
                  </a:solidFill>
                  <a:latin typeface="Arial"/>
                  <a:ea typeface="Arial"/>
                  <a:cs typeface="Arial"/>
                </a:rPr>
                <a:t>MapAgent</a:t>
              </a:r>
            </a:p>
          </p:txBody>
        </p:sp>
        <p:sp>
          <p:nvSpPr>
            <p:cNvPr id="30" name="TextBox 30"/>
            <p:cNvSpPr txBox="1"/>
            <p:nvPr/>
          </p:nvSpPr>
          <p:spPr>
            <a:xfrm>
              <a:off x="4500801" y="4576248"/>
              <a:ext cx="2724912"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复用通勤规划和地?MCP 能力</a:t>
              </a:r>
            </a:p>
          </p:txBody>
        </p:sp>
      </p:grpSp>
      <p:grpSp>
        <p:nvGrpSpPr>
          <p:cNvPr id="36" name="Group 36"/>
          <p:cNvGrpSpPr/>
          <p:nvPr/>
        </p:nvGrpSpPr>
        <p:grpSpPr>
          <a:xfrm>
            <a:off x="7429500" y="3752850"/>
            <a:ext cx="2848185" cy="1162050"/>
            <a:chOff x="7429500" y="3752850"/>
            <a:chExt cx="2848185" cy="1162050"/>
          </a:xfrm>
        </p:grpSpPr>
        <p:sp>
          <p:nvSpPr>
            <p:cNvPr id="32" name="Rectangle 32"/>
            <p:cNvSpPr/>
            <p:nvPr/>
          </p:nvSpPr>
          <p:spPr>
            <a:xfrm>
              <a:off x="7429500" y="3752850"/>
              <a:ext cx="2686050" cy="1162050"/>
            </a:xfrm>
            <a:prstGeom prst="roundRect">
              <a:avLst>
                <a:gd name="adj" fmla="val 4918"/>
              </a:avLst>
            </a:prstGeom>
            <a:solidFill>
              <a:srgbClr val="111827"/>
            </a:solidFill>
            <a:ln w="9525">
              <a:solidFill>
                <a:srgbClr val="2A3A52"/>
              </a:solidFill>
            </a:ln>
          </p:spPr>
        </p:sp>
        <p:sp>
          <p:nvSpPr>
            <p:cNvPr id="33" name="Freeform 33"/>
            <p:cNvSpPr/>
            <p:nvPr/>
          </p:nvSpPr>
          <p:spPr>
            <a:xfrm>
              <a:off x="7677150" y="4076700"/>
              <a:ext cx="419100" cy="419100"/>
            </a:xfrm>
            <a:custGeom>
              <a:avLst/>
              <a:gdLst/>
              <a:ahLst/>
              <a:cxnLst/>
              <a:rect l="l" t="t" r="r" b="b"/>
              <a:pathLst>
                <a:path w="419100" h="419100">
                  <a:moveTo>
                    <a:pt x="235744" y="0"/>
                  </a:moveTo>
                  <a:lnTo>
                    <a:pt x="235744" y="104775"/>
                  </a:lnTo>
                  <a:lnTo>
                    <a:pt x="163507" y="104775"/>
                  </a:lnTo>
                  <a:cubicBezTo>
                    <a:pt x="176045" y="123505"/>
                    <a:pt x="183356" y="146028"/>
                    <a:pt x="183356" y="170259"/>
                  </a:cubicBezTo>
                  <a:lnTo>
                    <a:pt x="183356" y="288131"/>
                  </a:lnTo>
                  <a:lnTo>
                    <a:pt x="130969" y="288131"/>
                  </a:lnTo>
                  <a:lnTo>
                    <a:pt x="130969" y="170259"/>
                  </a:lnTo>
                  <a:cubicBezTo>
                    <a:pt x="130969" y="134093"/>
                    <a:pt x="101650" y="104775"/>
                    <a:pt x="65484" y="104775"/>
                  </a:cubicBezTo>
                  <a:cubicBezTo>
                    <a:pt x="29318" y="104775"/>
                    <a:pt x="0" y="134093"/>
                    <a:pt x="0" y="170259"/>
                  </a:cubicBezTo>
                  <a:lnTo>
                    <a:pt x="0" y="340519"/>
                  </a:lnTo>
                  <a:lnTo>
                    <a:pt x="183356" y="340519"/>
                  </a:lnTo>
                  <a:lnTo>
                    <a:pt x="183356" y="419100"/>
                  </a:lnTo>
                  <a:lnTo>
                    <a:pt x="235744" y="419100"/>
                  </a:lnTo>
                  <a:lnTo>
                    <a:pt x="235744" y="340519"/>
                  </a:lnTo>
                  <a:lnTo>
                    <a:pt x="419100" y="340519"/>
                  </a:lnTo>
                  <a:lnTo>
                    <a:pt x="419100" y="170259"/>
                  </a:lnTo>
                  <a:cubicBezTo>
                    <a:pt x="419100" y="134093"/>
                    <a:pt x="389781" y="104775"/>
                    <a:pt x="353616" y="104775"/>
                  </a:cubicBezTo>
                  <a:lnTo>
                    <a:pt x="288131" y="104775"/>
                  </a:lnTo>
                  <a:lnTo>
                    <a:pt x="288131" y="52388"/>
                  </a:lnTo>
                  <a:lnTo>
                    <a:pt x="340519" y="52388"/>
                  </a:lnTo>
                  <a:lnTo>
                    <a:pt x="340519" y="0"/>
                  </a:lnTo>
                  <a:lnTo>
                    <a:pt x="235744" y="0"/>
                  </a:lnTo>
                  <a:close/>
                </a:path>
              </a:pathLst>
            </a:custGeom>
            <a:solidFill>
              <a:srgbClr val="F59E0B"/>
            </a:solidFill>
            <a:ln>
              <a:noFill/>
            </a:ln>
          </p:spPr>
        </p:sp>
        <p:sp>
          <p:nvSpPr>
            <p:cNvPr id="34" name="TextBox 34"/>
            <p:cNvSpPr txBox="1"/>
            <p:nvPr/>
          </p:nvSpPr>
          <p:spPr>
            <a:xfrm>
              <a:off x="8256270" y="4062412"/>
              <a:ext cx="1647143"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通信 Agent</a:t>
              </a:r>
            </a:p>
          </p:txBody>
        </p:sp>
        <p:sp>
          <p:nvSpPr>
            <p:cNvPr id="35" name="TextBox 35"/>
            <p:cNvSpPr txBox="1"/>
            <p:nvPr/>
          </p:nvSpPr>
          <p:spPr>
            <a:xfrm>
              <a:off x="7435425" y="4576248"/>
              <a:ext cx="284226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复用邮件工具、草稿生成与白名</a:t>
              </a:r>
            </a:p>
          </p:txBody>
        </p:sp>
      </p:grpSp>
      <p:grpSp>
        <p:nvGrpSpPr>
          <p:cNvPr id="43" name="Group 43"/>
          <p:cNvGrpSpPr/>
          <p:nvPr/>
        </p:nvGrpSpPr>
        <p:grpSpPr>
          <a:xfrm>
            <a:off x="10572750" y="2076450"/>
            <a:ext cx="1085850" cy="2552700"/>
            <a:chOff x="10572750" y="2076450"/>
            <a:chExt cx="1085850" cy="2552700"/>
          </a:xfrm>
        </p:grpSpPr>
        <p:sp>
          <p:nvSpPr>
            <p:cNvPr id="37" name="Rectangle 37"/>
            <p:cNvSpPr/>
            <p:nvPr/>
          </p:nvSpPr>
          <p:spPr>
            <a:xfrm>
              <a:off x="10572750" y="2076450"/>
              <a:ext cx="1085850" cy="781050"/>
            </a:xfrm>
            <a:prstGeom prst="roundRect">
              <a:avLst>
                <a:gd name="adj" fmla="val 7317"/>
              </a:avLst>
            </a:prstGeom>
            <a:solidFill>
              <a:srgbClr val="111827"/>
            </a:solidFill>
            <a:ln w="9525">
              <a:solidFill>
                <a:srgbClr val="2A3A52"/>
              </a:solidFill>
            </a:ln>
          </p:spPr>
        </p:sp>
        <p:sp>
          <p:nvSpPr>
            <p:cNvPr id="38" name="TextBox 38"/>
            <p:cNvSpPr txBox="1"/>
            <p:nvPr/>
          </p:nvSpPr>
          <p:spPr>
            <a:xfrm>
              <a:off x="10874064" y="2222182"/>
              <a:ext cx="483222"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地图</a:t>
              </a:r>
            </a:p>
          </p:txBody>
        </p:sp>
        <p:sp>
          <p:nvSpPr>
            <p:cNvPr id="39" name="TextBox 39"/>
            <p:cNvSpPr txBox="1"/>
            <p:nvPr/>
          </p:nvSpPr>
          <p:spPr>
            <a:xfrm>
              <a:off x="10951693" y="2537460"/>
              <a:ext cx="327965" cy="234696"/>
            </a:xfrm>
            <a:prstGeom prst="rect">
              <a:avLst/>
            </a:prstGeom>
            <a:noFill/>
            <a:ln>
              <a:noFill/>
            </a:ln>
          </p:spPr>
          <p:txBody>
            <a:bodyPr wrap="none" lIns="0" tIns="0" rIns="0" bIns="0" anchor="t" anchorCtr="0">
              <a:spAutoFit/>
            </a:bodyPr>
            <a:lstStyle/>
            <a:p>
              <a:pPr algn="ctr"/>
              <a:r>
                <a:rPr lang="en-US" sz="1200" dirty="0">
                  <a:solidFill>
                    <a:srgbClr val="7DD3FC"/>
                  </a:solidFill>
                  <a:latin typeface="Consolas"/>
                  <a:ea typeface="Consolas"/>
                  <a:cs typeface="Consolas"/>
                </a:rPr>
                <a:t>MCP</a:t>
              </a:r>
            </a:p>
          </p:txBody>
        </p:sp>
        <p:sp>
          <p:nvSpPr>
            <p:cNvPr id="40" name="Rectangle 40"/>
            <p:cNvSpPr/>
            <p:nvPr/>
          </p:nvSpPr>
          <p:spPr>
            <a:xfrm>
              <a:off x="10572750" y="3848100"/>
              <a:ext cx="1085850" cy="781050"/>
            </a:xfrm>
            <a:prstGeom prst="roundRect">
              <a:avLst>
                <a:gd name="adj" fmla="val 7317"/>
              </a:avLst>
            </a:prstGeom>
            <a:solidFill>
              <a:srgbClr val="111827"/>
            </a:solidFill>
            <a:ln w="9525">
              <a:solidFill>
                <a:srgbClr val="2A3A52"/>
              </a:solidFill>
            </a:ln>
          </p:spPr>
        </p:sp>
        <p:sp>
          <p:nvSpPr>
            <p:cNvPr id="41" name="TextBox 41"/>
            <p:cNvSpPr txBox="1"/>
            <p:nvPr/>
          </p:nvSpPr>
          <p:spPr>
            <a:xfrm>
              <a:off x="10874064" y="3993832"/>
              <a:ext cx="483222"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邮件</a:t>
              </a:r>
            </a:p>
          </p:txBody>
        </p:sp>
        <p:sp>
          <p:nvSpPr>
            <p:cNvPr id="42" name="TextBox 42"/>
            <p:cNvSpPr txBox="1"/>
            <p:nvPr/>
          </p:nvSpPr>
          <p:spPr>
            <a:xfrm>
              <a:off x="10943158" y="4309110"/>
              <a:ext cx="345034" cy="234696"/>
            </a:xfrm>
            <a:prstGeom prst="rect">
              <a:avLst/>
            </a:prstGeom>
            <a:noFill/>
            <a:ln>
              <a:noFill/>
            </a:ln>
          </p:spPr>
          <p:txBody>
            <a:bodyPr wrap="none" lIns="0" tIns="0" rIns="0" bIns="0" anchor="t" anchorCtr="0">
              <a:spAutoFit/>
            </a:bodyPr>
            <a:lstStyle/>
            <a:p>
              <a:pPr algn="ctr"/>
              <a:r>
                <a:rPr lang="en-US" sz="1200" dirty="0">
                  <a:solidFill>
                    <a:srgbClr val="F59E0B"/>
                  </a:solidFill>
                  <a:latin typeface="Consolas"/>
                  <a:ea typeface="Consolas"/>
                  <a:cs typeface="Consolas"/>
                </a:rPr>
                <a:t>HITL</a:t>
              </a:r>
            </a:p>
          </p:txBody>
        </p:sp>
      </p:grpSp>
      <p:grpSp>
        <p:nvGrpSpPr>
          <p:cNvPr id="49" name="Group 49"/>
          <p:cNvGrpSpPr/>
          <p:nvPr/>
        </p:nvGrpSpPr>
        <p:grpSpPr>
          <a:xfrm>
            <a:off x="3162300" y="2371725"/>
            <a:ext cx="7410450" cy="1962150"/>
            <a:chOff x="3162300" y="2371725"/>
            <a:chExt cx="7410450" cy="1962150"/>
          </a:xfrm>
        </p:grpSpPr>
        <p:sp>
          <p:nvSpPr>
            <p:cNvPr id="44" name="Line 44"/>
            <p:cNvSpPr/>
            <p:nvPr/>
          </p:nvSpPr>
          <p:spPr>
            <a:xfrm flipV="1">
              <a:off x="3162300" y="2371725"/>
              <a:ext cx="1181100" cy="962025"/>
            </a:xfrm>
            <a:prstGeom prst="line">
              <a:avLst/>
            </a:prstGeom>
            <a:noFill/>
            <a:ln w="23812">
              <a:solidFill>
                <a:srgbClr val="7DD3FC"/>
              </a:solidFill>
              <a:tailEnd type="triangle" w="lg" len="lg"/>
            </a:ln>
          </p:spPr>
        </p:sp>
        <p:sp>
          <p:nvSpPr>
            <p:cNvPr id="45" name="Line 45"/>
            <p:cNvSpPr/>
            <p:nvPr/>
          </p:nvSpPr>
          <p:spPr>
            <a:xfrm flipH="1">
              <a:off x="5686425" y="2952750"/>
              <a:ext cx="409575" cy="800100"/>
            </a:xfrm>
            <a:prstGeom prst="line">
              <a:avLst/>
            </a:prstGeom>
            <a:noFill/>
            <a:ln w="23812">
              <a:solidFill>
                <a:srgbClr val="7DD3FC"/>
              </a:solidFill>
              <a:tailEnd type="triangle" w="lg" len="lg"/>
            </a:ln>
          </p:spPr>
        </p:sp>
        <p:sp>
          <p:nvSpPr>
            <p:cNvPr id="46" name="Line 46"/>
            <p:cNvSpPr/>
            <p:nvPr/>
          </p:nvSpPr>
          <p:spPr>
            <a:xfrm>
              <a:off x="6648450" y="2952750"/>
              <a:ext cx="1657350" cy="800100"/>
            </a:xfrm>
            <a:prstGeom prst="line">
              <a:avLst/>
            </a:prstGeom>
            <a:noFill/>
            <a:ln w="23812">
              <a:solidFill>
                <a:srgbClr val="F59E0B"/>
              </a:solidFill>
              <a:tailEnd type="triangle" w="lg" len="lg"/>
            </a:ln>
          </p:spPr>
        </p:sp>
        <p:sp>
          <p:nvSpPr>
            <p:cNvPr id="47" name="Line 47"/>
            <p:cNvSpPr/>
            <p:nvPr/>
          </p:nvSpPr>
          <p:spPr>
            <a:xfrm flipV="1">
              <a:off x="7029450" y="2466975"/>
              <a:ext cx="3543300" cy="1866900"/>
            </a:xfrm>
            <a:prstGeom prst="line">
              <a:avLst/>
            </a:prstGeom>
            <a:noFill/>
            <a:ln w="19050">
              <a:solidFill>
                <a:srgbClr val="7DD3FC"/>
              </a:solidFill>
              <a:prstDash val="lgDash"/>
              <a:tailEnd type="triangle" w="lg" len="lg"/>
            </a:ln>
          </p:spPr>
        </p:sp>
        <p:sp>
          <p:nvSpPr>
            <p:cNvPr id="48" name="Line 48"/>
            <p:cNvSpPr/>
            <p:nvPr/>
          </p:nvSpPr>
          <p:spPr>
            <a:xfrm flipV="1">
              <a:off x="10115550" y="4238625"/>
              <a:ext cx="457200" cy="95250"/>
            </a:xfrm>
            <a:prstGeom prst="line">
              <a:avLst/>
            </a:prstGeom>
            <a:noFill/>
            <a:ln w="19050">
              <a:solidFill>
                <a:srgbClr val="F59E0B"/>
              </a:solidFill>
              <a:prstDash val="lgDash"/>
              <a:tailEnd type="triangle" w="lg" len="lg"/>
            </a:ln>
          </p:spPr>
        </p:sp>
      </p:grpSp>
      <p:grpSp>
        <p:nvGrpSpPr>
          <p:cNvPr id="53" name="Group 53"/>
          <p:cNvGrpSpPr/>
          <p:nvPr/>
        </p:nvGrpSpPr>
        <p:grpSpPr>
          <a:xfrm>
            <a:off x="3543300" y="5314950"/>
            <a:ext cx="7263087" cy="628650"/>
            <a:chOff x="3543300" y="5314950"/>
            <a:chExt cx="7263087" cy="628650"/>
          </a:xfrm>
        </p:grpSpPr>
        <p:sp>
          <p:nvSpPr>
            <p:cNvPr id="50" name="Rectangle 50"/>
            <p:cNvSpPr/>
            <p:nvPr/>
          </p:nvSpPr>
          <p:spPr>
            <a:xfrm>
              <a:off x="3543300" y="5314950"/>
              <a:ext cx="5105400" cy="628650"/>
            </a:xfrm>
            <a:prstGeom prst="roundRect">
              <a:avLst>
                <a:gd name="adj" fmla="val 9091"/>
              </a:avLst>
            </a:prstGeom>
            <a:solidFill>
              <a:srgbClr val="111827"/>
            </a:solidFill>
            <a:ln w="9525">
              <a:solidFill>
                <a:srgbClr val="F59E0B"/>
              </a:solidFill>
            </a:ln>
          </p:spPr>
        </p:sp>
        <p:sp>
          <p:nvSpPr>
            <p:cNvPr id="51" name="Freeform 51"/>
            <p:cNvSpPr/>
            <p:nvPr/>
          </p:nvSpPr>
          <p:spPr>
            <a:xfrm>
              <a:off x="3774281" y="5457825"/>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F59E0B"/>
            </a:solidFill>
            <a:ln>
              <a:noFill/>
            </a:ln>
          </p:spPr>
        </p:sp>
        <p:sp>
          <p:nvSpPr>
            <p:cNvPr id="52" name="TextBox 52"/>
            <p:cNvSpPr txBox="1"/>
            <p:nvPr/>
          </p:nvSpPr>
          <p:spPr>
            <a:xfrm>
              <a:off x="4219194" y="5494972"/>
              <a:ext cx="6587193"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高风险动作不自动执行：邮件发送前进入 HITL 确认</a:t>
              </a:r>
            </a:p>
          </p:txBody>
        </p:sp>
      </p:grpSp>
      <p:sp>
        <p:nvSpPr>
          <p:cNvPr id="54" name="TextBox 54"/>
          <p:cNvSpPr txBox="1"/>
          <p:nvPr/>
        </p:nvSpPr>
        <p:spPr>
          <a:xfrm>
            <a:off x="527304" y="6309360"/>
            <a:ext cx="6275656"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P12 ?client-server flow adaptation ?Source: Agent 系统介绍演讲?+ 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slide(fromBottom)">
                                      <p:cBhvr>
                                        <p:cTn id="15" dur="400"/>
                                        <p:tgtEl>
                                          <p:spTgt spid="3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slide(fromBottom)">
                                      <p:cBhvr>
                                        <p:cTn id="19" dur="400"/>
                                        <p:tgtEl>
                                          <p:spTgt spid="36"/>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400"/>
                                        <p:tgtEl>
                                          <p:spTgt spid="43"/>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400"/>
                                        <p:tgtEl>
                                          <p:spTgt spid="49"/>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31" grpId="0"/>
      <p:bldP spid="36" grpId="0"/>
      <p:bldP spid="43" grpId="0"/>
      <p:bldP spid="49" grpId="0"/>
      <p:bldP spid="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33400" y="1314450"/>
              <a:ext cx="11125200" cy="4572000"/>
            </a:xfrm>
            <a:custGeom>
              <a:avLst/>
              <a:gdLst/>
              <a:ahLst/>
              <a:cxnLst/>
              <a:rect l="l" t="t" r="r" b="b"/>
              <a:pathLst>
                <a:path w="11125200" h="4572000">
                  <a:moveTo>
                    <a:pt x="0" y="0"/>
                  </a:moveTo>
                  <a:lnTo>
                    <a:pt x="11125200" y="0"/>
                  </a:lnTo>
                  <a:moveTo>
                    <a:pt x="0" y="914400"/>
                  </a:moveTo>
                  <a:lnTo>
                    <a:pt x="11125200" y="914400"/>
                  </a:lnTo>
                  <a:moveTo>
                    <a:pt x="0" y="1828800"/>
                  </a:moveTo>
                  <a:lnTo>
                    <a:pt x="11125200" y="1828800"/>
                  </a:lnTo>
                  <a:moveTo>
                    <a:pt x="0" y="2743200"/>
                  </a:moveTo>
                  <a:lnTo>
                    <a:pt x="11125200" y="2743200"/>
                  </a:lnTo>
                  <a:moveTo>
                    <a:pt x="0" y="3657600"/>
                  </a:moveTo>
                  <a:lnTo>
                    <a:pt x="11125200" y="3657600"/>
                  </a:lnTo>
                  <a:moveTo>
                    <a:pt x="0" y="4572000"/>
                  </a:moveTo>
                  <a:lnTo>
                    <a:pt x="11125200" y="4572000"/>
                  </a:lnTo>
                </a:path>
              </a:pathLst>
            </a:custGeom>
            <a:solidFill>
              <a:srgbClr val="000000"/>
            </a:solidFill>
            <a:ln w="9525">
              <a:solidFill>
                <a:srgbClr val="1C2A3D"/>
              </a:solidFill>
              <a:prstDash val="lgDash"/>
            </a:ln>
          </p:spPr>
        </p:sp>
      </p:grpSp>
      <p:grpSp>
        <p:nvGrpSpPr>
          <p:cNvPr id="7" name="Group 7"/>
          <p:cNvGrpSpPr/>
          <p:nvPr/>
        </p:nvGrpSpPr>
        <p:grpSpPr>
          <a:xfrm>
            <a:off x="514350" y="264795"/>
            <a:ext cx="9960940" cy="946594"/>
            <a:chOff x="514350" y="264795"/>
            <a:chExt cx="9960940" cy="946594"/>
          </a:xfrm>
        </p:grpSpPr>
        <p:sp>
          <p:nvSpPr>
            <p:cNvPr id="5" name="TextBox 5"/>
            <p:cNvSpPr txBox="1"/>
            <p:nvPr/>
          </p:nvSpPr>
          <p:spPr>
            <a:xfrm>
              <a:off x="514350" y="264795"/>
              <a:ext cx="9960940"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文档、接口模型和测试沉淀让交付可复查</a:t>
              </a:r>
            </a:p>
          </p:txBody>
        </p:sp>
        <p:sp>
          <p:nvSpPr>
            <p:cNvPr id="6" name="TextBox 6"/>
            <p:cNvSpPr txBox="1"/>
            <p:nvPr/>
          </p:nvSpPr>
          <p:spPr>
            <a:xfrm>
              <a:off x="544068" y="888682"/>
              <a:ext cx="712470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交付物覆盖需求设计模型接口迭代计划测试和协议规范，验收证据链完整</a:t>
              </a:r>
            </a:p>
          </p:txBody>
        </p:sp>
      </p:grpSp>
      <p:grpSp>
        <p:nvGrpSpPr>
          <p:cNvPr id="18" name="Group 18"/>
          <p:cNvGrpSpPr/>
          <p:nvPr/>
        </p:nvGrpSpPr>
        <p:grpSpPr>
          <a:xfrm>
            <a:off x="552450" y="1428750"/>
            <a:ext cx="11087100" cy="4095750"/>
            <a:chOff x="552450" y="1428750"/>
            <a:chExt cx="11087100" cy="4095750"/>
          </a:xfrm>
        </p:grpSpPr>
        <p:sp>
          <p:nvSpPr>
            <p:cNvPr id="8" name="Rectangle 8"/>
            <p:cNvSpPr/>
            <p:nvPr/>
          </p:nvSpPr>
          <p:spPr>
            <a:xfrm>
              <a:off x="552450" y="1428750"/>
              <a:ext cx="11087100" cy="4095750"/>
            </a:xfrm>
            <a:prstGeom prst="roundRect">
              <a:avLst>
                <a:gd name="adj" fmla="val 1395"/>
              </a:avLst>
            </a:prstGeom>
            <a:solidFill>
              <a:srgbClr val="111827"/>
            </a:solidFill>
            <a:ln w="9525">
              <a:solidFill>
                <a:srgbClr val="2A3A52"/>
              </a:solidFill>
            </a:ln>
          </p:spPr>
        </p:sp>
        <p:sp>
          <p:nvSpPr>
            <p:cNvPr id="9" name="Rectangle 9"/>
            <p:cNvSpPr/>
            <p:nvPr/>
          </p:nvSpPr>
          <p:spPr>
            <a:xfrm>
              <a:off x="552450" y="1428750"/>
              <a:ext cx="11087100" cy="533400"/>
            </a:xfrm>
            <a:prstGeom prst="roundRect">
              <a:avLst>
                <a:gd name="adj" fmla="val 10714"/>
              </a:avLst>
            </a:prstGeom>
            <a:solidFill>
              <a:srgbClr val="111827"/>
            </a:solidFill>
            <a:ln w="9525">
              <a:solidFill>
                <a:srgbClr val="2A3A52"/>
              </a:solidFill>
            </a:ln>
          </p:spPr>
        </p:sp>
        <p:sp>
          <p:nvSpPr>
            <p:cNvPr id="10" name="TextBox 10"/>
            <p:cNvSpPr txBox="1"/>
            <p:nvPr/>
          </p:nvSpPr>
          <p:spPr>
            <a:xfrm>
              <a:off x="829056" y="1577340"/>
              <a:ext cx="527152"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交付</a:t>
              </a:r>
            </a:p>
          </p:txBody>
        </p:sp>
        <p:sp>
          <p:nvSpPr>
            <p:cNvPr id="11" name="TextBox 11"/>
            <p:cNvSpPr txBox="1"/>
            <p:nvPr/>
          </p:nvSpPr>
          <p:spPr>
            <a:xfrm>
              <a:off x="2619756" y="1577340"/>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核心资产</a:t>
              </a:r>
            </a:p>
          </p:txBody>
        </p:sp>
        <p:sp>
          <p:nvSpPr>
            <p:cNvPr id="12" name="TextBox 12"/>
            <p:cNvSpPr txBox="1"/>
            <p:nvPr/>
          </p:nvSpPr>
          <p:spPr>
            <a:xfrm>
              <a:off x="7648956" y="1577340"/>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验收价值</a:t>
              </a:r>
            </a:p>
          </p:txBody>
        </p:sp>
        <p:sp>
          <p:nvSpPr>
            <p:cNvPr id="13" name="TextBox 13"/>
            <p:cNvSpPr txBox="1"/>
            <p:nvPr/>
          </p:nvSpPr>
          <p:spPr>
            <a:xfrm>
              <a:off x="10732637" y="1591113"/>
              <a:ext cx="527152" cy="352044"/>
            </a:xfrm>
            <a:prstGeom prst="rect">
              <a:avLst/>
            </a:prstGeom>
            <a:noFill/>
            <a:ln>
              <a:noFill/>
            </a:ln>
          </p:spPr>
          <p:txBody>
            <a:bodyPr wrap="none" lIns="0" tIns="0" rIns="0" bIns="0" anchor="t" anchorCtr="0">
              <a:spAutoFit/>
            </a:bodyPr>
            <a:lstStyle/>
            <a:p>
              <a:pPr algn="ctr"/>
              <a:r>
                <a:rPr lang="zh-CN" sz="1800" b="1" dirty="0">
                  <a:solidFill>
                    <a:srgbClr val="7DD3FC"/>
                  </a:solidFill>
                  <a:latin typeface="Arial"/>
                  <a:ea typeface="Microsoft YaHei"/>
                  <a:cs typeface="Arial"/>
                </a:rPr>
                <a:t>状态</a:t>
              </a:r>
            </a:p>
          </p:txBody>
        </p:sp>
        <p:sp>
          <p:nvSpPr>
            <p:cNvPr id="14" name="Line 14"/>
            <p:cNvSpPr/>
            <p:nvPr/>
          </p:nvSpPr>
          <p:spPr>
            <a:xfrm>
              <a:off x="2362200" y="1428750"/>
              <a:ext cx="9525" cy="4095750"/>
            </a:xfrm>
            <a:custGeom>
              <a:avLst/>
              <a:gdLst/>
              <a:ahLst/>
              <a:cxnLst/>
              <a:rect l="l" t="t" r="r" b="b"/>
              <a:pathLst>
                <a:path w="9525" h="4095750">
                  <a:moveTo>
                    <a:pt x="0" y="0"/>
                  </a:moveTo>
                  <a:lnTo>
                    <a:pt x="0" y="4095750"/>
                  </a:lnTo>
                </a:path>
              </a:pathLst>
            </a:custGeom>
            <a:noFill/>
            <a:ln w="9525">
              <a:solidFill>
                <a:srgbClr val="2A3A52"/>
              </a:solidFill>
            </a:ln>
          </p:spPr>
        </p:sp>
        <p:sp>
          <p:nvSpPr>
            <p:cNvPr id="15" name="Line 15"/>
            <p:cNvSpPr/>
            <p:nvPr/>
          </p:nvSpPr>
          <p:spPr>
            <a:xfrm>
              <a:off x="7391400" y="1428750"/>
              <a:ext cx="9525" cy="4095750"/>
            </a:xfrm>
            <a:custGeom>
              <a:avLst/>
              <a:gdLst/>
              <a:ahLst/>
              <a:cxnLst/>
              <a:rect l="l" t="t" r="r" b="b"/>
              <a:pathLst>
                <a:path w="9525" h="4095750">
                  <a:moveTo>
                    <a:pt x="0" y="0"/>
                  </a:moveTo>
                  <a:lnTo>
                    <a:pt x="0" y="4095750"/>
                  </a:lnTo>
                </a:path>
              </a:pathLst>
            </a:custGeom>
            <a:noFill/>
            <a:ln w="9525">
              <a:solidFill>
                <a:srgbClr val="2A3A52"/>
              </a:solidFill>
            </a:ln>
          </p:spPr>
        </p:sp>
        <p:sp>
          <p:nvSpPr>
            <p:cNvPr id="16" name="Line 16"/>
            <p:cNvSpPr/>
            <p:nvPr/>
          </p:nvSpPr>
          <p:spPr>
            <a:xfrm>
              <a:off x="10325100" y="1428750"/>
              <a:ext cx="9525" cy="4095750"/>
            </a:xfrm>
            <a:custGeom>
              <a:avLst/>
              <a:gdLst/>
              <a:ahLst/>
              <a:cxnLst/>
              <a:rect l="l" t="t" r="r" b="b"/>
              <a:pathLst>
                <a:path w="9525" h="4095750">
                  <a:moveTo>
                    <a:pt x="0" y="0"/>
                  </a:moveTo>
                  <a:lnTo>
                    <a:pt x="0" y="4095750"/>
                  </a:lnTo>
                </a:path>
              </a:pathLst>
            </a:custGeom>
            <a:noFill/>
            <a:ln w="9525">
              <a:solidFill>
                <a:srgbClr val="2A3A52"/>
              </a:solidFill>
            </a:ln>
          </p:spPr>
        </p:sp>
        <p:sp>
          <p:nvSpPr>
            <p:cNvPr id="17" name="Freeform 17"/>
            <p:cNvSpPr/>
            <p:nvPr/>
          </p:nvSpPr>
          <p:spPr>
            <a:xfrm>
              <a:off x="552450" y="2552700"/>
              <a:ext cx="11087100" cy="2362200"/>
            </a:xfrm>
            <a:custGeom>
              <a:avLst/>
              <a:gdLst/>
              <a:ahLst/>
              <a:cxnLst/>
              <a:rect l="l" t="t" r="r" b="b"/>
              <a:pathLst>
                <a:path w="11087100" h="2362200">
                  <a:moveTo>
                    <a:pt x="0" y="0"/>
                  </a:moveTo>
                  <a:lnTo>
                    <a:pt x="11087100" y="0"/>
                  </a:lnTo>
                  <a:moveTo>
                    <a:pt x="0" y="590550"/>
                  </a:moveTo>
                  <a:lnTo>
                    <a:pt x="11087100" y="590550"/>
                  </a:lnTo>
                  <a:moveTo>
                    <a:pt x="0" y="1181100"/>
                  </a:moveTo>
                  <a:lnTo>
                    <a:pt x="11087100" y="1181100"/>
                  </a:lnTo>
                  <a:moveTo>
                    <a:pt x="0" y="1771650"/>
                  </a:moveTo>
                  <a:lnTo>
                    <a:pt x="11087100" y="1771650"/>
                  </a:lnTo>
                  <a:moveTo>
                    <a:pt x="0" y="2362200"/>
                  </a:moveTo>
                  <a:lnTo>
                    <a:pt x="11087100" y="2362200"/>
                  </a:lnTo>
                </a:path>
              </a:pathLst>
            </a:custGeom>
            <a:solidFill>
              <a:srgbClr val="000000"/>
            </a:solidFill>
            <a:ln w="9525">
              <a:solidFill>
                <a:srgbClr val="2A3A52"/>
              </a:solidFill>
            </a:ln>
          </p:spPr>
        </p:sp>
      </p:grpSp>
      <p:grpSp>
        <p:nvGrpSpPr>
          <p:cNvPr id="24" name="Group 24"/>
          <p:cNvGrpSpPr/>
          <p:nvPr/>
        </p:nvGrpSpPr>
        <p:grpSpPr>
          <a:xfrm>
            <a:off x="838200" y="2151698"/>
            <a:ext cx="11217097" cy="381381"/>
            <a:chOff x="838200" y="2151698"/>
            <a:chExt cx="11217097" cy="381381"/>
          </a:xfrm>
        </p:grpSpPr>
        <p:sp>
          <p:nvSpPr>
            <p:cNvPr id="19" name="Freeform 19"/>
            <p:cNvSpPr/>
            <p:nvPr/>
          </p:nvSpPr>
          <p:spPr>
            <a:xfrm>
              <a:off x="838200" y="2155031"/>
              <a:ext cx="323850" cy="263128"/>
            </a:xfrm>
            <a:custGeom>
              <a:avLst/>
              <a:gdLst/>
              <a:ahLst/>
              <a:cxnLst/>
              <a:rect l="l" t="t" r="r" b="b"/>
              <a:pathLst>
                <a:path w="323850" h="263128">
                  <a:moveTo>
                    <a:pt x="0" y="0"/>
                  </a:moveTo>
                  <a:lnTo>
                    <a:pt x="72579" y="0"/>
                  </a:lnTo>
                  <a:cubicBezTo>
                    <a:pt x="90907" y="0"/>
                    <a:pt x="108484" y="7281"/>
                    <a:pt x="121444" y="20241"/>
                  </a:cubicBezTo>
                  <a:cubicBezTo>
                    <a:pt x="134404" y="33200"/>
                    <a:pt x="141684" y="50778"/>
                    <a:pt x="141684" y="69106"/>
                  </a:cubicBezTo>
                  <a:lnTo>
                    <a:pt x="141684" y="182166"/>
                  </a:lnTo>
                  <a:lnTo>
                    <a:pt x="182166" y="182166"/>
                  </a:lnTo>
                  <a:lnTo>
                    <a:pt x="182166" y="69106"/>
                  </a:lnTo>
                  <a:cubicBezTo>
                    <a:pt x="182166" y="50778"/>
                    <a:pt x="189446" y="33200"/>
                    <a:pt x="202406" y="20241"/>
                  </a:cubicBezTo>
                  <a:cubicBezTo>
                    <a:pt x="215366" y="7281"/>
                    <a:pt x="232943" y="0"/>
                    <a:pt x="251271" y="0"/>
                  </a:cubicBezTo>
                  <a:lnTo>
                    <a:pt x="323850" y="0"/>
                  </a:lnTo>
                  <a:lnTo>
                    <a:pt x="323850" y="222647"/>
                  </a:lnTo>
                  <a:lnTo>
                    <a:pt x="222647" y="222647"/>
                  </a:lnTo>
                  <a:lnTo>
                    <a:pt x="182166" y="263128"/>
                  </a:lnTo>
                  <a:lnTo>
                    <a:pt x="141684" y="263128"/>
                  </a:lnTo>
                  <a:lnTo>
                    <a:pt x="101203" y="222647"/>
                  </a:lnTo>
                  <a:lnTo>
                    <a:pt x="0" y="222647"/>
                  </a:lnTo>
                  <a:lnTo>
                    <a:pt x="0" y="0"/>
                  </a:lnTo>
                  <a:close/>
                </a:path>
              </a:pathLst>
            </a:custGeom>
            <a:solidFill>
              <a:srgbClr val="7DD3FC"/>
            </a:solidFill>
            <a:ln>
              <a:noFill/>
            </a:ln>
          </p:spPr>
        </p:sp>
        <p:sp>
          <p:nvSpPr>
            <p:cNvPr id="20" name="TextBox 20"/>
            <p:cNvSpPr txBox="1"/>
            <p:nvPr/>
          </p:nvSpPr>
          <p:spPr>
            <a:xfrm>
              <a:off x="1285494" y="2151698"/>
              <a:ext cx="1397984"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霢求与迭代</a:t>
              </a:r>
            </a:p>
          </p:txBody>
        </p:sp>
        <p:sp>
          <p:nvSpPr>
            <p:cNvPr id="21" name="TextBox 21"/>
            <p:cNvSpPr txBox="1"/>
            <p:nvPr/>
          </p:nvSpPr>
          <p:spPr>
            <a:xfrm>
              <a:off x="2620518" y="2184082"/>
              <a:ext cx="413714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v1.0 ?v2.3 霢求架构说明迭代结与下版规</a:t>
              </a:r>
            </a:p>
          </p:txBody>
        </p:sp>
        <p:sp>
          <p:nvSpPr>
            <p:cNvPr id="22" name="TextBox 22"/>
            <p:cNvSpPr txBox="1"/>
            <p:nvPr/>
          </p:nvSpPr>
          <p:spPr>
            <a:xfrm>
              <a:off x="7649718" y="2184082"/>
              <a:ext cx="440557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证明范围边界清晰，不?MVP 写成通用平台</a:t>
              </a:r>
            </a:p>
          </p:txBody>
        </p:sp>
        <p:sp>
          <p:nvSpPr>
            <p:cNvPr id="23" name="TextBox 23"/>
            <p:cNvSpPr txBox="1"/>
            <p:nvPr/>
          </p:nvSpPr>
          <p:spPr>
            <a:xfrm>
              <a:off x="10594924" y="216789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33" name="Group 33"/>
          <p:cNvGrpSpPr/>
          <p:nvPr/>
        </p:nvGrpSpPr>
        <p:grpSpPr>
          <a:xfrm>
            <a:off x="878681" y="2705100"/>
            <a:ext cx="10341769" cy="418529"/>
            <a:chOff x="878681" y="2705100"/>
            <a:chExt cx="10341769" cy="418529"/>
          </a:xfrm>
        </p:grpSpPr>
        <p:grpSp>
          <p:nvGrpSpPr>
            <p:cNvPr id="28" name="Group 28"/>
            <p:cNvGrpSpPr/>
            <p:nvPr/>
          </p:nvGrpSpPr>
          <p:grpSpPr>
            <a:xfrm>
              <a:off x="878681" y="2705100"/>
              <a:ext cx="242888" cy="323850"/>
              <a:chOff x="878681" y="2705100"/>
              <a:chExt cx="242888" cy="323850"/>
            </a:xfrm>
          </p:grpSpPr>
          <p:sp>
            <p:nvSpPr>
              <p:cNvPr id="25" name="Freeform 25"/>
              <p:cNvSpPr/>
              <p:nvPr/>
            </p:nvSpPr>
            <p:spPr>
              <a:xfrm>
                <a:off x="878681" y="2834640"/>
                <a:ext cx="242888" cy="93107"/>
              </a:xfrm>
              <a:custGeom>
                <a:avLst/>
                <a:gdLst/>
                <a:ahLst/>
                <a:cxnLst/>
                <a:rect l="l" t="t" r="r" b="b"/>
                <a:pathLst>
                  <a:path w="242888" h="93107">
                    <a:moveTo>
                      <a:pt x="225422" y="10326"/>
                    </a:moveTo>
                    <a:cubicBezTo>
                      <a:pt x="231116" y="7479"/>
                      <a:pt x="237064" y="4044"/>
                      <a:pt x="242888" y="0"/>
                    </a:cubicBezTo>
                    <a:lnTo>
                      <a:pt x="242888" y="32385"/>
                    </a:lnTo>
                    <a:cubicBezTo>
                      <a:pt x="242888" y="65920"/>
                      <a:pt x="188515" y="93107"/>
                      <a:pt x="121444" y="93107"/>
                    </a:cubicBezTo>
                    <a:cubicBezTo>
                      <a:pt x="54372" y="93107"/>
                      <a:pt x="0" y="65920"/>
                      <a:pt x="0" y="32385"/>
                    </a:cubicBezTo>
                    <a:lnTo>
                      <a:pt x="0" y="0"/>
                    </a:lnTo>
                    <a:cubicBezTo>
                      <a:pt x="5824" y="4044"/>
                      <a:pt x="11772" y="7479"/>
                      <a:pt x="17466" y="10326"/>
                    </a:cubicBezTo>
                    <a:cubicBezTo>
                      <a:pt x="46168" y="24677"/>
                      <a:pt x="82986" y="32385"/>
                      <a:pt x="121444" y="32385"/>
                    </a:cubicBezTo>
                    <a:cubicBezTo>
                      <a:pt x="159901" y="32385"/>
                      <a:pt x="196719" y="24677"/>
                      <a:pt x="225422" y="10326"/>
                    </a:cubicBezTo>
                    <a:close/>
                  </a:path>
                </a:pathLst>
              </a:custGeom>
              <a:solidFill>
                <a:srgbClr val="8B5CF6"/>
              </a:solidFill>
              <a:ln>
                <a:noFill/>
              </a:ln>
            </p:spPr>
          </p:sp>
          <p:sp>
            <p:nvSpPr>
              <p:cNvPr id="26" name="Freeform 26"/>
              <p:cNvSpPr/>
              <p:nvPr/>
            </p:nvSpPr>
            <p:spPr>
              <a:xfrm>
                <a:off x="878681" y="2935843"/>
                <a:ext cx="242888" cy="93107"/>
              </a:xfrm>
              <a:custGeom>
                <a:avLst/>
                <a:gdLst/>
                <a:ahLst/>
                <a:cxnLst/>
                <a:rect l="l" t="t" r="r" b="b"/>
                <a:pathLst>
                  <a:path w="242888" h="93107">
                    <a:moveTo>
                      <a:pt x="0" y="0"/>
                    </a:moveTo>
                    <a:lnTo>
                      <a:pt x="0" y="32385"/>
                    </a:lnTo>
                    <a:cubicBezTo>
                      <a:pt x="0" y="65922"/>
                      <a:pt x="54372" y="93107"/>
                      <a:pt x="121444" y="93107"/>
                    </a:cubicBezTo>
                    <a:cubicBezTo>
                      <a:pt x="188515" y="93107"/>
                      <a:pt x="242888" y="65922"/>
                      <a:pt x="242888" y="32385"/>
                    </a:cubicBezTo>
                    <a:lnTo>
                      <a:pt x="242888" y="0"/>
                    </a:lnTo>
                    <a:cubicBezTo>
                      <a:pt x="237064" y="4044"/>
                      <a:pt x="231116" y="7479"/>
                      <a:pt x="225422" y="10327"/>
                    </a:cubicBezTo>
                    <a:cubicBezTo>
                      <a:pt x="196719" y="24677"/>
                      <a:pt x="159901" y="32385"/>
                      <a:pt x="121444" y="32385"/>
                    </a:cubicBezTo>
                    <a:cubicBezTo>
                      <a:pt x="82986" y="32385"/>
                      <a:pt x="46168" y="24677"/>
                      <a:pt x="17466" y="10327"/>
                    </a:cubicBezTo>
                    <a:cubicBezTo>
                      <a:pt x="11772" y="7479"/>
                      <a:pt x="5824" y="4044"/>
                      <a:pt x="0" y="0"/>
                    </a:cubicBezTo>
                    <a:close/>
                  </a:path>
                </a:pathLst>
              </a:custGeom>
              <a:solidFill>
                <a:srgbClr val="8B5CF6"/>
              </a:solidFill>
              <a:ln>
                <a:noFill/>
              </a:ln>
            </p:spPr>
          </p:sp>
          <p:sp>
            <p:nvSpPr>
              <p:cNvPr id="27" name="Freeform 27"/>
              <p:cNvSpPr/>
              <p:nvPr/>
            </p:nvSpPr>
            <p:spPr>
              <a:xfrm>
                <a:off x="878681" y="2705100"/>
                <a:ext cx="242888" cy="121444"/>
              </a:xfrm>
              <a:custGeom>
                <a:avLst/>
                <a:gdLst/>
                <a:ahLst/>
                <a:cxnLst/>
                <a:rect l="l" t="t" r="r" b="b"/>
                <a:pathLst>
                  <a:path w="242888" h="121444">
                    <a:moveTo>
                      <a:pt x="121444" y="0"/>
                    </a:moveTo>
                    <a:cubicBezTo>
                      <a:pt x="188515" y="0"/>
                      <a:pt x="242888" y="27186"/>
                      <a:pt x="242888" y="60722"/>
                    </a:cubicBezTo>
                    <a:cubicBezTo>
                      <a:pt x="242888" y="94258"/>
                      <a:pt x="188515" y="121444"/>
                      <a:pt x="121444" y="121444"/>
                    </a:cubicBezTo>
                    <a:cubicBezTo>
                      <a:pt x="54372" y="121444"/>
                      <a:pt x="0" y="94258"/>
                      <a:pt x="0" y="60722"/>
                    </a:cubicBezTo>
                    <a:cubicBezTo>
                      <a:pt x="0" y="27186"/>
                      <a:pt x="54372" y="0"/>
                      <a:pt x="121444" y="0"/>
                    </a:cubicBezTo>
                    <a:close/>
                  </a:path>
                </a:pathLst>
              </a:custGeom>
              <a:solidFill>
                <a:srgbClr val="8B5CF6"/>
              </a:solidFill>
              <a:ln>
                <a:noFill/>
              </a:ln>
            </p:spPr>
          </p:sp>
        </p:grpSp>
        <p:sp>
          <p:nvSpPr>
            <p:cNvPr id="29" name="TextBox 29"/>
            <p:cNvSpPr txBox="1"/>
            <p:nvPr/>
          </p:nvSpPr>
          <p:spPr>
            <a:xfrm>
              <a:off x="1285494" y="274224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数据模型</a:t>
              </a:r>
            </a:p>
          </p:txBody>
        </p:sp>
        <p:sp>
          <p:nvSpPr>
            <p:cNvPr id="30" name="TextBox 30"/>
            <p:cNvSpPr txBox="1"/>
            <p:nvPr/>
          </p:nvSpPr>
          <p:spPr>
            <a:xfrm>
              <a:off x="2621280" y="2790825"/>
              <a:ext cx="5543862" cy="293370"/>
            </a:xfrm>
            <a:prstGeom prst="rect">
              <a:avLst/>
            </a:prstGeom>
            <a:noFill/>
            <a:ln>
              <a:noFill/>
            </a:ln>
          </p:spPr>
          <p:txBody>
            <a:bodyPr wrap="none" lIns="0" tIns="0" rIns="0" bIns="0" anchor="t" anchorCtr="0">
              <a:spAutoFit/>
            </a:bodyPr>
            <a:lstStyle/>
            <a:p>
              <a:pPr algn="l"/>
              <a:r>
                <a:rPr lang="en-US" sz="1500" dirty="0">
                  <a:solidFill>
                    <a:srgbClr val="B6C2D2"/>
                  </a:solidFill>
                  <a:latin typeface="Consolas"/>
                  <a:ea typeface="Consolas"/>
                  <a:cs typeface="Consolas"/>
                </a:rPr>
                <a:t>AgentTask / AgentFeedback / TalkSession / TalkMessage</a:t>
              </a:r>
            </a:p>
          </p:txBody>
        </p:sp>
        <p:sp>
          <p:nvSpPr>
            <p:cNvPr id="31" name="TextBox 31"/>
            <p:cNvSpPr txBox="1"/>
            <p:nvPr/>
          </p:nvSpPr>
          <p:spPr>
            <a:xfrm>
              <a:off x="7649718" y="2774632"/>
              <a:ext cx="357073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任务、反馈历史对话可落表、可追踪</a:t>
              </a:r>
            </a:p>
          </p:txBody>
        </p:sp>
        <p:sp>
          <p:nvSpPr>
            <p:cNvPr id="32" name="TextBox 32"/>
            <p:cNvSpPr txBox="1"/>
            <p:nvPr/>
          </p:nvSpPr>
          <p:spPr>
            <a:xfrm>
              <a:off x="10594924" y="275844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41" name="Group 41"/>
          <p:cNvGrpSpPr/>
          <p:nvPr/>
        </p:nvGrpSpPr>
        <p:grpSpPr>
          <a:xfrm>
            <a:off x="838200" y="3332798"/>
            <a:ext cx="10283876" cy="381381"/>
            <a:chOff x="838200" y="3332798"/>
            <a:chExt cx="10283876" cy="381381"/>
          </a:xfrm>
        </p:grpSpPr>
        <p:grpSp>
          <p:nvGrpSpPr>
            <p:cNvPr id="36" name="Group 36"/>
            <p:cNvGrpSpPr/>
            <p:nvPr/>
          </p:nvGrpSpPr>
          <p:grpSpPr>
            <a:xfrm>
              <a:off x="838200" y="3336131"/>
              <a:ext cx="323850" cy="242888"/>
              <a:chOff x="838200" y="3336131"/>
              <a:chExt cx="323850" cy="242888"/>
            </a:xfrm>
          </p:grpSpPr>
          <p:sp>
            <p:nvSpPr>
              <p:cNvPr id="34" name="Freeform 34"/>
              <p:cNvSpPr/>
              <p:nvPr/>
            </p:nvSpPr>
            <p:spPr>
              <a:xfrm>
                <a:off x="838200" y="3336131"/>
                <a:ext cx="323850" cy="101203"/>
              </a:xfrm>
              <a:custGeom>
                <a:avLst/>
                <a:gdLst/>
                <a:ahLst/>
                <a:cxnLst/>
                <a:rect l="l" t="t" r="r" b="b"/>
                <a:pathLst>
                  <a:path w="323850" h="101203">
                    <a:moveTo>
                      <a:pt x="323850" y="0"/>
                    </a:moveTo>
                    <a:lnTo>
                      <a:pt x="0" y="0"/>
                    </a:lnTo>
                    <a:lnTo>
                      <a:pt x="0" y="101203"/>
                    </a:lnTo>
                    <a:lnTo>
                      <a:pt x="323850" y="101203"/>
                    </a:lnTo>
                    <a:lnTo>
                      <a:pt x="323850" y="0"/>
                    </a:lnTo>
                    <a:close/>
                    <a:moveTo>
                      <a:pt x="80962" y="50602"/>
                    </a:moveTo>
                    <a:cubicBezTo>
                      <a:pt x="80962" y="61780"/>
                      <a:pt x="71900" y="70842"/>
                      <a:pt x="60722" y="70842"/>
                    </a:cubicBezTo>
                    <a:cubicBezTo>
                      <a:pt x="49543" y="70842"/>
                      <a:pt x="40481" y="61780"/>
                      <a:pt x="40481" y="50602"/>
                    </a:cubicBezTo>
                    <a:cubicBezTo>
                      <a:pt x="40481" y="39423"/>
                      <a:pt x="49543" y="30361"/>
                      <a:pt x="60722" y="30361"/>
                    </a:cubicBezTo>
                    <a:cubicBezTo>
                      <a:pt x="71900" y="30361"/>
                      <a:pt x="80962" y="39423"/>
                      <a:pt x="80962" y="50602"/>
                    </a:cubicBezTo>
                    <a:close/>
                  </a:path>
                </a:pathLst>
              </a:custGeom>
              <a:solidFill>
                <a:srgbClr val="F59E0B"/>
              </a:solidFill>
              <a:ln>
                <a:noFill/>
              </a:ln>
            </p:spPr>
          </p:sp>
          <p:sp>
            <p:nvSpPr>
              <p:cNvPr id="35" name="Freeform 35"/>
              <p:cNvSpPr/>
              <p:nvPr/>
            </p:nvSpPr>
            <p:spPr>
              <a:xfrm>
                <a:off x="838200" y="3477816"/>
                <a:ext cx="323850" cy="101203"/>
              </a:xfrm>
              <a:custGeom>
                <a:avLst/>
                <a:gdLst/>
                <a:ahLst/>
                <a:cxnLst/>
                <a:rect l="l" t="t" r="r" b="b"/>
                <a:pathLst>
                  <a:path w="323850" h="101203">
                    <a:moveTo>
                      <a:pt x="323850" y="0"/>
                    </a:moveTo>
                    <a:lnTo>
                      <a:pt x="0" y="0"/>
                    </a:lnTo>
                    <a:lnTo>
                      <a:pt x="0" y="101203"/>
                    </a:lnTo>
                    <a:lnTo>
                      <a:pt x="323850" y="101203"/>
                    </a:lnTo>
                    <a:lnTo>
                      <a:pt x="323850" y="0"/>
                    </a:lnTo>
                    <a:close/>
                    <a:moveTo>
                      <a:pt x="60722" y="70842"/>
                    </a:moveTo>
                    <a:cubicBezTo>
                      <a:pt x="71900" y="70842"/>
                      <a:pt x="80962" y="61780"/>
                      <a:pt x="80962" y="50602"/>
                    </a:cubicBezTo>
                    <a:cubicBezTo>
                      <a:pt x="80962" y="39423"/>
                      <a:pt x="71900" y="30361"/>
                      <a:pt x="60722" y="30361"/>
                    </a:cubicBezTo>
                    <a:cubicBezTo>
                      <a:pt x="49543" y="30361"/>
                      <a:pt x="40481" y="39423"/>
                      <a:pt x="40481" y="50602"/>
                    </a:cubicBezTo>
                    <a:cubicBezTo>
                      <a:pt x="40481" y="61780"/>
                      <a:pt x="49543" y="70842"/>
                      <a:pt x="60722" y="70842"/>
                    </a:cubicBezTo>
                    <a:close/>
                  </a:path>
                </a:pathLst>
              </a:custGeom>
              <a:solidFill>
                <a:srgbClr val="F59E0B"/>
              </a:solidFill>
              <a:ln>
                <a:noFill/>
              </a:ln>
            </p:spPr>
          </p:sp>
        </p:grpSp>
        <p:sp>
          <p:nvSpPr>
            <p:cNvPr id="37" name="TextBox 37"/>
            <p:cNvSpPr txBox="1"/>
            <p:nvPr/>
          </p:nvSpPr>
          <p:spPr>
            <a:xfrm>
              <a:off x="1285494" y="333279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接口清单</a:t>
              </a:r>
            </a:p>
          </p:txBody>
        </p:sp>
        <p:sp>
          <p:nvSpPr>
            <p:cNvPr id="38" name="TextBox 38"/>
            <p:cNvSpPr txBox="1"/>
            <p:nvPr/>
          </p:nvSpPr>
          <p:spPr>
            <a:xfrm>
              <a:off x="2621280" y="3381375"/>
              <a:ext cx="5144262" cy="293370"/>
            </a:xfrm>
            <a:prstGeom prst="rect">
              <a:avLst/>
            </a:prstGeom>
            <a:noFill/>
            <a:ln>
              <a:noFill/>
            </a:ln>
          </p:spPr>
          <p:txBody>
            <a:bodyPr wrap="none" lIns="0" tIns="0" rIns="0" bIns="0" anchor="t" anchorCtr="0">
              <a:spAutoFit/>
            </a:bodyPr>
            <a:lstStyle/>
            <a:p>
              <a:pPr algn="l"/>
              <a:r>
                <a:rPr lang="en-US" sz="1500" dirty="0">
                  <a:solidFill>
                    <a:srgbClr val="B6C2D2"/>
                  </a:solidFill>
                  <a:latin typeface="Consolas"/>
                  <a:ea typeface="Consolas"/>
                  <a:cs typeface="Consolas"/>
                </a:rPr>
                <a:t>chat / stream / confirm / feedback / admin / health</a:t>
              </a:r>
            </a:p>
          </p:txBody>
        </p:sp>
        <p:sp>
          <p:nvSpPr>
            <p:cNvPr id="39" name="TextBox 39"/>
            <p:cNvSpPr txBox="1"/>
            <p:nvPr/>
          </p:nvSpPr>
          <p:spPr>
            <a:xfrm>
              <a:off x="7649718" y="3365182"/>
              <a:ext cx="312648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前后端边界和运营入口均可复查</a:t>
              </a:r>
            </a:p>
          </p:txBody>
        </p:sp>
        <p:sp>
          <p:nvSpPr>
            <p:cNvPr id="40" name="TextBox 40"/>
            <p:cNvSpPr txBox="1"/>
            <p:nvPr/>
          </p:nvSpPr>
          <p:spPr>
            <a:xfrm>
              <a:off x="10594924" y="334899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47" name="Group 47"/>
          <p:cNvGrpSpPr/>
          <p:nvPr/>
        </p:nvGrpSpPr>
        <p:grpSpPr>
          <a:xfrm>
            <a:off x="838200" y="3886200"/>
            <a:ext cx="10283876" cy="418529"/>
            <a:chOff x="838200" y="3886200"/>
            <a:chExt cx="10283876" cy="418529"/>
          </a:xfrm>
        </p:grpSpPr>
        <p:sp>
          <p:nvSpPr>
            <p:cNvPr id="42" name="Freeform 42"/>
            <p:cNvSpPr/>
            <p:nvPr/>
          </p:nvSpPr>
          <p:spPr>
            <a:xfrm>
              <a:off x="838200" y="3886200"/>
              <a:ext cx="323850" cy="323850"/>
            </a:xfrm>
            <a:custGeom>
              <a:avLst/>
              <a:gdLst/>
              <a:ahLst/>
              <a:cxnLst/>
              <a:rect l="l" t="t" r="r" b="b"/>
              <a:pathLst>
                <a:path w="323850" h="323850">
                  <a:moveTo>
                    <a:pt x="161925" y="323850"/>
                  </a:moveTo>
                  <a:cubicBezTo>
                    <a:pt x="251354" y="323850"/>
                    <a:pt x="323850" y="251354"/>
                    <a:pt x="323850" y="161925"/>
                  </a:cubicBezTo>
                  <a:cubicBezTo>
                    <a:pt x="323850" y="72496"/>
                    <a:pt x="251354" y="0"/>
                    <a:pt x="161925" y="0"/>
                  </a:cubicBezTo>
                  <a:cubicBezTo>
                    <a:pt x="72496" y="0"/>
                    <a:pt x="0" y="72496"/>
                    <a:pt x="0" y="161925"/>
                  </a:cubicBezTo>
                  <a:cubicBezTo>
                    <a:pt x="0" y="251354"/>
                    <a:pt x="72496" y="323850"/>
                    <a:pt x="161925" y="323850"/>
                  </a:cubicBezTo>
                  <a:close/>
                  <a:moveTo>
                    <a:pt x="257200" y="115515"/>
                  </a:moveTo>
                  <a:lnTo>
                    <a:pt x="228575" y="86891"/>
                  </a:lnTo>
                  <a:lnTo>
                    <a:pt x="131564" y="183902"/>
                  </a:lnTo>
                  <a:lnTo>
                    <a:pt x="95275" y="147613"/>
                  </a:lnTo>
                  <a:lnTo>
                    <a:pt x="66650" y="176237"/>
                  </a:lnTo>
                  <a:lnTo>
                    <a:pt x="131564" y="241151"/>
                  </a:lnTo>
                  <a:lnTo>
                    <a:pt x="257200" y="115515"/>
                  </a:lnTo>
                  <a:close/>
                </a:path>
              </a:pathLst>
            </a:custGeom>
            <a:solidFill>
              <a:srgbClr val="22C55E"/>
            </a:solidFill>
            <a:ln>
              <a:noFill/>
            </a:ln>
          </p:spPr>
        </p:sp>
        <p:sp>
          <p:nvSpPr>
            <p:cNvPr id="43" name="TextBox 43"/>
            <p:cNvSpPr txBox="1"/>
            <p:nvPr/>
          </p:nvSpPr>
          <p:spPr>
            <a:xfrm>
              <a:off x="1285494" y="392334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测试文档</a:t>
              </a:r>
            </a:p>
          </p:txBody>
        </p:sp>
        <p:sp>
          <p:nvSpPr>
            <p:cNvPr id="44" name="TextBox 44"/>
            <p:cNvSpPr txBox="1"/>
            <p:nvPr/>
          </p:nvSpPr>
          <p:spPr>
            <a:xfrm>
              <a:off x="2620518" y="3955732"/>
              <a:ext cx="673253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36 份测试数据与回归说明，覆盖反馈监控HITL、MCP、Supervisor</a:t>
              </a:r>
            </a:p>
          </p:txBody>
        </p:sp>
        <p:sp>
          <p:nvSpPr>
            <p:cNvPr id="45" name="TextBox 45"/>
            <p:cNvSpPr txBox="1"/>
            <p:nvPr/>
          </p:nvSpPr>
          <p:spPr>
            <a:xfrm>
              <a:off x="7649718" y="3955732"/>
              <a:ext cx="248232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从能运行”推进到“能回归</a:t>
              </a:r>
            </a:p>
          </p:txBody>
        </p:sp>
        <p:sp>
          <p:nvSpPr>
            <p:cNvPr id="46" name="TextBox 46"/>
            <p:cNvSpPr txBox="1"/>
            <p:nvPr/>
          </p:nvSpPr>
          <p:spPr>
            <a:xfrm>
              <a:off x="10594924" y="393954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55" name="Group 55"/>
          <p:cNvGrpSpPr/>
          <p:nvPr/>
        </p:nvGrpSpPr>
        <p:grpSpPr>
          <a:xfrm>
            <a:off x="858441" y="4476750"/>
            <a:ext cx="10362009" cy="418529"/>
            <a:chOff x="858441" y="4476750"/>
            <a:chExt cx="10362009" cy="418529"/>
          </a:xfrm>
        </p:grpSpPr>
        <p:grpSp>
          <p:nvGrpSpPr>
            <p:cNvPr id="50" name="Group 50"/>
            <p:cNvGrpSpPr/>
            <p:nvPr/>
          </p:nvGrpSpPr>
          <p:grpSpPr>
            <a:xfrm>
              <a:off x="858441" y="4476750"/>
              <a:ext cx="283368" cy="323850"/>
              <a:chOff x="858441" y="4476750"/>
              <a:chExt cx="283368" cy="323850"/>
            </a:xfrm>
          </p:grpSpPr>
          <p:sp>
            <p:nvSpPr>
              <p:cNvPr id="48" name="Freeform 48"/>
              <p:cNvSpPr/>
              <p:nvPr/>
            </p:nvSpPr>
            <p:spPr>
              <a:xfrm>
                <a:off x="939403" y="4476750"/>
                <a:ext cx="202406" cy="242888"/>
              </a:xfrm>
              <a:custGeom>
                <a:avLst/>
                <a:gdLst/>
                <a:ahLst/>
                <a:cxnLst/>
                <a:rect l="l" t="t" r="r" b="b"/>
                <a:pathLst>
                  <a:path w="202406" h="242888">
                    <a:moveTo>
                      <a:pt x="121444" y="0"/>
                    </a:moveTo>
                    <a:lnTo>
                      <a:pt x="0" y="0"/>
                    </a:lnTo>
                    <a:lnTo>
                      <a:pt x="0" y="242888"/>
                    </a:lnTo>
                    <a:lnTo>
                      <a:pt x="202406" y="242888"/>
                    </a:lnTo>
                    <a:lnTo>
                      <a:pt x="202406" y="80962"/>
                    </a:lnTo>
                    <a:lnTo>
                      <a:pt x="121444" y="0"/>
                    </a:lnTo>
                    <a:close/>
                  </a:path>
                </a:pathLst>
              </a:custGeom>
              <a:solidFill>
                <a:srgbClr val="7DD3FC"/>
              </a:solidFill>
              <a:ln>
                <a:noFill/>
              </a:ln>
            </p:spPr>
          </p:sp>
          <p:sp>
            <p:nvSpPr>
              <p:cNvPr id="49" name="Freeform 49"/>
              <p:cNvSpPr/>
              <p:nvPr/>
            </p:nvSpPr>
            <p:spPr>
              <a:xfrm>
                <a:off x="858441" y="4557712"/>
                <a:ext cx="202406" cy="242888"/>
              </a:xfrm>
              <a:custGeom>
                <a:avLst/>
                <a:gdLst/>
                <a:ahLst/>
                <a:cxnLst/>
                <a:rect l="l" t="t" r="r" b="b"/>
                <a:pathLst>
                  <a:path w="202406" h="242888">
                    <a:moveTo>
                      <a:pt x="0" y="0"/>
                    </a:moveTo>
                    <a:lnTo>
                      <a:pt x="0" y="242888"/>
                    </a:lnTo>
                    <a:lnTo>
                      <a:pt x="202406" y="242888"/>
                    </a:lnTo>
                    <a:lnTo>
                      <a:pt x="202406" y="202406"/>
                    </a:lnTo>
                    <a:lnTo>
                      <a:pt x="40481" y="202406"/>
                    </a:lnTo>
                    <a:lnTo>
                      <a:pt x="40481" y="0"/>
                    </a:lnTo>
                    <a:lnTo>
                      <a:pt x="0" y="0"/>
                    </a:lnTo>
                    <a:close/>
                  </a:path>
                </a:pathLst>
              </a:custGeom>
              <a:solidFill>
                <a:srgbClr val="7DD3FC"/>
              </a:solidFill>
              <a:ln>
                <a:noFill/>
              </a:ln>
            </p:spPr>
          </p:sp>
        </p:grpSp>
        <p:sp>
          <p:nvSpPr>
            <p:cNvPr id="51" name="TextBox 51"/>
            <p:cNvSpPr txBox="1"/>
            <p:nvPr/>
          </p:nvSpPr>
          <p:spPr>
            <a:xfrm>
              <a:off x="1285494" y="451389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协议规范</a:t>
              </a:r>
            </a:p>
          </p:txBody>
        </p:sp>
        <p:sp>
          <p:nvSpPr>
            <p:cNvPr id="52" name="TextBox 52"/>
            <p:cNvSpPr txBox="1"/>
            <p:nvPr/>
          </p:nvSpPr>
          <p:spPr>
            <a:xfrm>
              <a:off x="2620518" y="4546282"/>
              <a:ext cx="438498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Agent 卡片协议、接入改造设计AI 执行规范</a:t>
              </a:r>
            </a:p>
          </p:txBody>
        </p:sp>
        <p:sp>
          <p:nvSpPr>
            <p:cNvPr id="53" name="TextBox 53"/>
            <p:cNvSpPr txBox="1"/>
            <p:nvPr/>
          </p:nvSpPr>
          <p:spPr>
            <a:xfrm>
              <a:off x="7649718" y="4546282"/>
              <a:ext cx="357073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结构化展示和工具接入具备统一语言</a:t>
              </a:r>
            </a:p>
          </p:txBody>
        </p:sp>
        <p:sp>
          <p:nvSpPr>
            <p:cNvPr id="54" name="TextBox 54"/>
            <p:cNvSpPr txBox="1"/>
            <p:nvPr/>
          </p:nvSpPr>
          <p:spPr>
            <a:xfrm>
              <a:off x="10594924" y="453009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61" name="Group 61"/>
          <p:cNvGrpSpPr/>
          <p:nvPr/>
        </p:nvGrpSpPr>
        <p:grpSpPr>
          <a:xfrm>
            <a:off x="878681" y="5067300"/>
            <a:ext cx="10786015" cy="418529"/>
            <a:chOff x="878681" y="5067300"/>
            <a:chExt cx="10786015" cy="418529"/>
          </a:xfrm>
        </p:grpSpPr>
        <p:sp>
          <p:nvSpPr>
            <p:cNvPr id="56" name="Freeform 56"/>
            <p:cNvSpPr/>
            <p:nvPr/>
          </p:nvSpPr>
          <p:spPr>
            <a:xfrm>
              <a:off x="878681" y="5067300"/>
              <a:ext cx="242888" cy="323850"/>
            </a:xfrm>
            <a:custGeom>
              <a:avLst/>
              <a:gdLst/>
              <a:ahLst/>
              <a:cxnLst/>
              <a:rect l="l" t="t" r="r" b="b"/>
              <a:pathLst>
                <a:path w="242888" h="323850">
                  <a:moveTo>
                    <a:pt x="141684" y="141684"/>
                  </a:moveTo>
                  <a:lnTo>
                    <a:pt x="161925" y="0"/>
                  </a:lnTo>
                  <a:lnTo>
                    <a:pt x="121444" y="0"/>
                  </a:lnTo>
                  <a:lnTo>
                    <a:pt x="0" y="141684"/>
                  </a:lnTo>
                  <a:lnTo>
                    <a:pt x="0" y="182166"/>
                  </a:lnTo>
                  <a:lnTo>
                    <a:pt x="101203" y="182166"/>
                  </a:lnTo>
                  <a:lnTo>
                    <a:pt x="80962" y="323850"/>
                  </a:lnTo>
                  <a:lnTo>
                    <a:pt x="121444" y="323850"/>
                  </a:lnTo>
                  <a:lnTo>
                    <a:pt x="242888" y="182166"/>
                  </a:lnTo>
                  <a:lnTo>
                    <a:pt x="242888" y="141684"/>
                  </a:lnTo>
                  <a:lnTo>
                    <a:pt x="141684" y="141684"/>
                  </a:lnTo>
                  <a:close/>
                </a:path>
              </a:pathLst>
            </a:custGeom>
            <a:solidFill>
              <a:srgbClr val="F59E0B"/>
            </a:solidFill>
            <a:ln>
              <a:noFill/>
            </a:ln>
          </p:spPr>
        </p:sp>
        <p:sp>
          <p:nvSpPr>
            <p:cNvPr id="57" name="TextBox 57"/>
            <p:cNvSpPr txBox="1"/>
            <p:nvPr/>
          </p:nvSpPr>
          <p:spPr>
            <a:xfrm>
              <a:off x="1285494" y="510444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工程验证</a:t>
              </a:r>
            </a:p>
          </p:txBody>
        </p:sp>
        <p:sp>
          <p:nvSpPr>
            <p:cNvPr id="58" name="TextBox 58"/>
            <p:cNvSpPr txBox="1"/>
            <p:nvPr/>
          </p:nvSpPr>
          <p:spPr>
            <a:xfrm>
              <a:off x="2621280" y="5153025"/>
              <a:ext cx="4478089" cy="293370"/>
            </a:xfrm>
            <a:prstGeom prst="rect">
              <a:avLst/>
            </a:prstGeom>
            <a:noFill/>
            <a:ln>
              <a:noFill/>
            </a:ln>
          </p:spPr>
          <p:txBody>
            <a:bodyPr wrap="none" lIns="0" tIns="0" rIns="0" bIns="0" anchor="t" anchorCtr="0">
              <a:spAutoFit/>
            </a:bodyPr>
            <a:lstStyle/>
            <a:p>
              <a:pPr algn="l"/>
              <a:r>
                <a:rPr lang="en-US" sz="1500" dirty="0">
                  <a:solidFill>
                    <a:srgbClr val="B6C2D2"/>
                  </a:solidFill>
                  <a:latin typeface="Consolas"/>
                  <a:ea typeface="Consolas"/>
                  <a:cs typeface="Consolas"/>
                </a:rPr>
                <a:t>compileall / build / UI regression / Playwright</a:t>
              </a:r>
            </a:p>
          </p:txBody>
        </p:sp>
        <p:sp>
          <p:nvSpPr>
            <p:cNvPr id="59" name="TextBox 59"/>
            <p:cNvSpPr txBox="1"/>
            <p:nvPr/>
          </p:nvSpPr>
          <p:spPr>
            <a:xfrm>
              <a:off x="7649718" y="5136832"/>
              <a:ext cx="401497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编译、构建静态检查与真浏览器回归闭合</a:t>
              </a:r>
            </a:p>
          </p:txBody>
        </p:sp>
        <p:sp>
          <p:nvSpPr>
            <p:cNvPr id="60" name="TextBox 60"/>
            <p:cNvSpPr txBox="1"/>
            <p:nvPr/>
          </p:nvSpPr>
          <p:spPr>
            <a:xfrm>
              <a:off x="10594924" y="512064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通过</a:t>
              </a:r>
            </a:p>
          </p:txBody>
        </p:sp>
      </p:grpSp>
      <p:grpSp>
        <p:nvGrpSpPr>
          <p:cNvPr id="64" name="Group 64"/>
          <p:cNvGrpSpPr/>
          <p:nvPr/>
        </p:nvGrpSpPr>
        <p:grpSpPr>
          <a:xfrm>
            <a:off x="1790700" y="5810250"/>
            <a:ext cx="8610600" cy="535419"/>
            <a:chOff x="1790700" y="5810250"/>
            <a:chExt cx="8610600" cy="535419"/>
          </a:xfrm>
        </p:grpSpPr>
        <p:sp>
          <p:nvSpPr>
            <p:cNvPr id="62" name="Rectangle 62"/>
            <p:cNvSpPr/>
            <p:nvPr/>
          </p:nvSpPr>
          <p:spPr>
            <a:xfrm>
              <a:off x="1790700" y="5810250"/>
              <a:ext cx="8610600" cy="495300"/>
            </a:xfrm>
            <a:prstGeom prst="roundRect">
              <a:avLst>
                <a:gd name="adj" fmla="val 11538"/>
              </a:avLst>
            </a:prstGeom>
            <a:solidFill>
              <a:srgbClr val="111827"/>
            </a:solidFill>
            <a:ln w="9525">
              <a:solidFill>
                <a:srgbClr val="2A3A52"/>
              </a:solidFill>
            </a:ln>
          </p:spPr>
        </p:sp>
        <p:sp>
          <p:nvSpPr>
            <p:cNvPr id="63" name="TextBox 63"/>
            <p:cNvSpPr txBox="1"/>
            <p:nvPr/>
          </p:nvSpPr>
          <p:spPr>
            <a:xfrm>
              <a:off x="2198903" y="5934951"/>
              <a:ext cx="7739101" cy="410718"/>
            </a:xfrm>
            <a:prstGeom prst="rect">
              <a:avLst/>
            </a:prstGeom>
            <a:noFill/>
            <a:ln>
              <a:noFill/>
            </a:ln>
          </p:spPr>
          <p:txBody>
            <a:bodyPr wrap="none" lIns="0" tIns="0" rIns="0" bIns="0" anchor="t" anchorCtr="0">
              <a:spAutoFit/>
            </a:bodyPr>
            <a:lstStyle/>
            <a:p>
              <a:pPr algn="ctr"/>
              <a:r>
                <a:rPr lang="zh-CN" sz="2100" b="1" dirty="0">
                  <a:solidFill>
                    <a:srgbClr val="F59E0B"/>
                  </a:solidFill>
                  <a:latin typeface="Arial"/>
                  <a:ea typeface="Microsoft YaHei"/>
                  <a:cs typeface="Arial"/>
                </a:rPr>
                <a:t>交付不是丢组截图，而是丢条从霢求到回归的可审计证据链</a:t>
              </a:r>
            </a:p>
          </p:txBody>
        </p:sp>
      </p:grpSp>
      <p:sp>
        <p:nvSpPr>
          <p:cNvPr id="65" name="TextBox 65"/>
          <p:cNvSpPr txBox="1"/>
          <p:nvPr/>
        </p:nvSpPr>
        <p:spPr>
          <a:xfrm>
            <a:off x="472221" y="6391989"/>
            <a:ext cx="4786789"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P13 ?basic table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400"/>
                                        <p:tgtEl>
                                          <p:spTgt spid="47"/>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400"/>
                                        <p:tgtEl>
                                          <p:spTgt spid="61"/>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fade">
                                      <p:cBhvr>
                                        <p:cTn id="35"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P spid="33" grpId="0"/>
      <p:bldP spid="41" grpId="0"/>
      <p:bldP spid="47" grpId="0"/>
      <p:bldP spid="55" grpId="0"/>
      <p:bldP spid="61" grpId="0"/>
      <p:bldP spid="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762000" y="1428750"/>
              <a:ext cx="10668000" cy="4572000"/>
            </a:xfrm>
            <a:custGeom>
              <a:avLst/>
              <a:gdLst/>
              <a:ahLst/>
              <a:cxnLst/>
              <a:rect l="l" t="t" r="r" b="b"/>
              <a:pathLst>
                <a:path w="10668000" h="4572000">
                  <a:moveTo>
                    <a:pt x="0" y="0"/>
                  </a:moveTo>
                  <a:lnTo>
                    <a:pt x="10668000" y="0"/>
                  </a:lnTo>
                  <a:moveTo>
                    <a:pt x="0" y="1143000"/>
                  </a:moveTo>
                  <a:lnTo>
                    <a:pt x="10668000" y="1143000"/>
                  </a:lnTo>
                  <a:moveTo>
                    <a:pt x="0" y="2286000"/>
                  </a:moveTo>
                  <a:lnTo>
                    <a:pt x="10668000" y="2286000"/>
                  </a:lnTo>
                  <a:moveTo>
                    <a:pt x="0" y="3429000"/>
                  </a:moveTo>
                  <a:lnTo>
                    <a:pt x="10668000" y="3429000"/>
                  </a:lnTo>
                  <a:moveTo>
                    <a:pt x="0" y="4572000"/>
                  </a:moveTo>
                  <a:lnTo>
                    <a:pt x="10668000" y="4572000"/>
                  </a:lnTo>
                </a:path>
              </a:pathLst>
            </a:custGeom>
            <a:solidFill>
              <a:srgbClr val="000000"/>
            </a:solidFill>
            <a:ln w="9525">
              <a:solidFill>
                <a:srgbClr val="1C2A3D"/>
              </a:solidFill>
              <a:prstDash val="lgDash"/>
            </a:ln>
          </p:spPr>
        </p:sp>
        <p:sp>
          <p:nvSpPr>
            <p:cNvPr id="4" name="Freeform 4"/>
            <p:cNvSpPr/>
            <p:nvPr/>
          </p:nvSpPr>
          <p:spPr>
            <a:xfrm>
              <a:off x="6096000" y="1409700"/>
              <a:ext cx="9525" cy="4495800"/>
            </a:xfrm>
            <a:custGeom>
              <a:avLst/>
              <a:gdLst/>
              <a:ahLst/>
              <a:cxnLst/>
              <a:rect l="l" t="t" r="r" b="b"/>
              <a:pathLst>
                <a:path w="9525" h="4495800">
                  <a:moveTo>
                    <a:pt x="0" y="0"/>
                  </a:moveTo>
                  <a:lnTo>
                    <a:pt x="0" y="4495800"/>
                  </a:lnTo>
                </a:path>
              </a:pathLst>
            </a:custGeom>
            <a:solidFill>
              <a:srgbClr val="000000"/>
            </a:solidFill>
            <a:ln w="28575">
              <a:solidFill>
                <a:srgbClr val="2A3A52"/>
              </a:solidFill>
              <a:tailEnd type="triangle" w="lg" len="lg"/>
            </a:ln>
          </p:spPr>
        </p:sp>
      </p:grpSp>
      <p:grpSp>
        <p:nvGrpSpPr>
          <p:cNvPr id="8" name="Group 8"/>
          <p:cNvGrpSpPr/>
          <p:nvPr/>
        </p:nvGrpSpPr>
        <p:grpSpPr>
          <a:xfrm>
            <a:off x="514350" y="264795"/>
            <a:ext cx="9960940" cy="946594"/>
            <a:chOff x="514350" y="264795"/>
            <a:chExt cx="9960940" cy="946594"/>
          </a:xfrm>
        </p:grpSpPr>
        <p:sp>
          <p:nvSpPr>
            <p:cNvPr id="6" name="TextBox 6"/>
            <p:cNvSpPr txBox="1"/>
            <p:nvPr/>
          </p:nvSpPr>
          <p:spPr>
            <a:xfrm>
              <a:off x="514350" y="264795"/>
              <a:ext cx="9960940"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现场演示应先给用户体验，再揭示后台治</a:t>
              </a:r>
            </a:p>
          </p:txBody>
        </p:sp>
        <p:sp>
          <p:nvSpPr>
            <p:cNvPr id="7" name="TextBox 7"/>
            <p:cNvSpPr txBox="1"/>
            <p:nvPr/>
          </p:nvSpPr>
          <p:spPr>
            <a:xfrm>
              <a:off x="544068" y="888682"/>
              <a:ext cx="623620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朢顺的演示路径是先看用户侧，再看运营侧，最后回到架构价值</a:t>
              </a:r>
            </a:p>
          </p:txBody>
        </p:sp>
      </p:grpSp>
      <p:grpSp>
        <p:nvGrpSpPr>
          <p:cNvPr id="15" name="Group 15"/>
          <p:cNvGrpSpPr/>
          <p:nvPr/>
        </p:nvGrpSpPr>
        <p:grpSpPr>
          <a:xfrm>
            <a:off x="990600" y="1371600"/>
            <a:ext cx="5353050" cy="895350"/>
            <a:chOff x="990600" y="1371600"/>
            <a:chExt cx="5353050" cy="895350"/>
          </a:xfrm>
        </p:grpSpPr>
        <p:sp>
          <p:nvSpPr>
            <p:cNvPr id="9" name="Ellipse 9"/>
            <p:cNvSpPr/>
            <p:nvPr/>
          </p:nvSpPr>
          <p:spPr>
            <a:xfrm>
              <a:off x="5848350" y="1428750"/>
              <a:ext cx="495300" cy="495300"/>
            </a:xfrm>
            <a:prstGeom prst="ellipse">
              <a:avLst/>
            </a:prstGeom>
            <a:solidFill>
              <a:srgbClr val="7DD3FC"/>
            </a:solidFill>
            <a:ln>
              <a:noFill/>
            </a:ln>
          </p:spPr>
        </p:sp>
        <p:sp>
          <p:nvSpPr>
            <p:cNvPr id="10" name="TextBox 10"/>
            <p:cNvSpPr txBox="1"/>
            <p:nvPr/>
          </p:nvSpPr>
          <p:spPr>
            <a:xfrm>
              <a:off x="5946919" y="156781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01</a:t>
              </a:r>
            </a:p>
          </p:txBody>
        </p:sp>
        <p:sp>
          <p:nvSpPr>
            <p:cNvPr id="11" name="Rectangle 11"/>
            <p:cNvSpPr/>
            <p:nvPr/>
          </p:nvSpPr>
          <p:spPr>
            <a:xfrm>
              <a:off x="990600" y="1371600"/>
              <a:ext cx="4095750" cy="895350"/>
            </a:xfrm>
            <a:prstGeom prst="roundRect">
              <a:avLst>
                <a:gd name="adj" fmla="val 6383"/>
              </a:avLst>
            </a:prstGeom>
            <a:solidFill>
              <a:srgbClr val="111827"/>
            </a:solidFill>
            <a:ln w="9525">
              <a:solidFill>
                <a:srgbClr val="2A3A52"/>
              </a:solidFill>
            </a:ln>
          </p:spPr>
        </p:sp>
        <p:sp>
          <p:nvSpPr>
            <p:cNvPr id="12" name="Freeform 12"/>
            <p:cNvSpPr/>
            <p:nvPr/>
          </p:nvSpPr>
          <p:spPr>
            <a:xfrm>
              <a:off x="1238250" y="1638300"/>
              <a:ext cx="323850" cy="303609"/>
            </a:xfrm>
            <a:custGeom>
              <a:avLst/>
              <a:gdLst/>
              <a:ahLst/>
              <a:cxnLst/>
              <a:rect l="l" t="t" r="r" b="b"/>
              <a:pathLst>
                <a:path w="323850" h="303609">
                  <a:moveTo>
                    <a:pt x="182166" y="0"/>
                  </a:moveTo>
                  <a:lnTo>
                    <a:pt x="182166" y="40481"/>
                  </a:lnTo>
                  <a:lnTo>
                    <a:pt x="263128" y="40481"/>
                  </a:lnTo>
                  <a:lnTo>
                    <a:pt x="323850" y="172045"/>
                  </a:lnTo>
                  <a:lnTo>
                    <a:pt x="263128" y="303609"/>
                  </a:lnTo>
                  <a:lnTo>
                    <a:pt x="60722" y="303609"/>
                  </a:lnTo>
                  <a:lnTo>
                    <a:pt x="0" y="172045"/>
                  </a:lnTo>
                  <a:lnTo>
                    <a:pt x="60722" y="40481"/>
                  </a:lnTo>
                  <a:lnTo>
                    <a:pt x="141684" y="40481"/>
                  </a:lnTo>
                  <a:lnTo>
                    <a:pt x="141684" y="0"/>
                  </a:lnTo>
                  <a:lnTo>
                    <a:pt x="182166" y="0"/>
                  </a:lnTo>
                  <a:close/>
                  <a:moveTo>
                    <a:pt x="93065" y="237593"/>
                  </a:moveTo>
                  <a:lnTo>
                    <a:pt x="161925" y="248186"/>
                  </a:lnTo>
                  <a:lnTo>
                    <a:pt x="230786" y="237593"/>
                  </a:lnTo>
                  <a:lnTo>
                    <a:pt x="224628" y="197581"/>
                  </a:lnTo>
                  <a:lnTo>
                    <a:pt x="161925" y="207228"/>
                  </a:lnTo>
                  <a:lnTo>
                    <a:pt x="99221" y="197581"/>
                  </a:lnTo>
                  <a:lnTo>
                    <a:pt x="93065" y="237593"/>
                  </a:lnTo>
                  <a:close/>
                  <a:moveTo>
                    <a:pt x="141684" y="136624"/>
                  </a:moveTo>
                  <a:cubicBezTo>
                    <a:pt x="141684" y="150598"/>
                    <a:pt x="130357" y="161925"/>
                    <a:pt x="116384" y="161925"/>
                  </a:cubicBezTo>
                  <a:cubicBezTo>
                    <a:pt x="102410" y="161925"/>
                    <a:pt x="91083" y="150598"/>
                    <a:pt x="91083" y="136624"/>
                  </a:cubicBezTo>
                  <a:cubicBezTo>
                    <a:pt x="91083" y="122651"/>
                    <a:pt x="102410" y="111323"/>
                    <a:pt x="116384" y="111323"/>
                  </a:cubicBezTo>
                  <a:cubicBezTo>
                    <a:pt x="130357" y="111323"/>
                    <a:pt x="141684" y="122651"/>
                    <a:pt x="141684" y="136624"/>
                  </a:cubicBezTo>
                  <a:close/>
                  <a:moveTo>
                    <a:pt x="207466" y="161925"/>
                  </a:moveTo>
                  <a:cubicBezTo>
                    <a:pt x="221441" y="161925"/>
                    <a:pt x="232767" y="150598"/>
                    <a:pt x="232767" y="136624"/>
                  </a:cubicBezTo>
                  <a:cubicBezTo>
                    <a:pt x="232767" y="122651"/>
                    <a:pt x="221441" y="111323"/>
                    <a:pt x="207466" y="111323"/>
                  </a:cubicBezTo>
                  <a:cubicBezTo>
                    <a:pt x="193493" y="111323"/>
                    <a:pt x="182166" y="122651"/>
                    <a:pt x="182166" y="136624"/>
                  </a:cubicBezTo>
                  <a:cubicBezTo>
                    <a:pt x="182166" y="150598"/>
                    <a:pt x="193493" y="161925"/>
                    <a:pt x="207466" y="161925"/>
                  </a:cubicBezTo>
                  <a:close/>
                </a:path>
              </a:pathLst>
            </a:custGeom>
            <a:solidFill>
              <a:srgbClr val="7DD3FC"/>
            </a:solidFill>
            <a:ln>
              <a:noFill/>
            </a:ln>
          </p:spPr>
        </p:sp>
        <p:sp>
          <p:nvSpPr>
            <p:cNvPr id="13" name="TextBox 13"/>
            <p:cNvSpPr txBox="1"/>
            <p:nvPr/>
          </p:nvSpPr>
          <p:spPr>
            <a:xfrm>
              <a:off x="1684782" y="156400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先讲目标</a:t>
              </a:r>
            </a:p>
          </p:txBody>
        </p:sp>
        <p:sp>
          <p:nvSpPr>
            <p:cNvPr id="14" name="TextBox 14"/>
            <p:cNvSpPr txBox="1"/>
            <p:nvPr/>
          </p:nvSpPr>
          <p:spPr>
            <a:xfrm>
              <a:off x="1687830" y="1933575"/>
              <a:ext cx="2792578"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不是聊天框，?Agent 工程体系</a:t>
              </a:r>
            </a:p>
          </p:txBody>
        </p:sp>
      </p:grpSp>
      <p:grpSp>
        <p:nvGrpSpPr>
          <p:cNvPr id="26" name="Group 26"/>
          <p:cNvGrpSpPr/>
          <p:nvPr/>
        </p:nvGrpSpPr>
        <p:grpSpPr>
          <a:xfrm>
            <a:off x="5848350" y="2476500"/>
            <a:ext cx="5586598" cy="1104900"/>
            <a:chOff x="5848350" y="2476500"/>
            <a:chExt cx="5586598" cy="1104900"/>
          </a:xfrm>
        </p:grpSpPr>
        <p:sp>
          <p:nvSpPr>
            <p:cNvPr id="16" name="Ellipse 16"/>
            <p:cNvSpPr/>
            <p:nvPr/>
          </p:nvSpPr>
          <p:spPr>
            <a:xfrm>
              <a:off x="5848350" y="2533650"/>
              <a:ext cx="495300" cy="495300"/>
            </a:xfrm>
            <a:prstGeom prst="ellipse">
              <a:avLst/>
            </a:prstGeom>
            <a:solidFill>
              <a:srgbClr val="8B5CF6"/>
            </a:solidFill>
            <a:ln>
              <a:noFill/>
            </a:ln>
          </p:spPr>
        </p:sp>
        <p:sp>
          <p:nvSpPr>
            <p:cNvPr id="17" name="TextBox 17"/>
            <p:cNvSpPr txBox="1"/>
            <p:nvPr/>
          </p:nvSpPr>
          <p:spPr>
            <a:xfrm>
              <a:off x="5946919" y="267271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02</a:t>
              </a:r>
            </a:p>
          </p:txBody>
        </p:sp>
        <p:sp>
          <p:nvSpPr>
            <p:cNvPr id="18" name="Rectangle 18"/>
            <p:cNvSpPr/>
            <p:nvPr/>
          </p:nvSpPr>
          <p:spPr>
            <a:xfrm>
              <a:off x="7105650" y="2476500"/>
              <a:ext cx="4095750" cy="1104900"/>
            </a:xfrm>
            <a:prstGeom prst="roundRect">
              <a:avLst>
                <a:gd name="adj" fmla="val 5172"/>
              </a:avLst>
            </a:prstGeom>
            <a:solidFill>
              <a:srgbClr val="111827"/>
            </a:solidFill>
            <a:ln w="9525">
              <a:solidFill>
                <a:srgbClr val="2A3A52"/>
              </a:solidFill>
            </a:ln>
          </p:spPr>
        </p:sp>
        <p:grpSp>
          <p:nvGrpSpPr>
            <p:cNvPr id="23" name="Group 23"/>
            <p:cNvGrpSpPr/>
            <p:nvPr/>
          </p:nvGrpSpPr>
          <p:grpSpPr>
            <a:xfrm>
              <a:off x="7353300" y="2763441"/>
              <a:ext cx="323850" cy="283368"/>
              <a:chOff x="7353300" y="2763441"/>
              <a:chExt cx="323850" cy="283368"/>
            </a:xfrm>
          </p:grpSpPr>
          <p:sp>
            <p:nvSpPr>
              <p:cNvPr id="19" name="Freeform 19"/>
              <p:cNvSpPr/>
              <p:nvPr/>
            </p:nvSpPr>
            <p:spPr>
              <a:xfrm>
                <a:off x="7414022" y="2763441"/>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8B5CF6"/>
              </a:solidFill>
              <a:ln>
                <a:noFill/>
              </a:ln>
            </p:spPr>
          </p:sp>
          <p:sp>
            <p:nvSpPr>
              <p:cNvPr id="20" name="Freeform 20"/>
              <p:cNvSpPr/>
              <p:nvPr/>
            </p:nvSpPr>
            <p:spPr>
              <a:xfrm>
                <a:off x="7353300" y="2905125"/>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8B5CF6"/>
              </a:solidFill>
              <a:ln>
                <a:noFill/>
              </a:ln>
            </p:spPr>
          </p:sp>
          <p:sp>
            <p:nvSpPr>
              <p:cNvPr id="21" name="Freeform 21"/>
              <p:cNvSpPr/>
              <p:nvPr/>
            </p:nvSpPr>
            <p:spPr>
              <a:xfrm>
                <a:off x="7555706" y="2905125"/>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8B5CF6"/>
              </a:solidFill>
              <a:ln>
                <a:noFill/>
              </a:ln>
            </p:spPr>
          </p:sp>
          <p:sp>
            <p:nvSpPr>
              <p:cNvPr id="22" name="Freeform 22"/>
              <p:cNvSpPr/>
              <p:nvPr/>
            </p:nvSpPr>
            <p:spPr>
              <a:xfrm>
                <a:off x="7555706" y="2783681"/>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8B5CF6"/>
              </a:solidFill>
              <a:ln>
                <a:noFill/>
              </a:ln>
            </p:spPr>
          </p:sp>
        </p:grpSp>
        <p:sp>
          <p:nvSpPr>
            <p:cNvPr id="24" name="TextBox 24"/>
            <p:cNvSpPr txBox="1"/>
            <p:nvPr/>
          </p:nvSpPr>
          <p:spPr>
            <a:xfrm>
              <a:off x="7799832" y="266890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展示用户</a:t>
              </a:r>
            </a:p>
          </p:txBody>
        </p:sp>
        <p:sp>
          <p:nvSpPr>
            <p:cNvPr id="25" name="TextBox 25"/>
            <p:cNvSpPr txBox="1"/>
            <p:nvPr/>
          </p:nvSpPr>
          <p:spPr>
            <a:xfrm>
              <a:off x="7582548" y="3153918"/>
              <a:ext cx="385240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主对话页、Persona、结构化卡片、快捷工</a:t>
              </a:r>
            </a:p>
          </p:txBody>
        </p:sp>
      </p:grpSp>
      <p:grpSp>
        <p:nvGrpSpPr>
          <p:cNvPr id="35" name="Group 35"/>
          <p:cNvGrpSpPr/>
          <p:nvPr/>
        </p:nvGrpSpPr>
        <p:grpSpPr>
          <a:xfrm>
            <a:off x="990600" y="3752850"/>
            <a:ext cx="5353050" cy="1104900"/>
            <a:chOff x="990600" y="3752850"/>
            <a:chExt cx="5353050" cy="1104900"/>
          </a:xfrm>
        </p:grpSpPr>
        <p:sp>
          <p:nvSpPr>
            <p:cNvPr id="27" name="Ellipse 27"/>
            <p:cNvSpPr/>
            <p:nvPr/>
          </p:nvSpPr>
          <p:spPr>
            <a:xfrm>
              <a:off x="5848350" y="3810000"/>
              <a:ext cx="495300" cy="495300"/>
            </a:xfrm>
            <a:prstGeom prst="ellipse">
              <a:avLst/>
            </a:prstGeom>
            <a:solidFill>
              <a:srgbClr val="F59E0B"/>
            </a:solidFill>
            <a:ln>
              <a:noFill/>
            </a:ln>
          </p:spPr>
        </p:sp>
        <p:sp>
          <p:nvSpPr>
            <p:cNvPr id="28" name="TextBox 28"/>
            <p:cNvSpPr txBox="1"/>
            <p:nvPr/>
          </p:nvSpPr>
          <p:spPr>
            <a:xfrm>
              <a:off x="5946919" y="394906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03</a:t>
              </a:r>
            </a:p>
          </p:txBody>
        </p:sp>
        <p:sp>
          <p:nvSpPr>
            <p:cNvPr id="29" name="Rectangle 29"/>
            <p:cNvSpPr/>
            <p:nvPr/>
          </p:nvSpPr>
          <p:spPr>
            <a:xfrm>
              <a:off x="990600" y="3752850"/>
              <a:ext cx="4095750" cy="1104900"/>
            </a:xfrm>
            <a:prstGeom prst="roundRect">
              <a:avLst>
                <a:gd name="adj" fmla="val 5172"/>
              </a:avLst>
            </a:prstGeom>
            <a:solidFill>
              <a:srgbClr val="111827"/>
            </a:solidFill>
            <a:ln w="9525">
              <a:solidFill>
                <a:srgbClr val="2A3A52"/>
              </a:solidFill>
            </a:ln>
          </p:spPr>
        </p:sp>
        <p:grpSp>
          <p:nvGrpSpPr>
            <p:cNvPr id="32" name="Group 32"/>
            <p:cNvGrpSpPr/>
            <p:nvPr/>
          </p:nvGrpSpPr>
          <p:grpSpPr>
            <a:xfrm>
              <a:off x="1258491" y="4039791"/>
              <a:ext cx="283369" cy="283369"/>
              <a:chOff x="1258491" y="4039791"/>
              <a:chExt cx="283369" cy="283369"/>
            </a:xfrm>
          </p:grpSpPr>
          <p:sp>
            <p:nvSpPr>
              <p:cNvPr id="30" name="Freeform 30"/>
              <p:cNvSpPr/>
              <p:nvPr/>
            </p:nvSpPr>
            <p:spPr>
              <a:xfrm>
                <a:off x="1258491" y="4039791"/>
                <a:ext cx="283369" cy="283369"/>
              </a:xfrm>
              <a:custGeom>
                <a:avLst/>
                <a:gdLst/>
                <a:ahLst/>
                <a:cxnLst/>
                <a:rect l="l" t="t" r="r" b="b"/>
                <a:pathLst>
                  <a:path w="283369" h="283369">
                    <a:moveTo>
                      <a:pt x="0" y="0"/>
                    </a:moveTo>
                    <a:lnTo>
                      <a:pt x="0" y="283369"/>
                    </a:lnTo>
                    <a:lnTo>
                      <a:pt x="283369" y="283369"/>
                    </a:lnTo>
                    <a:lnTo>
                      <a:pt x="283369" y="242888"/>
                    </a:lnTo>
                    <a:lnTo>
                      <a:pt x="40481" y="242888"/>
                    </a:lnTo>
                    <a:lnTo>
                      <a:pt x="40481" y="0"/>
                    </a:lnTo>
                    <a:lnTo>
                      <a:pt x="0" y="0"/>
                    </a:lnTo>
                    <a:close/>
                  </a:path>
                </a:pathLst>
              </a:custGeom>
              <a:solidFill>
                <a:srgbClr val="F59E0B"/>
              </a:solidFill>
              <a:ln>
                <a:noFill/>
              </a:ln>
            </p:spPr>
          </p:sp>
          <p:sp>
            <p:nvSpPr>
              <p:cNvPr id="31" name="Freeform 31"/>
              <p:cNvSpPr/>
              <p:nvPr/>
            </p:nvSpPr>
            <p:spPr>
              <a:xfrm>
                <a:off x="1339453" y="4080272"/>
                <a:ext cx="202406" cy="161925"/>
              </a:xfrm>
              <a:custGeom>
                <a:avLst/>
                <a:gdLst/>
                <a:ahLst/>
                <a:cxnLst/>
                <a:rect l="l" t="t" r="r" b="b"/>
                <a:pathLst>
                  <a:path w="202406" h="161925">
                    <a:moveTo>
                      <a:pt x="0" y="80962"/>
                    </a:moveTo>
                    <a:lnTo>
                      <a:pt x="40481" y="40481"/>
                    </a:lnTo>
                    <a:lnTo>
                      <a:pt x="101203" y="101203"/>
                    </a:lnTo>
                    <a:lnTo>
                      <a:pt x="202406" y="0"/>
                    </a:lnTo>
                    <a:lnTo>
                      <a:pt x="202406" y="161925"/>
                    </a:lnTo>
                    <a:lnTo>
                      <a:pt x="0" y="161925"/>
                    </a:lnTo>
                    <a:lnTo>
                      <a:pt x="0" y="80962"/>
                    </a:lnTo>
                    <a:close/>
                  </a:path>
                </a:pathLst>
              </a:custGeom>
              <a:solidFill>
                <a:srgbClr val="F59E0B"/>
              </a:solidFill>
              <a:ln>
                <a:noFill/>
              </a:ln>
            </p:spPr>
          </p:sp>
        </p:grpSp>
        <p:sp>
          <p:nvSpPr>
            <p:cNvPr id="33" name="TextBox 33"/>
            <p:cNvSpPr txBox="1"/>
            <p:nvPr/>
          </p:nvSpPr>
          <p:spPr>
            <a:xfrm>
              <a:off x="1684782" y="39452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再看运营</a:t>
              </a:r>
            </a:p>
          </p:txBody>
        </p:sp>
        <p:sp>
          <p:nvSpPr>
            <p:cNvPr id="34" name="TextBox 34"/>
            <p:cNvSpPr txBox="1"/>
            <p:nvPr/>
          </p:nvSpPr>
          <p:spPr>
            <a:xfrm>
              <a:off x="1687830" y="4333875"/>
              <a:ext cx="3674364"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反馈闭环、监控面板任务详情MCP 健康</a:t>
              </a:r>
            </a:p>
          </p:txBody>
        </p:sp>
      </p:grpSp>
      <p:grpSp>
        <p:nvGrpSpPr>
          <p:cNvPr id="45" name="Group 45"/>
          <p:cNvGrpSpPr/>
          <p:nvPr/>
        </p:nvGrpSpPr>
        <p:grpSpPr>
          <a:xfrm>
            <a:off x="5848350" y="5029200"/>
            <a:ext cx="7353201" cy="1104900"/>
            <a:chOff x="5848350" y="5029200"/>
            <a:chExt cx="7353201" cy="1104900"/>
          </a:xfrm>
        </p:grpSpPr>
        <p:sp>
          <p:nvSpPr>
            <p:cNvPr id="36" name="Ellipse 36"/>
            <p:cNvSpPr/>
            <p:nvPr/>
          </p:nvSpPr>
          <p:spPr>
            <a:xfrm>
              <a:off x="5848350" y="5086350"/>
              <a:ext cx="495300" cy="495300"/>
            </a:xfrm>
            <a:prstGeom prst="ellipse">
              <a:avLst/>
            </a:prstGeom>
            <a:solidFill>
              <a:srgbClr val="22C55E"/>
            </a:solidFill>
            <a:ln>
              <a:noFill/>
            </a:ln>
          </p:spPr>
        </p:sp>
        <p:sp>
          <p:nvSpPr>
            <p:cNvPr id="37" name="TextBox 37"/>
            <p:cNvSpPr txBox="1"/>
            <p:nvPr/>
          </p:nvSpPr>
          <p:spPr>
            <a:xfrm>
              <a:off x="5946919" y="522541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04</a:t>
              </a:r>
            </a:p>
          </p:txBody>
        </p:sp>
        <p:sp>
          <p:nvSpPr>
            <p:cNvPr id="38" name="Rectangle 38"/>
            <p:cNvSpPr/>
            <p:nvPr/>
          </p:nvSpPr>
          <p:spPr>
            <a:xfrm>
              <a:off x="7105650" y="5029200"/>
              <a:ext cx="4095750" cy="1104900"/>
            </a:xfrm>
            <a:prstGeom prst="roundRect">
              <a:avLst>
                <a:gd name="adj" fmla="val 5172"/>
              </a:avLst>
            </a:prstGeom>
            <a:solidFill>
              <a:srgbClr val="111827"/>
            </a:solidFill>
            <a:ln w="9525">
              <a:solidFill>
                <a:srgbClr val="2A3A52"/>
              </a:solidFill>
            </a:ln>
          </p:spPr>
        </p:sp>
        <p:grpSp>
          <p:nvGrpSpPr>
            <p:cNvPr id="42" name="Group 42"/>
            <p:cNvGrpSpPr/>
            <p:nvPr/>
          </p:nvGrpSpPr>
          <p:grpSpPr>
            <a:xfrm>
              <a:off x="7373541" y="5295900"/>
              <a:ext cx="283369" cy="323850"/>
              <a:chOff x="7373541" y="5295900"/>
              <a:chExt cx="283369" cy="323850"/>
            </a:xfrm>
          </p:grpSpPr>
          <p:sp>
            <p:nvSpPr>
              <p:cNvPr id="39" name="Freeform 39"/>
              <p:cNvSpPr/>
              <p:nvPr/>
            </p:nvSpPr>
            <p:spPr>
              <a:xfrm>
                <a:off x="7373541" y="5295900"/>
                <a:ext cx="283369" cy="161925"/>
              </a:xfrm>
              <a:custGeom>
                <a:avLst/>
                <a:gdLst/>
                <a:ahLst/>
                <a:cxnLst/>
                <a:rect l="l" t="t" r="r" b="b"/>
                <a:pathLst>
                  <a:path w="283369" h="161925">
                    <a:moveTo>
                      <a:pt x="0" y="101203"/>
                    </a:moveTo>
                    <a:lnTo>
                      <a:pt x="0" y="60722"/>
                    </a:lnTo>
                    <a:lnTo>
                      <a:pt x="141684" y="0"/>
                    </a:lnTo>
                    <a:lnTo>
                      <a:pt x="283369" y="60722"/>
                    </a:lnTo>
                    <a:lnTo>
                      <a:pt x="283369" y="101203"/>
                    </a:lnTo>
                    <a:lnTo>
                      <a:pt x="141684" y="161925"/>
                    </a:lnTo>
                    <a:lnTo>
                      <a:pt x="0" y="101203"/>
                    </a:lnTo>
                    <a:close/>
                  </a:path>
                </a:pathLst>
              </a:custGeom>
              <a:solidFill>
                <a:srgbClr val="22C55E"/>
              </a:solidFill>
              <a:ln>
                <a:noFill/>
              </a:ln>
            </p:spPr>
          </p:sp>
          <p:sp>
            <p:nvSpPr>
              <p:cNvPr id="40" name="Freeform 40"/>
              <p:cNvSpPr/>
              <p:nvPr/>
            </p:nvSpPr>
            <p:spPr>
              <a:xfrm>
                <a:off x="7373541" y="5518547"/>
                <a:ext cx="283369" cy="101203"/>
              </a:xfrm>
              <a:custGeom>
                <a:avLst/>
                <a:gdLst/>
                <a:ahLst/>
                <a:cxnLst/>
                <a:rect l="l" t="t" r="r" b="b"/>
                <a:pathLst>
                  <a:path w="283369" h="101203">
                    <a:moveTo>
                      <a:pt x="141684" y="101203"/>
                    </a:moveTo>
                    <a:lnTo>
                      <a:pt x="0" y="40481"/>
                    </a:lnTo>
                    <a:lnTo>
                      <a:pt x="0" y="0"/>
                    </a:lnTo>
                    <a:lnTo>
                      <a:pt x="141684" y="60722"/>
                    </a:lnTo>
                    <a:lnTo>
                      <a:pt x="283369" y="0"/>
                    </a:lnTo>
                    <a:lnTo>
                      <a:pt x="283369" y="40481"/>
                    </a:lnTo>
                    <a:lnTo>
                      <a:pt x="141684" y="101203"/>
                    </a:lnTo>
                    <a:close/>
                  </a:path>
                </a:pathLst>
              </a:custGeom>
              <a:solidFill>
                <a:srgbClr val="22C55E"/>
              </a:solidFill>
              <a:ln>
                <a:noFill/>
              </a:ln>
            </p:spPr>
          </p:sp>
          <p:sp>
            <p:nvSpPr>
              <p:cNvPr id="41" name="Freeform 41"/>
              <p:cNvSpPr/>
              <p:nvPr/>
            </p:nvSpPr>
            <p:spPr>
              <a:xfrm>
                <a:off x="7373541" y="5437584"/>
                <a:ext cx="283369" cy="101203"/>
              </a:xfrm>
              <a:custGeom>
                <a:avLst/>
                <a:gdLst/>
                <a:ahLst/>
                <a:cxnLst/>
                <a:rect l="l" t="t" r="r" b="b"/>
                <a:pathLst>
                  <a:path w="283369" h="101203">
                    <a:moveTo>
                      <a:pt x="0" y="40481"/>
                    </a:moveTo>
                    <a:lnTo>
                      <a:pt x="141684" y="101203"/>
                    </a:lnTo>
                    <a:lnTo>
                      <a:pt x="283369" y="40481"/>
                    </a:lnTo>
                    <a:lnTo>
                      <a:pt x="283369" y="0"/>
                    </a:lnTo>
                    <a:lnTo>
                      <a:pt x="141684" y="60722"/>
                    </a:lnTo>
                    <a:lnTo>
                      <a:pt x="0" y="0"/>
                    </a:lnTo>
                    <a:lnTo>
                      <a:pt x="0" y="40481"/>
                    </a:lnTo>
                    <a:close/>
                  </a:path>
                </a:pathLst>
              </a:custGeom>
              <a:solidFill>
                <a:srgbClr val="22C55E"/>
              </a:solidFill>
              <a:ln>
                <a:noFill/>
              </a:ln>
            </p:spPr>
          </p:sp>
        </p:grpSp>
        <p:sp>
          <p:nvSpPr>
            <p:cNvPr id="43" name="TextBox 43"/>
            <p:cNvSpPr txBox="1"/>
            <p:nvPr/>
          </p:nvSpPr>
          <p:spPr>
            <a:xfrm>
              <a:off x="7799832" y="5221605"/>
              <a:ext cx="1505522"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回到架构价</a:t>
              </a:r>
            </a:p>
          </p:txBody>
        </p:sp>
        <p:sp>
          <p:nvSpPr>
            <p:cNvPr id="44" name="TextBox 44"/>
            <p:cNvSpPr txBox="1"/>
            <p:nvPr/>
          </p:nvSpPr>
          <p:spPr>
            <a:xfrm>
              <a:off x="7802880" y="5610225"/>
              <a:ext cx="5398671"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Planner、BaseTool、HITL、Supervisor 说明为什么可持续</a:t>
              </a:r>
            </a:p>
          </p:txBody>
        </p:sp>
      </p:grpSp>
      <p:grpSp>
        <p:nvGrpSpPr>
          <p:cNvPr id="47" name="Group 47"/>
          <p:cNvGrpSpPr/>
          <p:nvPr/>
        </p:nvGrpSpPr>
        <p:grpSpPr>
          <a:xfrm>
            <a:off x="3244587" y="6290310"/>
            <a:ext cx="5702826" cy="234696"/>
            <a:chOff x="3244587" y="6290310"/>
            <a:chExt cx="5702826" cy="234696"/>
          </a:xfrm>
        </p:grpSpPr>
        <p:sp>
          <p:nvSpPr>
            <p:cNvPr id="46" name="TextBox 46"/>
            <p:cNvSpPr txBox="1"/>
            <p:nvPr/>
          </p:nvSpPr>
          <p:spPr>
            <a:xfrm>
              <a:off x="3244587" y="6290310"/>
              <a:ext cx="5702826" cy="234696"/>
            </a:xfrm>
            <a:prstGeom prst="rect">
              <a:avLst/>
            </a:prstGeom>
            <a:noFill/>
            <a:ln>
              <a:noFill/>
            </a:ln>
          </p:spPr>
          <p:txBody>
            <a:bodyPr wrap="none" lIns="0" tIns="0" rIns="0" bIns="0" anchor="t" anchorCtr="0">
              <a:spAutoFit/>
            </a:bodyPr>
            <a:lstStyle/>
            <a:p>
              <a:pPr algn="ctr"/>
              <a:r>
                <a:rPr lang="zh-CN" sz="1200" dirty="0">
                  <a:solidFill>
                    <a:srgbClr val="7F8EA3"/>
                  </a:solidFill>
                  <a:latin typeface="Arial"/>
                  <a:ea typeface="Microsoft YaHei"/>
                  <a:cs typeface="Arial"/>
                </a:rPr>
                <a:t>P14 ?roadmap vertical adaptation ?建议演示节奏：体验先行治理随后架构收</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slide(fromBottom)">
                                      <p:cBhvr>
                                        <p:cTn id="11" dur="400"/>
                                        <p:tgtEl>
                                          <p:spTgt spid="26"/>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slide(fromBottom)">
                                      <p:cBhvr>
                                        <p:cTn id="19" dur="400"/>
                                        <p:tgtEl>
                                          <p:spTgt spid="4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6" grpId="0"/>
      <p:bldP spid="35" grpId="0"/>
      <p:bldP spid="45" grpId="0"/>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05070D">
                    <a:alpha val="96000"/>
                  </a:srgbClr>
                </a:gs>
                <a:gs pos="62000">
                  <a:srgbClr val="05070D">
                    <a:alpha val="78000"/>
                  </a:srgbClr>
                </a:gs>
                <a:gs pos="100000">
                  <a:srgbClr val="05070D">
                    <a:alpha val="34000"/>
                  </a:srgbClr>
                </a:gs>
              </a:gsLst>
              <a:lin ang="0" scaled="1"/>
            </a:gradFill>
            <a:ln>
              <a:noFill/>
            </a:ln>
          </p:spPr>
        </p:sp>
        <p:sp>
          <p:nvSpPr>
            <p:cNvPr id="5" name="Freeform 5"/>
            <p:cNvSpPr/>
            <p:nvPr/>
          </p:nvSpPr>
          <p:spPr>
            <a:xfrm>
              <a:off x="685800" y="685800"/>
              <a:ext cx="10648950" cy="5486400"/>
            </a:xfrm>
            <a:custGeom>
              <a:avLst/>
              <a:gdLst/>
              <a:ahLst/>
              <a:cxnLst/>
              <a:rect l="l" t="t" r="r" b="b"/>
              <a:pathLst>
                <a:path w="10648950" h="5486400">
                  <a:moveTo>
                    <a:pt x="0" y="304800"/>
                  </a:moveTo>
                  <a:lnTo>
                    <a:pt x="10648950" y="304800"/>
                  </a:lnTo>
                  <a:moveTo>
                    <a:pt x="0" y="5181600"/>
                  </a:moveTo>
                  <a:lnTo>
                    <a:pt x="10648950" y="5181600"/>
                  </a:lnTo>
                  <a:moveTo>
                    <a:pt x="304800" y="0"/>
                  </a:moveTo>
                  <a:lnTo>
                    <a:pt x="304800" y="5486400"/>
                  </a:lnTo>
                  <a:moveTo>
                    <a:pt x="10515600" y="0"/>
                  </a:moveTo>
                  <a:lnTo>
                    <a:pt x="10515600" y="5486400"/>
                  </a:lnTo>
                </a:path>
              </a:pathLst>
            </a:custGeom>
            <a:solidFill>
              <a:srgbClr val="000000"/>
            </a:solidFill>
            <a:ln w="9525">
              <a:solidFill>
                <a:srgbClr val="1C2A3D"/>
              </a:solidFill>
              <a:prstDash val="lgDash"/>
            </a:ln>
          </p:spPr>
        </p:sp>
      </p:grpSp>
      <p:grpSp>
        <p:nvGrpSpPr>
          <p:cNvPr id="9" name="Group 9"/>
          <p:cNvGrpSpPr/>
          <p:nvPr/>
        </p:nvGrpSpPr>
        <p:grpSpPr>
          <a:xfrm>
            <a:off x="704850" y="626745"/>
            <a:ext cx="10512209" cy="1022794"/>
            <a:chOff x="704850" y="626745"/>
            <a:chExt cx="10512209" cy="1022794"/>
          </a:xfrm>
        </p:grpSpPr>
        <p:sp>
          <p:nvSpPr>
            <p:cNvPr id="7" name="TextBox 7"/>
            <p:cNvSpPr txBox="1"/>
            <p:nvPr/>
          </p:nvSpPr>
          <p:spPr>
            <a:xfrm>
              <a:off x="704850" y="626745"/>
              <a:ext cx="10512209"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朢小闭环已经闭上，下一步重点是治理复杂</a:t>
              </a:r>
            </a:p>
          </p:txBody>
        </p:sp>
        <p:sp>
          <p:nvSpPr>
            <p:cNvPr id="8" name="TextBox 8"/>
            <p:cNvSpPr txBox="1"/>
            <p:nvPr/>
          </p:nvSpPr>
          <p:spPr>
            <a:xfrm>
              <a:off x="734568" y="1326832"/>
              <a:ext cx="712470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后续优化不应只横向加功能，应提升能力治理、冷启动、观测和回归效率</a:t>
              </a:r>
            </a:p>
          </p:txBody>
        </p:sp>
      </p:grpSp>
      <p:grpSp>
        <p:nvGrpSpPr>
          <p:cNvPr id="14" name="Group 14"/>
          <p:cNvGrpSpPr/>
          <p:nvPr/>
        </p:nvGrpSpPr>
        <p:grpSpPr>
          <a:xfrm>
            <a:off x="768096" y="2429828"/>
            <a:ext cx="9178602" cy="2115311"/>
            <a:chOff x="768096" y="2429828"/>
            <a:chExt cx="9178602" cy="2115311"/>
          </a:xfrm>
        </p:grpSpPr>
        <p:sp>
          <p:nvSpPr>
            <p:cNvPr id="10" name="TextBox 10"/>
            <p:cNvSpPr txBox="1"/>
            <p:nvPr/>
          </p:nvSpPr>
          <p:spPr>
            <a:xfrm>
              <a:off x="768096" y="2429828"/>
              <a:ext cx="9178602" cy="498729"/>
            </a:xfrm>
            <a:prstGeom prst="rect">
              <a:avLst/>
            </a:prstGeom>
            <a:noFill/>
            <a:ln>
              <a:noFill/>
            </a:ln>
          </p:spPr>
          <p:txBody>
            <a:bodyPr wrap="none" lIns="0" tIns="0" rIns="0" bIns="0" anchor="t" anchorCtr="0">
              <a:spAutoFit/>
            </a:bodyPr>
            <a:lstStyle/>
            <a:p>
              <a:pPr algn="l"/>
              <a:r>
                <a:rPr lang="en-US" sz="2550" b="1" dirty="0">
                  <a:solidFill>
                    <a:srgbClr val="7DD3FC"/>
                  </a:solidFill>
                  <a:latin typeface="Consolas"/>
                  <a:ea typeface="Consolas"/>
                  <a:cs typeface="Consolas"/>
                </a:rPr>
                <a:t>G_agent = Catalog + Startup + Observe + Regression</a:t>
              </a:r>
            </a:p>
          </p:txBody>
        </p:sp>
        <p:sp>
          <p:nvSpPr>
            <p:cNvPr id="11" name="Freeform 11"/>
            <p:cNvSpPr/>
            <p:nvPr/>
          </p:nvSpPr>
          <p:spPr>
            <a:xfrm>
              <a:off x="800100" y="3009900"/>
              <a:ext cx="8324850" cy="9525"/>
            </a:xfrm>
            <a:custGeom>
              <a:avLst/>
              <a:gdLst/>
              <a:ahLst/>
              <a:cxnLst/>
              <a:rect l="l" t="t" r="r" b="b"/>
              <a:pathLst>
                <a:path w="8324850" h="9525">
                  <a:moveTo>
                    <a:pt x="0" y="0"/>
                  </a:moveTo>
                  <a:lnTo>
                    <a:pt x="8324850" y="0"/>
                  </a:lnTo>
                </a:path>
              </a:pathLst>
            </a:custGeom>
            <a:solidFill>
              <a:srgbClr val="000000"/>
            </a:solidFill>
            <a:ln w="19050">
              <a:solidFill>
                <a:srgbClr val="7DD3FC"/>
              </a:solidFill>
              <a:prstDash val="lgDash"/>
            </a:ln>
          </p:spPr>
        </p:sp>
        <p:sp>
          <p:nvSpPr>
            <p:cNvPr id="12" name="TextBox 12"/>
            <p:cNvSpPr txBox="1"/>
            <p:nvPr/>
          </p:nvSpPr>
          <p:spPr>
            <a:xfrm>
              <a:off x="787146" y="3287078"/>
              <a:ext cx="7955699" cy="498729"/>
            </a:xfrm>
            <a:prstGeom prst="rect">
              <a:avLst/>
            </a:prstGeom>
            <a:noFill/>
            <a:ln>
              <a:noFill/>
            </a:ln>
          </p:spPr>
          <p:txBody>
            <a:bodyPr wrap="none" lIns="0" tIns="0" rIns="0" bIns="0" anchor="t" anchorCtr="0">
              <a:spAutoFit/>
            </a:bodyPr>
            <a:lstStyle/>
            <a:p>
              <a:pPr algn="l"/>
              <a:r>
                <a:rPr lang="zh-CN" sz="2550" b="1" dirty="0">
                  <a:solidFill>
                    <a:srgbClr val="F59E0B"/>
                  </a:solidFill>
                  <a:latin typeface="Arial"/>
                  <a:ea typeface="Microsoft YaHei"/>
                  <a:cs typeface="Arial"/>
                </a:rPr>
                <a:t>治理的目标不是让功能更多，是让复杂度可被管理</a:t>
              </a:r>
            </a:p>
          </p:txBody>
        </p:sp>
        <p:sp>
          <p:nvSpPr>
            <p:cNvPr id="13" name="TextBox 13"/>
            <p:cNvSpPr txBox="1"/>
            <p:nvPr/>
          </p:nvSpPr>
          <p:spPr>
            <a:xfrm>
              <a:off x="791718" y="3879532"/>
              <a:ext cx="6512814" cy="665607"/>
            </a:xfrm>
            <a:prstGeom prst="rect">
              <a:avLst/>
            </a:prstGeom>
            <a:noFill/>
            <a:ln>
              <a:noFill/>
            </a:ln>
          </p:spPr>
          <p:txBody>
            <a:bodyPr wrap="square" lIns="0" tIns="0" rIns="0" bIns="0" anchor="t" anchorCtr="0"/>
            <a:lstStyle/>
            <a:p>
              <a:pPr algn="l">
                <a:lnSpc>
                  <a:spcPts val="2700"/>
                </a:lnSpc>
              </a:pPr>
              <a:r>
                <a:rPr lang="zh-CN" sz="1650" dirty="0">
                  <a:solidFill>
                    <a:srgbClr val="B6C2D2"/>
                  </a:solidFill>
                  <a:latin typeface="Arial"/>
                  <a:ea typeface="Microsoft YaHei"/>
                  <a:cs typeface="Arial"/>
                </a:rPr>
                <a:t>当前系统已经把能力协议体验和观测收口</a:t>
              </a:r>
              <a:r>
                <a:rPr lang="zh-CN" sz="1650" dirty="0">
                  <a:solidFill>
                    <a:srgbClr val="B6C2D2"/>
                  </a:solidFill>
                  <a:latin typeface="Arial"/>
                  <a:ea typeface="Microsoft YaHei"/>
                  <a:cs typeface="Arial"/>
                </a:rPr>
                <a:t>下一步要让能力目录卡片协议测试数据和监控面板继续沉淀成长期资产</a:t>
              </a:r>
            </a:p>
          </p:txBody>
        </p:sp>
      </p:grpSp>
      <p:grpSp>
        <p:nvGrpSpPr>
          <p:cNvPr id="24" name="Group 24"/>
          <p:cNvGrpSpPr/>
          <p:nvPr/>
        </p:nvGrpSpPr>
        <p:grpSpPr>
          <a:xfrm>
            <a:off x="877710" y="5067300"/>
            <a:ext cx="9275940" cy="735139"/>
            <a:chOff x="877710" y="5067300"/>
            <a:chExt cx="9275940" cy="735139"/>
          </a:xfrm>
        </p:grpSpPr>
        <p:sp>
          <p:nvSpPr>
            <p:cNvPr id="15" name="Freeform 15"/>
            <p:cNvSpPr/>
            <p:nvPr/>
          </p:nvSpPr>
          <p:spPr>
            <a:xfrm>
              <a:off x="895350" y="5219700"/>
              <a:ext cx="9258300" cy="9525"/>
            </a:xfrm>
            <a:custGeom>
              <a:avLst/>
              <a:gdLst/>
              <a:ahLst/>
              <a:cxnLst/>
              <a:rect l="l" t="t" r="r" b="b"/>
              <a:pathLst>
                <a:path w="9258300" h="9525">
                  <a:moveTo>
                    <a:pt x="0" y="0"/>
                  </a:moveTo>
                  <a:lnTo>
                    <a:pt x="9258300" y="0"/>
                  </a:lnTo>
                </a:path>
              </a:pathLst>
            </a:custGeom>
            <a:solidFill>
              <a:srgbClr val="000000"/>
            </a:solidFill>
            <a:ln w="28575">
              <a:solidFill>
                <a:srgbClr val="2A3A52"/>
              </a:solidFill>
            </a:ln>
          </p:spPr>
        </p:sp>
        <p:sp>
          <p:nvSpPr>
            <p:cNvPr id="16" name="Ellipse 16"/>
            <p:cNvSpPr/>
            <p:nvPr/>
          </p:nvSpPr>
          <p:spPr>
            <a:xfrm>
              <a:off x="1200150" y="5067300"/>
              <a:ext cx="304800" cy="304800"/>
            </a:xfrm>
            <a:prstGeom prst="ellipse">
              <a:avLst/>
            </a:prstGeom>
            <a:solidFill>
              <a:srgbClr val="7DD3FC"/>
            </a:solidFill>
            <a:ln>
              <a:noFill/>
            </a:ln>
          </p:spPr>
        </p:sp>
        <p:sp>
          <p:nvSpPr>
            <p:cNvPr id="17" name="TextBox 17"/>
            <p:cNvSpPr txBox="1"/>
            <p:nvPr/>
          </p:nvSpPr>
          <p:spPr>
            <a:xfrm>
              <a:off x="87771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能力目录</a:t>
              </a:r>
            </a:p>
          </p:txBody>
        </p:sp>
        <p:sp>
          <p:nvSpPr>
            <p:cNvPr id="18" name="Ellipse 18"/>
            <p:cNvSpPr/>
            <p:nvPr/>
          </p:nvSpPr>
          <p:spPr>
            <a:xfrm>
              <a:off x="3924300" y="5067300"/>
              <a:ext cx="304800" cy="304800"/>
            </a:xfrm>
            <a:prstGeom prst="ellipse">
              <a:avLst/>
            </a:prstGeom>
            <a:solidFill>
              <a:srgbClr val="8B5CF6"/>
            </a:solidFill>
            <a:ln>
              <a:noFill/>
            </a:ln>
          </p:spPr>
        </p:sp>
        <p:sp>
          <p:nvSpPr>
            <p:cNvPr id="19" name="TextBox 19"/>
            <p:cNvSpPr txBox="1"/>
            <p:nvPr/>
          </p:nvSpPr>
          <p:spPr>
            <a:xfrm>
              <a:off x="360186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卡片扩展</a:t>
              </a:r>
            </a:p>
          </p:txBody>
        </p:sp>
        <p:sp>
          <p:nvSpPr>
            <p:cNvPr id="20" name="Ellipse 20"/>
            <p:cNvSpPr/>
            <p:nvPr/>
          </p:nvSpPr>
          <p:spPr>
            <a:xfrm>
              <a:off x="6648450" y="5067300"/>
              <a:ext cx="304800" cy="304800"/>
            </a:xfrm>
            <a:prstGeom prst="ellipse">
              <a:avLst/>
            </a:prstGeom>
            <a:solidFill>
              <a:srgbClr val="F59E0B"/>
            </a:solidFill>
            <a:ln>
              <a:noFill/>
            </a:ln>
          </p:spPr>
        </p:sp>
        <p:sp>
          <p:nvSpPr>
            <p:cNvPr id="21" name="TextBox 21"/>
            <p:cNvSpPr txBox="1"/>
            <p:nvPr/>
          </p:nvSpPr>
          <p:spPr>
            <a:xfrm>
              <a:off x="632601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测试沉淀</a:t>
              </a:r>
            </a:p>
          </p:txBody>
        </p:sp>
        <p:sp>
          <p:nvSpPr>
            <p:cNvPr id="22" name="Ellipse 22"/>
            <p:cNvSpPr/>
            <p:nvPr/>
          </p:nvSpPr>
          <p:spPr>
            <a:xfrm>
              <a:off x="9372600" y="5067300"/>
              <a:ext cx="304800" cy="304800"/>
            </a:xfrm>
            <a:prstGeom prst="ellipse">
              <a:avLst/>
            </a:prstGeom>
            <a:solidFill>
              <a:srgbClr val="22C55E"/>
            </a:solidFill>
            <a:ln>
              <a:noFill/>
            </a:ln>
          </p:spPr>
        </p:sp>
        <p:sp>
          <p:nvSpPr>
            <p:cNvPr id="23" name="TextBox 23"/>
            <p:cNvSpPr txBox="1"/>
            <p:nvPr/>
          </p:nvSpPr>
          <p:spPr>
            <a:xfrm>
              <a:off x="905016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辅助决策</a:t>
              </a:r>
            </a:p>
          </p:txBody>
        </p:sp>
      </p:grpSp>
      <p:grpSp>
        <p:nvGrpSpPr>
          <p:cNvPr id="30" name="Group 30"/>
          <p:cNvGrpSpPr/>
          <p:nvPr/>
        </p:nvGrpSpPr>
        <p:grpSpPr>
          <a:xfrm>
            <a:off x="9620250" y="2095500"/>
            <a:ext cx="1581150" cy="2590800"/>
            <a:chOff x="9620250" y="2095500"/>
            <a:chExt cx="1581150" cy="2590800"/>
          </a:xfrm>
        </p:grpSpPr>
        <p:sp>
          <p:nvSpPr>
            <p:cNvPr id="25" name="Freeform 25"/>
            <p:cNvSpPr/>
            <p:nvPr/>
          </p:nvSpPr>
          <p:spPr>
            <a:xfrm>
              <a:off x="9620250" y="2095500"/>
              <a:ext cx="1581150" cy="2590800"/>
            </a:xfrm>
            <a:custGeom>
              <a:avLst/>
              <a:gdLst/>
              <a:ahLst/>
              <a:cxnLst/>
              <a:rect l="l" t="t" r="r" b="b"/>
              <a:pathLst>
                <a:path w="1581150" h="2590800">
                  <a:moveTo>
                    <a:pt x="0" y="0"/>
                  </a:moveTo>
                  <a:lnTo>
                    <a:pt x="1581150" y="0"/>
                  </a:lnTo>
                  <a:lnTo>
                    <a:pt x="1581150" y="2076450"/>
                  </a:lnTo>
                  <a:lnTo>
                    <a:pt x="762000" y="2590800"/>
                  </a:lnTo>
                  <a:lnTo>
                    <a:pt x="0" y="2076450"/>
                  </a:lnTo>
                  <a:close/>
                </a:path>
              </a:pathLst>
            </a:custGeom>
            <a:solidFill>
              <a:srgbClr val="111827"/>
            </a:solidFill>
            <a:ln w="9525">
              <a:solidFill>
                <a:srgbClr val="2A3A52"/>
              </a:solidFill>
            </a:ln>
          </p:spPr>
        </p:sp>
        <p:sp>
          <p:nvSpPr>
            <p:cNvPr id="26" name="Freeform 26"/>
            <p:cNvSpPr/>
            <p:nvPr/>
          </p:nvSpPr>
          <p:spPr>
            <a:xfrm>
              <a:off x="10232231" y="2457450"/>
              <a:ext cx="357188" cy="476250"/>
            </a:xfrm>
            <a:custGeom>
              <a:avLst/>
              <a:gdLst/>
              <a:ahLst/>
              <a:cxnLst/>
              <a:rect l="l" t="t" r="r" b="b"/>
              <a:pathLst>
                <a:path w="357188" h="476250">
                  <a:moveTo>
                    <a:pt x="208359" y="208359"/>
                  </a:moveTo>
                  <a:lnTo>
                    <a:pt x="238125" y="0"/>
                  </a:lnTo>
                  <a:lnTo>
                    <a:pt x="178594" y="0"/>
                  </a:lnTo>
                  <a:lnTo>
                    <a:pt x="0" y="208359"/>
                  </a:lnTo>
                  <a:lnTo>
                    <a:pt x="0" y="267891"/>
                  </a:lnTo>
                  <a:lnTo>
                    <a:pt x="148828" y="267891"/>
                  </a:lnTo>
                  <a:lnTo>
                    <a:pt x="119062" y="476250"/>
                  </a:lnTo>
                  <a:lnTo>
                    <a:pt x="178594" y="476250"/>
                  </a:lnTo>
                  <a:lnTo>
                    <a:pt x="357188" y="267891"/>
                  </a:lnTo>
                  <a:lnTo>
                    <a:pt x="357188" y="208359"/>
                  </a:lnTo>
                  <a:lnTo>
                    <a:pt x="208359" y="208359"/>
                  </a:lnTo>
                  <a:close/>
                </a:path>
              </a:pathLst>
            </a:custGeom>
            <a:solidFill>
              <a:srgbClr val="F59E0B"/>
            </a:solidFill>
            <a:ln>
              <a:noFill/>
            </a:ln>
          </p:spPr>
        </p:sp>
        <p:sp>
          <p:nvSpPr>
            <p:cNvPr id="27" name="TextBox 27"/>
            <p:cNvSpPr txBox="1"/>
            <p:nvPr/>
          </p:nvSpPr>
          <p:spPr>
            <a:xfrm>
              <a:off x="9763316" y="3090862"/>
              <a:ext cx="1295019" cy="440055"/>
            </a:xfrm>
            <a:prstGeom prst="rect">
              <a:avLst/>
            </a:prstGeom>
            <a:noFill/>
            <a:ln>
              <a:noFill/>
            </a:ln>
          </p:spPr>
          <p:txBody>
            <a:bodyPr wrap="none" lIns="0" tIns="0" rIns="0" bIns="0" anchor="t" anchorCtr="0">
              <a:spAutoFit/>
            </a:bodyPr>
            <a:lstStyle/>
            <a:p>
              <a:pPr algn="ctr"/>
              <a:r>
                <a:rPr lang="zh-CN" sz="2250" b="1" dirty="0">
                  <a:solidFill>
                    <a:srgbClr val="F8FAFC"/>
                  </a:solidFill>
                  <a:latin typeface="Arial"/>
                  <a:ea typeface="Microsoft YaHei"/>
                  <a:cs typeface="Arial"/>
                </a:rPr>
                <a:t>下一阶段</a:t>
              </a:r>
            </a:p>
          </p:txBody>
        </p:sp>
        <p:sp>
          <p:nvSpPr>
            <p:cNvPr id="28" name="TextBox 28"/>
            <p:cNvSpPr txBox="1"/>
            <p:nvPr/>
          </p:nvSpPr>
          <p:spPr>
            <a:xfrm>
              <a:off x="9958197" y="3555682"/>
              <a:ext cx="905256" cy="322707"/>
            </a:xfrm>
            <a:prstGeom prst="rect">
              <a:avLst/>
            </a:prstGeom>
            <a:noFill/>
            <a:ln>
              <a:noFill/>
            </a:ln>
          </p:spPr>
          <p:txBody>
            <a:bodyPr wrap="none" lIns="0" tIns="0" rIns="0" bIns="0" anchor="t" anchorCtr="0">
              <a:spAutoFit/>
            </a:bodyPr>
            <a:lstStyle/>
            <a:p>
              <a:pPr algn="ctr"/>
              <a:r>
                <a:rPr lang="zh-CN" sz="1650" dirty="0">
                  <a:solidFill>
                    <a:srgbClr val="B6C2D2"/>
                  </a:solidFill>
                  <a:latin typeface="Arial"/>
                  <a:ea typeface="Microsoft YaHei"/>
                  <a:cs typeface="Arial"/>
                </a:rPr>
                <a:t>从定位问</a:t>
              </a:r>
            </a:p>
          </p:txBody>
        </p:sp>
        <p:sp>
          <p:nvSpPr>
            <p:cNvPr id="29" name="TextBox 29"/>
            <p:cNvSpPr txBox="1"/>
            <p:nvPr/>
          </p:nvSpPr>
          <p:spPr>
            <a:xfrm>
              <a:off x="9736074" y="3860482"/>
              <a:ext cx="1349502" cy="322707"/>
            </a:xfrm>
            <a:prstGeom prst="rect">
              <a:avLst/>
            </a:prstGeom>
            <a:noFill/>
            <a:ln>
              <a:noFill/>
            </a:ln>
          </p:spPr>
          <p:txBody>
            <a:bodyPr wrap="none" lIns="0" tIns="0" rIns="0" bIns="0" anchor="t" anchorCtr="0">
              <a:spAutoFit/>
            </a:bodyPr>
            <a:lstStyle/>
            <a:p>
              <a:pPr algn="ctr"/>
              <a:r>
                <a:rPr lang="zh-CN" sz="1650" dirty="0">
                  <a:solidFill>
                    <a:srgbClr val="B6C2D2"/>
                  </a:solidFill>
                  <a:latin typeface="Arial"/>
                  <a:ea typeface="Microsoft YaHei"/>
                  <a:cs typeface="Arial"/>
                </a:rPr>
                <a:t>走向辅助决策</a:t>
              </a:r>
            </a:p>
          </p:txBody>
        </p:sp>
      </p:grpSp>
      <p:sp>
        <p:nvSpPr>
          <p:cNvPr id="31" name="TextBox 31"/>
          <p:cNvSpPr txBox="1"/>
          <p:nvPr/>
        </p:nvSpPr>
        <p:spPr>
          <a:xfrm>
            <a:off x="717804" y="6309360"/>
            <a:ext cx="3594562" cy="234696"/>
          </a:xfrm>
          <a:prstGeom prst="rect">
            <a:avLst/>
          </a:prstGeom>
          <a:noFill/>
          <a:ln>
            <a:noFill/>
          </a:ln>
        </p:spPr>
        <p:txBody>
          <a:bodyPr wrap="none" lIns="0" tIns="0" rIns="0" bIns="0" anchor="t" anchorCtr="0">
            <a:spAutoFit/>
          </a:bodyPr>
          <a:lstStyle/>
          <a:p>
            <a:pPr algn="l"/>
            <a:r>
              <a:rPr lang="en-US" sz="1200" dirty="0">
                <a:solidFill>
                  <a:srgbClr val="7F8EA3"/>
                </a:solidFill>
                <a:latin typeface="Arial"/>
                <a:ea typeface="Arial"/>
                <a:cs typeface="Arial"/>
              </a:rPr>
              <a:t>P15 ?breathing page ?Formula + roadmap split</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400"/>
                                        <p:tgtEl>
                                          <p:spTgt spid="1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400"/>
                                        <p:tgtEl>
                                          <p:spTgt spid="2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24" grpId="0"/>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05070D">
                    <a:alpha val="92000"/>
                  </a:srgbClr>
                </a:gs>
                <a:gs pos="54000">
                  <a:srgbClr val="05070D">
                    <a:alpha val="62000"/>
                  </a:srgbClr>
                </a:gs>
                <a:gs pos="100000">
                  <a:srgbClr val="05070D">
                    <a:alpha val="18000"/>
                  </a:srgbClr>
                </a:gs>
              </a:gsLst>
              <a:lin ang="0" scaled="1"/>
            </a:gradFill>
            <a:ln>
              <a:noFill/>
            </a:ln>
          </p:spPr>
        </p:sp>
        <p:sp>
          <p:nvSpPr>
            <p:cNvPr id="5" name="Freeform 5"/>
            <p:cNvSpPr/>
            <p:nvPr/>
          </p:nvSpPr>
          <p:spPr>
            <a:xfrm>
              <a:off x="571500" y="457200"/>
              <a:ext cx="10953750" cy="5943600"/>
            </a:xfrm>
            <a:custGeom>
              <a:avLst/>
              <a:gdLst/>
              <a:ahLst/>
              <a:cxnLst/>
              <a:rect l="l" t="t" r="r" b="b"/>
              <a:pathLst>
                <a:path w="10953750" h="5943600">
                  <a:moveTo>
                    <a:pt x="0" y="361950"/>
                  </a:moveTo>
                  <a:lnTo>
                    <a:pt x="10953750" y="361950"/>
                  </a:lnTo>
                  <a:moveTo>
                    <a:pt x="0" y="5600700"/>
                  </a:moveTo>
                  <a:lnTo>
                    <a:pt x="10953750" y="5600700"/>
                  </a:lnTo>
                  <a:moveTo>
                    <a:pt x="361950" y="0"/>
                  </a:moveTo>
                  <a:lnTo>
                    <a:pt x="361950" y="5943600"/>
                  </a:lnTo>
                  <a:moveTo>
                    <a:pt x="10687050" y="0"/>
                  </a:moveTo>
                  <a:lnTo>
                    <a:pt x="10687050" y="5943600"/>
                  </a:lnTo>
                </a:path>
              </a:pathLst>
            </a:custGeom>
            <a:solidFill>
              <a:srgbClr val="000000"/>
            </a:solidFill>
            <a:ln w="9525">
              <a:solidFill>
                <a:srgbClr val="1C2A3D"/>
              </a:solidFill>
              <a:prstDash val="lgDash"/>
            </a:ln>
          </p:spPr>
        </p:sp>
      </p:grpSp>
      <p:grpSp>
        <p:nvGrpSpPr>
          <p:cNvPr id="9" name="Group 9"/>
          <p:cNvGrpSpPr/>
          <p:nvPr/>
        </p:nvGrpSpPr>
        <p:grpSpPr>
          <a:xfrm>
            <a:off x="723900" y="1340168"/>
            <a:ext cx="9399270" cy="2422207"/>
            <a:chOff x="723900" y="1340168"/>
            <a:chExt cx="9399270" cy="2422207"/>
          </a:xfrm>
        </p:grpSpPr>
        <p:sp>
          <p:nvSpPr>
            <p:cNvPr id="7" name="TextBox 7"/>
            <p:cNvSpPr txBox="1"/>
            <p:nvPr/>
          </p:nvSpPr>
          <p:spPr>
            <a:xfrm>
              <a:off x="755142" y="1340168"/>
              <a:ext cx="5795772" cy="264033"/>
            </a:xfrm>
            <a:prstGeom prst="rect">
              <a:avLst/>
            </a:prstGeom>
            <a:noFill/>
            <a:ln>
              <a:noFill/>
            </a:ln>
          </p:spPr>
          <p:txBody>
            <a:bodyPr wrap="none" lIns="0" tIns="0" rIns="0" bIns="0" anchor="t" anchorCtr="0">
              <a:spAutoFit/>
            </a:bodyPr>
            <a:lstStyle/>
            <a:p>
              <a:pPr algn="l"/>
              <a:r>
                <a:rPr lang="en-US" sz="1350" spc="150" dirty="0">
                  <a:solidFill>
                    <a:srgbClr val="7DD3FC"/>
                  </a:solidFill>
                  <a:latin typeface="Consolas"/>
                  <a:ea typeface="Consolas"/>
                  <a:cs typeface="Consolas"/>
                </a:rPr>
                <a:t>FINAL TAKEAWAY ?FROM DEMO TO ENGINEERING SYSTEM</a:t>
              </a:r>
            </a:p>
          </p:txBody>
        </p:sp>
        <p:sp>
          <p:nvSpPr>
            <p:cNvPr id="8" name="TextBox 8"/>
            <p:cNvSpPr txBox="1"/>
            <p:nvPr/>
          </p:nvSpPr>
          <p:spPr>
            <a:xfrm>
              <a:off x="723900" y="2162175"/>
              <a:ext cx="9399270" cy="1600200"/>
            </a:xfrm>
            <a:prstGeom prst="rect">
              <a:avLst/>
            </a:prstGeom>
            <a:noFill/>
            <a:ln>
              <a:noFill/>
            </a:ln>
          </p:spPr>
          <p:txBody>
            <a:bodyPr wrap="square" lIns="0" tIns="0" rIns="0" bIns="0" anchor="t" anchorCtr="0"/>
            <a:lstStyle/>
            <a:p>
              <a:pPr algn="l">
                <a:lnSpc>
                  <a:spcPts val="5700"/>
                </a:lnSpc>
              </a:pPr>
              <a:r>
                <a:rPr lang="zh-CN" sz="4500" b="1" dirty="0">
                  <a:solidFill>
                    <a:srgbClr val="F8FAFC"/>
                  </a:solidFill>
                  <a:latin typeface="Arial"/>
                  <a:ea typeface="Microsoft YaHei"/>
                  <a:cs typeface="Arial"/>
                </a:rPr>
                <a:t>我们做的不是丢个会聊天的功能，</a:t>
              </a:r>
              <a:r>
                <a:rPr lang="zh-CN" sz="4500" b="1" dirty="0">
                  <a:solidFill>
                    <a:srgbClr val="7DD3FC"/>
                  </a:solidFill>
                  <a:latin typeface="Arial"/>
                  <a:ea typeface="Microsoft YaHei"/>
                  <a:cs typeface="Arial"/>
                </a:rPr>
                <a:t>而是丢套能长期运行?Agent 子系统</a:t>
              </a:r>
            </a:p>
          </p:txBody>
        </p:sp>
      </p:grpSp>
      <p:grpSp>
        <p:nvGrpSpPr>
          <p:cNvPr id="19" name="Group 19"/>
          <p:cNvGrpSpPr/>
          <p:nvPr/>
        </p:nvGrpSpPr>
        <p:grpSpPr>
          <a:xfrm>
            <a:off x="706260" y="4000500"/>
            <a:ext cx="8818740" cy="716089"/>
            <a:chOff x="706260" y="4000500"/>
            <a:chExt cx="8818740" cy="716089"/>
          </a:xfrm>
        </p:grpSpPr>
        <p:sp>
          <p:nvSpPr>
            <p:cNvPr id="10" name="Freeform 10"/>
            <p:cNvSpPr/>
            <p:nvPr/>
          </p:nvSpPr>
          <p:spPr>
            <a:xfrm>
              <a:off x="800100" y="4095750"/>
              <a:ext cx="8724900" cy="9525"/>
            </a:xfrm>
            <a:custGeom>
              <a:avLst/>
              <a:gdLst/>
              <a:ahLst/>
              <a:cxnLst/>
              <a:rect l="l" t="t" r="r" b="b"/>
              <a:pathLst>
                <a:path w="8724900" h="9525">
                  <a:moveTo>
                    <a:pt x="0" y="0"/>
                  </a:moveTo>
                  <a:lnTo>
                    <a:pt x="8724900" y="0"/>
                  </a:lnTo>
                </a:path>
              </a:pathLst>
            </a:custGeom>
            <a:solidFill>
              <a:srgbClr val="000000"/>
            </a:solidFill>
            <a:ln w="19050">
              <a:solidFill>
                <a:srgbClr val="7DD3FC"/>
              </a:solidFill>
            </a:ln>
          </p:spPr>
        </p:sp>
        <p:sp>
          <p:nvSpPr>
            <p:cNvPr id="11" name="Ellipse 11"/>
            <p:cNvSpPr/>
            <p:nvPr/>
          </p:nvSpPr>
          <p:spPr>
            <a:xfrm>
              <a:off x="1085850" y="4000500"/>
              <a:ext cx="190500" cy="190500"/>
            </a:xfrm>
            <a:prstGeom prst="ellipse">
              <a:avLst/>
            </a:prstGeom>
            <a:solidFill>
              <a:srgbClr val="22C55E"/>
            </a:solidFill>
            <a:ln>
              <a:noFill/>
            </a:ln>
          </p:spPr>
        </p:sp>
        <p:sp>
          <p:nvSpPr>
            <p:cNvPr id="12" name="Ellipse 12"/>
            <p:cNvSpPr/>
            <p:nvPr/>
          </p:nvSpPr>
          <p:spPr>
            <a:xfrm>
              <a:off x="3143250" y="4000500"/>
              <a:ext cx="190500" cy="190500"/>
            </a:xfrm>
            <a:prstGeom prst="ellipse">
              <a:avLst/>
            </a:prstGeom>
            <a:solidFill>
              <a:srgbClr val="F59E0B"/>
            </a:solidFill>
            <a:ln>
              <a:noFill/>
            </a:ln>
          </p:spPr>
        </p:sp>
        <p:sp>
          <p:nvSpPr>
            <p:cNvPr id="13" name="Ellipse 13"/>
            <p:cNvSpPr/>
            <p:nvPr/>
          </p:nvSpPr>
          <p:spPr>
            <a:xfrm>
              <a:off x="5200650" y="4000500"/>
              <a:ext cx="190500" cy="190500"/>
            </a:xfrm>
            <a:prstGeom prst="ellipse">
              <a:avLst/>
            </a:prstGeom>
            <a:solidFill>
              <a:srgbClr val="8B5CF6"/>
            </a:solidFill>
            <a:ln>
              <a:noFill/>
            </a:ln>
          </p:spPr>
        </p:sp>
        <p:sp>
          <p:nvSpPr>
            <p:cNvPr id="14" name="Ellipse 14"/>
            <p:cNvSpPr/>
            <p:nvPr/>
          </p:nvSpPr>
          <p:spPr>
            <a:xfrm>
              <a:off x="7258050" y="4000500"/>
              <a:ext cx="190500" cy="190500"/>
            </a:xfrm>
            <a:prstGeom prst="ellipse">
              <a:avLst/>
            </a:prstGeom>
            <a:solidFill>
              <a:srgbClr val="7DD3FC"/>
            </a:solidFill>
            <a:ln>
              <a:noFill/>
            </a:ln>
          </p:spPr>
        </p:sp>
        <p:sp>
          <p:nvSpPr>
            <p:cNvPr id="15" name="TextBox 15"/>
            <p:cNvSpPr txBox="1"/>
            <p:nvPr/>
          </p:nvSpPr>
          <p:spPr>
            <a:xfrm>
              <a:off x="7062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长期运行</a:t>
              </a:r>
            </a:p>
          </p:txBody>
        </p:sp>
        <p:sp>
          <p:nvSpPr>
            <p:cNvPr id="16" name="TextBox 16"/>
            <p:cNvSpPr txBox="1"/>
            <p:nvPr/>
          </p:nvSpPr>
          <p:spPr>
            <a:xfrm>
              <a:off x="27636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持续扩展</a:t>
              </a:r>
            </a:p>
          </p:txBody>
        </p:sp>
        <p:sp>
          <p:nvSpPr>
            <p:cNvPr id="17" name="TextBox 17"/>
            <p:cNvSpPr txBox="1"/>
            <p:nvPr/>
          </p:nvSpPr>
          <p:spPr>
            <a:xfrm>
              <a:off x="48210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风险治理</a:t>
              </a:r>
            </a:p>
          </p:txBody>
        </p:sp>
        <p:sp>
          <p:nvSpPr>
            <p:cNvPr id="18" name="TextBox 18"/>
            <p:cNvSpPr txBox="1"/>
            <p:nvPr/>
          </p:nvSpPr>
          <p:spPr>
            <a:xfrm>
              <a:off x="68784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回归验证</a:t>
              </a:r>
            </a:p>
          </p:txBody>
        </p:sp>
      </p:grpSp>
      <p:grpSp>
        <p:nvGrpSpPr>
          <p:cNvPr id="23" name="Group 23"/>
          <p:cNvGrpSpPr/>
          <p:nvPr/>
        </p:nvGrpSpPr>
        <p:grpSpPr>
          <a:xfrm>
            <a:off x="781050" y="5048250"/>
            <a:ext cx="7746359" cy="811339"/>
            <a:chOff x="781050" y="5048250"/>
            <a:chExt cx="7746359" cy="811339"/>
          </a:xfrm>
        </p:grpSpPr>
        <p:sp>
          <p:nvSpPr>
            <p:cNvPr id="20" name="Rectangle 20"/>
            <p:cNvSpPr/>
            <p:nvPr/>
          </p:nvSpPr>
          <p:spPr>
            <a:xfrm>
              <a:off x="781050" y="5048250"/>
              <a:ext cx="7429500" cy="800100"/>
            </a:xfrm>
            <a:prstGeom prst="roundRect">
              <a:avLst>
                <a:gd name="adj" fmla="val 7143"/>
              </a:avLst>
            </a:prstGeom>
            <a:solidFill>
              <a:srgbClr val="111827"/>
            </a:solidFill>
            <a:ln w="9525">
              <a:solidFill>
                <a:srgbClr val="2A3A52"/>
              </a:solidFill>
            </a:ln>
          </p:spPr>
        </p:sp>
        <p:sp>
          <p:nvSpPr>
            <p:cNvPr id="21" name="TextBox 21"/>
            <p:cNvSpPr txBox="1"/>
            <p:nvPr/>
          </p:nvSpPr>
          <p:spPr>
            <a:xfrm>
              <a:off x="1056894" y="5180648"/>
              <a:ext cx="1122350" cy="381381"/>
            </a:xfrm>
            <a:prstGeom prst="rect">
              <a:avLst/>
            </a:prstGeom>
            <a:noFill/>
            <a:ln>
              <a:noFill/>
            </a:ln>
          </p:spPr>
          <p:txBody>
            <a:bodyPr wrap="none" lIns="0" tIns="0" rIns="0" bIns="0" anchor="t" anchorCtr="0">
              <a:spAutoFit/>
            </a:bodyPr>
            <a:lstStyle/>
            <a:p>
              <a:pPr algn="l"/>
              <a:r>
                <a:rPr lang="zh-CN" sz="1950" b="1" dirty="0">
                  <a:solidFill>
                    <a:srgbClr val="F59E0B"/>
                  </a:solidFill>
                  <a:latin typeface="Arial"/>
                  <a:ea typeface="Microsoft YaHei"/>
                  <a:cs typeface="Arial"/>
                </a:rPr>
                <a:t>验收结论</a:t>
              </a:r>
            </a:p>
          </p:txBody>
        </p:sp>
        <p:sp>
          <p:nvSpPr>
            <p:cNvPr id="22" name="TextBox 22"/>
            <p:cNvSpPr txBox="1"/>
            <p:nvPr/>
          </p:nvSpPr>
          <p:spPr>
            <a:xfrm>
              <a:off x="1058418" y="5536882"/>
              <a:ext cx="7468991"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v1.0 ?v2.3 已形成可控可维护、可扩展、可观测、可回归的工程化落地能力</a:t>
              </a:r>
            </a:p>
          </p:txBody>
        </p:sp>
      </p:grpSp>
      <p:grpSp>
        <p:nvGrpSpPr>
          <p:cNvPr id="27" name="Group 27"/>
          <p:cNvGrpSpPr/>
          <p:nvPr/>
        </p:nvGrpSpPr>
        <p:grpSpPr>
          <a:xfrm>
            <a:off x="9715500" y="4914900"/>
            <a:ext cx="1162050" cy="1166051"/>
            <a:chOff x="9715500" y="4914900"/>
            <a:chExt cx="1162050" cy="1166051"/>
          </a:xfrm>
        </p:grpSpPr>
        <p:sp>
          <p:nvSpPr>
            <p:cNvPr id="24" name="Rectangle 24"/>
            <p:cNvSpPr/>
            <p:nvPr/>
          </p:nvSpPr>
          <p:spPr>
            <a:xfrm>
              <a:off x="9715500" y="4914900"/>
              <a:ext cx="1162050" cy="1162050"/>
            </a:xfrm>
            <a:prstGeom prst="roundRect">
              <a:avLst>
                <a:gd name="adj" fmla="val 4918"/>
              </a:avLst>
            </a:prstGeom>
            <a:solidFill>
              <a:srgbClr val="111827"/>
            </a:solidFill>
            <a:ln w="9525">
              <a:solidFill>
                <a:srgbClr val="2A3A52"/>
              </a:solidFill>
            </a:ln>
          </p:spPr>
        </p:sp>
        <p:sp>
          <p:nvSpPr>
            <p:cNvPr id="25" name="Freeform 25"/>
            <p:cNvSpPr/>
            <p:nvPr/>
          </p:nvSpPr>
          <p:spPr>
            <a:xfrm>
              <a:off x="9982200" y="5181600"/>
              <a:ext cx="628650" cy="628650"/>
            </a:xfrm>
            <a:custGeom>
              <a:avLst/>
              <a:gdLst/>
              <a:ahLst/>
              <a:cxnLst/>
              <a:rect l="l" t="t" r="r" b="b"/>
              <a:pathLst>
                <a:path w="628650" h="628650">
                  <a:moveTo>
                    <a:pt x="314325" y="628650"/>
                  </a:moveTo>
                  <a:cubicBezTo>
                    <a:pt x="487923" y="628650"/>
                    <a:pt x="628650" y="487923"/>
                    <a:pt x="628650" y="314325"/>
                  </a:cubicBezTo>
                  <a:cubicBezTo>
                    <a:pt x="628650" y="140728"/>
                    <a:pt x="487923" y="0"/>
                    <a:pt x="314325" y="0"/>
                  </a:cubicBezTo>
                  <a:cubicBezTo>
                    <a:pt x="140728" y="0"/>
                    <a:pt x="0" y="140728"/>
                    <a:pt x="0" y="314325"/>
                  </a:cubicBezTo>
                  <a:cubicBezTo>
                    <a:pt x="0" y="487923"/>
                    <a:pt x="140728" y="628650"/>
                    <a:pt x="314325" y="628650"/>
                  </a:cubicBezTo>
                  <a:close/>
                  <a:moveTo>
                    <a:pt x="499270" y="224236"/>
                  </a:moveTo>
                  <a:lnTo>
                    <a:pt x="443705" y="168670"/>
                  </a:lnTo>
                  <a:lnTo>
                    <a:pt x="255389" y="356986"/>
                  </a:lnTo>
                  <a:lnTo>
                    <a:pt x="184945" y="286542"/>
                  </a:lnTo>
                  <a:lnTo>
                    <a:pt x="129380" y="342108"/>
                  </a:lnTo>
                  <a:lnTo>
                    <a:pt x="255389" y="468116"/>
                  </a:lnTo>
                  <a:lnTo>
                    <a:pt x="499270" y="224236"/>
                  </a:lnTo>
                  <a:close/>
                </a:path>
              </a:pathLst>
            </a:custGeom>
            <a:solidFill>
              <a:srgbClr val="22C55E"/>
            </a:solidFill>
            <a:ln>
              <a:noFill/>
            </a:ln>
          </p:spPr>
        </p:sp>
        <p:sp>
          <p:nvSpPr>
            <p:cNvPr id="26" name="TextBox 26"/>
            <p:cNvSpPr txBox="1"/>
            <p:nvPr/>
          </p:nvSpPr>
          <p:spPr>
            <a:xfrm>
              <a:off x="9867214" y="5816918"/>
              <a:ext cx="858622" cy="264033"/>
            </a:xfrm>
            <a:prstGeom prst="rect">
              <a:avLst/>
            </a:prstGeom>
            <a:noFill/>
            <a:ln>
              <a:noFill/>
            </a:ln>
          </p:spPr>
          <p:txBody>
            <a:bodyPr wrap="none" lIns="0" tIns="0" rIns="0" bIns="0" anchor="t" anchorCtr="0">
              <a:spAutoFit/>
            </a:bodyPr>
            <a:lstStyle/>
            <a:p>
              <a:pPr algn="ctr"/>
              <a:r>
                <a:rPr lang="en-US" sz="1350" dirty="0">
                  <a:solidFill>
                    <a:srgbClr val="22C55E"/>
                  </a:solidFill>
                  <a:latin typeface="Consolas"/>
                  <a:ea typeface="Consolas"/>
                  <a:cs typeface="Consolas"/>
                </a:rPr>
                <a:t>ACCEPTED</a:t>
              </a:r>
            </a:p>
          </p:txBody>
        </p:sp>
      </p:grpSp>
      <p:sp>
        <p:nvSpPr>
          <p:cNvPr id="28" name="TextBox 28"/>
          <p:cNvSpPr txBox="1"/>
          <p:nvPr/>
        </p:nvSpPr>
        <p:spPr>
          <a:xfrm>
            <a:off x="755904" y="6347460"/>
            <a:ext cx="4199773"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Source: Agent 系统介绍演讲?+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imag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3" grpId="0"/>
      <p:bldP spid="2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2026-06-30T09:43:01Z</dcterms:created>
  <dcterms:modified xsi:type="dcterms:W3CDTF">2026-06-30T09:43:01Z</dcterms:modified>
  <cp:category/>
  <cp:contentStatus/>
</cp:coreProperties>
</file>