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244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US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各位老师好，今天汇报的不是一个会聊天的功能，而是一套嵌入学生管理系统的 Agent 工程化子系统。它从 v1.0 MVP 演进到 v2.3，核心变化是从单点能力走向可控、可扩展、可观测、可回归的长期运行体系。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先给结论：当前交付已经从功能点升级为工程能力矩阵。系统沉淀了 11 类意图、8 个业务工具、3 个 Persona、3 类结构化卡片，并且有验收、测试和回归证据支撑这些能力不是孤立演示。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这套 Agent 的价值不只看功能数量，而要看四个可验证维度：可控、可扩展、可观测、可回归。Planner、Executor 和 HITL 提供控制力，BaseTool 和卡片协议提供扩展力，AgentTask 与反馈面板提供观测力，UI 回归和 Playwright 提供回归能力。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架构上最重要的判断，是把 `agent_system` 做成独立子系统，而不是侵入原有学生、成绩、班级和就业模块。这样 Agent 能持续迭代，但原业务主干仍保持边界清晰，降低了后续改造的风险。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系统没有让大模型自由拍板调用工具，而是让意图分类、计划生成和注册表驱动执行。这样做的目的，是把“不调用、调错、重复调用”这三类风险收敛到确定链路里，让每一步都可以追踪和降级。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RAG 也不是简单接入向量库，而是一条问答质量工程链。它从入库切片、混合召回、CrossEncoder 精排，到 small-to-big 上下文扩展、来源引用和资料不足拒答，都是围绕“答得准，也知道什么时候不能乱答”来设计的。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v2.0 的真正转折不是新增几个工具，而是统一底座。BaseTool、ToolContext、工具注册表和 PlanStep 链式执行，让后续天气、邮件、通勤、周边服务以及 Supervisor 协作都能用同一种方式接入。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 v1.0 到 v2.3，系统经历的是一条从可运行到可运营的路线。v1.0 先跑通最小闭环，v2.0 统一底座，v2.1 建立反馈和监控，v2.2 补长期可用能力，v2.3 则把体验、监控和协作进一步收口。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验收结论可以直接给出：21 项验收条目全部通过，通过率为百分之百。这里的通过不是只看演示效果，而是把必须完成、推荐完成、可选扩展和非功能要求都放进同一张证据表里核对。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非功能验收说明，这不是一次性 Demo。稳定性来自独立边界和降级策略，可维护性来自分层目录和独立模型，可扩展性来自统一工具契约，安全性来自权限、白名单和 HITL，用户体验则由流式回复、全局入口和结构化卡片共同支撑。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系统好不好用，不靠主观感觉，而要看任务、反馈、监控和健康状态。AgentTask 记录任务链路，AgentFeedback 收集用户评价，Provider、意图、工具和 MCP 健康状态让问题能从指标回到具体链路。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Supervisor 的价值在于证明多 Agent 协作已经跨域跑通，但它没有急着做大而全的平台。当前用路线规划加邮件通知作为最小闭环，让 Supervisor 负责拆解和汇总，MapAgent 与通信 Agent 复用已有工具，邮件发送前仍由 HITL 兜住风险。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交付物不是一组截图，而是一条可以复查的证据链。需求与迭代文档说明范围，模型和接口说明系统边界，测试文档和协议规范说明能力可以被重复验证和继续扩展。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现场演示建议先从用户体验进入，再切到后台治理，最后回到架构价值。这样观众先看到系统能解决什么问题，再看到为什么它不是偶然能跑通，最后理解 Planner、BaseTool、HITL 和 Supervisor 的工程意义。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当前最小闭环已经闭上，后续重点不应只是继续横向加功能，而是治理复杂度。下一阶段建议继续完善能力目录、扩展结构化卡片、沉淀可复用测试数据，并把监控面板从定位问题推进到辅助决策。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回到最后一句话，我们做的不是一个会聊天的功能，而是一套能在真实业务系统里长期运行、持续扩展，并且可以被管理和优化的 Agent 子系统。它已经具备长期运行、风险治理、观测运维和回归验证的工程化落地能力。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5070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3"/>
            <a:srcRect t="27" b="2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5070D">
                    <a:alpha val="96000"/>
                  </a:srgbClr>
                </a:gs>
                <a:gs pos="55000">
                  <a:srgbClr val="05070D">
                    <a:alpha val="64000"/>
                  </a:srgbClr>
                </a:gs>
                <a:gs pos="100000">
                  <a:srgbClr val="05070D">
                    <a:alpha val="18000"/>
                  </a:srgb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533400" y="381000"/>
              <a:ext cx="10896600" cy="6096000"/>
            </a:xfrm>
            <a:custGeom>
              <a:avLst/>
              <a:gdLst/>
              <a:ahLst/>
              <a:cxnLst/>
              <a:rect l="l" t="t" r="r" b="b"/>
              <a:pathLst>
                <a:path w="10896600" h="6096000">
                  <a:moveTo>
                    <a:pt x="0" y="381000"/>
                  </a:moveTo>
                  <a:lnTo>
                    <a:pt x="10706100" y="381000"/>
                  </a:lnTo>
                  <a:moveTo>
                    <a:pt x="0" y="5715000"/>
                  </a:moveTo>
                  <a:lnTo>
                    <a:pt x="10706100" y="5715000"/>
                  </a:lnTo>
                  <a:moveTo>
                    <a:pt x="381000" y="0"/>
                  </a:moveTo>
                  <a:lnTo>
                    <a:pt x="381000" y="6096000"/>
                  </a:lnTo>
                  <a:moveTo>
                    <a:pt x="10896600" y="0"/>
                  </a:moveTo>
                  <a:lnTo>
                    <a:pt x="10896600" y="6096000"/>
                  </a:lnTo>
                </a:path>
              </a:pathLst>
            </a:custGeom>
            <a:noFill/>
            <a:ln w="9525">
              <a:solidFill>
                <a:srgbClr val="1C2A3D"/>
              </a:solidFill>
              <a:prstDash val="lgDash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66750" y="1168718"/>
            <a:ext cx="9981728" cy="4245863"/>
            <a:chOff x="666750" y="1168718"/>
            <a:chExt cx="9981728" cy="4245863"/>
          </a:xfrm>
        </p:grpSpPr>
        <p:sp>
          <p:nvSpPr>
            <p:cNvPr id="7" name="TextBox 7"/>
            <p:cNvSpPr txBox="1"/>
            <p:nvPr/>
          </p:nvSpPr>
          <p:spPr>
            <a:xfrm>
              <a:off x="697992" y="1168718"/>
              <a:ext cx="48691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spc="15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AGENT SYSTEM BLUEPRINT · v1.0 MVP -&gt; v2.3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66750" y="1717358"/>
              <a:ext cx="4999720" cy="29432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6900"/>
                </a:lnSpc>
              </a:pPr>
              <a:r>
                <a:rPr lang="zh-CN" sz="61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学生管理系统Agent 子系统</a:t>
              </a:r>
              <a:r>
                <a:rPr lang="zh-CN" sz="6150" b="1" dirty="0">
                  <a:solidFill>
                    <a:srgbClr val="7DD3FC"/>
                  </a:solidFill>
                  <a:latin typeface="Arial"/>
                  <a:ea typeface="Microsoft YaHei"/>
                  <a:cs typeface="Arial"/>
                </a:rPr>
                <a:t>工程化蓝图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0946" y="4915852"/>
              <a:ext cx="99375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从“系统里加一个聊天框”到“落地一套可运营的 Agent 工程体系”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04850" y="5676900"/>
            <a:ext cx="5429250" cy="438150"/>
            <a:chOff x="704850" y="5676900"/>
            <a:chExt cx="5429250" cy="438150"/>
          </a:xfrm>
        </p:grpSpPr>
        <p:sp>
          <p:nvSpPr>
            <p:cNvPr id="11" name="Rectangle 11"/>
            <p:cNvSpPr/>
            <p:nvPr/>
          </p:nvSpPr>
          <p:spPr>
            <a:xfrm>
              <a:off x="704850" y="5676900"/>
              <a:ext cx="1619250" cy="438150"/>
            </a:xfrm>
            <a:prstGeom prst="roundRect">
              <a:avLst>
                <a:gd name="adj" fmla="val 13043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876300" y="5781675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228600"/>
                  </a:moveTo>
                  <a:cubicBezTo>
                    <a:pt x="177426" y="228600"/>
                    <a:pt x="228600" y="177426"/>
                    <a:pt x="228600" y="114300"/>
                  </a:cubicBezTo>
                  <a:cubicBezTo>
                    <a:pt x="228600" y="51174"/>
                    <a:pt x="177426" y="0"/>
                    <a:pt x="114300" y="0"/>
                  </a:cubicBezTo>
                  <a:cubicBezTo>
                    <a:pt x="51174" y="0"/>
                    <a:pt x="0" y="51174"/>
                    <a:pt x="0" y="114300"/>
                  </a:cubicBezTo>
                  <a:cubicBezTo>
                    <a:pt x="0" y="177426"/>
                    <a:pt x="51174" y="228600"/>
                    <a:pt x="114300" y="228600"/>
                  </a:cubicBezTo>
                  <a:close/>
                  <a:moveTo>
                    <a:pt x="181553" y="81540"/>
                  </a:moveTo>
                  <a:lnTo>
                    <a:pt x="161347" y="61335"/>
                  </a:lnTo>
                  <a:lnTo>
                    <a:pt x="92869" y="129813"/>
                  </a:lnTo>
                  <a:lnTo>
                    <a:pt x="67253" y="104197"/>
                  </a:lnTo>
                  <a:lnTo>
                    <a:pt x="47047" y="124403"/>
                  </a:lnTo>
                  <a:lnTo>
                    <a:pt x="92869" y="170224"/>
                  </a:lnTo>
                  <a:lnTo>
                    <a:pt x="181553" y="8154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93292" y="5816918"/>
              <a:ext cx="940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21项全通过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514600" y="5676900"/>
              <a:ext cx="1619250" cy="438150"/>
            </a:xfrm>
            <a:prstGeom prst="roundRect">
              <a:avLst>
                <a:gd name="adj" fmla="val 13043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2686050" y="5781675"/>
              <a:ext cx="228600" cy="214312"/>
            </a:xfrm>
            <a:custGeom>
              <a:avLst/>
              <a:gdLst/>
              <a:ahLst/>
              <a:cxnLst/>
              <a:rect l="l" t="t" r="r" b="b"/>
              <a:pathLst>
                <a:path w="228600" h="214312">
                  <a:moveTo>
                    <a:pt x="128588" y="0"/>
                  </a:moveTo>
                  <a:lnTo>
                    <a:pt x="128588" y="28575"/>
                  </a:lnTo>
                  <a:lnTo>
                    <a:pt x="185738" y="28575"/>
                  </a:lnTo>
                  <a:lnTo>
                    <a:pt x="228600" y="121444"/>
                  </a:lnTo>
                  <a:lnTo>
                    <a:pt x="185738" y="214312"/>
                  </a:lnTo>
                  <a:lnTo>
                    <a:pt x="42862" y="214312"/>
                  </a:lnTo>
                  <a:lnTo>
                    <a:pt x="0" y="121444"/>
                  </a:lnTo>
                  <a:lnTo>
                    <a:pt x="42862" y="28575"/>
                  </a:lnTo>
                  <a:lnTo>
                    <a:pt x="100012" y="28575"/>
                  </a:lnTo>
                  <a:lnTo>
                    <a:pt x="100012" y="0"/>
                  </a:lnTo>
                  <a:lnTo>
                    <a:pt x="128588" y="0"/>
                  </a:lnTo>
                  <a:close/>
                  <a:moveTo>
                    <a:pt x="65693" y="167712"/>
                  </a:moveTo>
                  <a:lnTo>
                    <a:pt x="114300" y="175190"/>
                  </a:lnTo>
                  <a:lnTo>
                    <a:pt x="162908" y="167712"/>
                  </a:lnTo>
                  <a:lnTo>
                    <a:pt x="158561" y="139469"/>
                  </a:lnTo>
                  <a:lnTo>
                    <a:pt x="114300" y="146278"/>
                  </a:lnTo>
                  <a:lnTo>
                    <a:pt x="70038" y="139469"/>
                  </a:lnTo>
                  <a:lnTo>
                    <a:pt x="65693" y="167712"/>
                  </a:lnTo>
                  <a:close/>
                  <a:moveTo>
                    <a:pt x="100012" y="96441"/>
                  </a:moveTo>
                  <a:cubicBezTo>
                    <a:pt x="100012" y="106304"/>
                    <a:pt x="92017" y="114300"/>
                    <a:pt x="82153" y="114300"/>
                  </a:cubicBezTo>
                  <a:cubicBezTo>
                    <a:pt x="72290" y="114300"/>
                    <a:pt x="64294" y="106304"/>
                    <a:pt x="64294" y="96441"/>
                  </a:cubicBezTo>
                  <a:cubicBezTo>
                    <a:pt x="64294" y="86577"/>
                    <a:pt x="72290" y="78581"/>
                    <a:pt x="82153" y="78581"/>
                  </a:cubicBezTo>
                  <a:cubicBezTo>
                    <a:pt x="92017" y="78581"/>
                    <a:pt x="100012" y="86577"/>
                    <a:pt x="100012" y="96441"/>
                  </a:cubicBezTo>
                  <a:close/>
                  <a:moveTo>
                    <a:pt x="146447" y="114300"/>
                  </a:moveTo>
                  <a:cubicBezTo>
                    <a:pt x="156311" y="114300"/>
                    <a:pt x="164306" y="106304"/>
                    <a:pt x="164306" y="96441"/>
                  </a:cubicBezTo>
                  <a:cubicBezTo>
                    <a:pt x="164306" y="86577"/>
                    <a:pt x="156311" y="78581"/>
                    <a:pt x="146447" y="78581"/>
                  </a:cubicBezTo>
                  <a:cubicBezTo>
                    <a:pt x="136583" y="78581"/>
                    <a:pt x="128588" y="86577"/>
                    <a:pt x="128588" y="96441"/>
                  </a:cubicBezTo>
                  <a:cubicBezTo>
                    <a:pt x="128588" y="106304"/>
                    <a:pt x="136583" y="114300"/>
                    <a:pt x="146447" y="114300"/>
                  </a:cubicBezTo>
                  <a:close/>
                </a:path>
              </a:pathLst>
            </a:custGeom>
            <a:solidFill>
              <a:srgbClr val="7DD3F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003042" y="58169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8个业务工具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324350" y="5676900"/>
              <a:ext cx="1809750" cy="438150"/>
            </a:xfrm>
            <a:prstGeom prst="roundRect">
              <a:avLst>
                <a:gd name="adj" fmla="val 13043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4510088" y="5795962"/>
              <a:ext cx="200025" cy="200025"/>
              <a:chOff x="4510088" y="5795962"/>
              <a:chExt cx="200025" cy="20002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4510088" y="5795962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0"/>
                    </a:moveTo>
                    <a:lnTo>
                      <a:pt x="0" y="200025"/>
                    </a:lnTo>
                    <a:lnTo>
                      <a:pt x="200025" y="200025"/>
                    </a:lnTo>
                    <a:lnTo>
                      <a:pt x="200025" y="171450"/>
                    </a:lnTo>
                    <a:lnTo>
                      <a:pt x="28575" y="171450"/>
                    </a:lnTo>
                    <a:lnTo>
                      <a:pt x="2857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Freeform 19"/>
              <p:cNvSpPr/>
              <p:nvPr/>
            </p:nvSpPr>
            <p:spPr>
              <a:xfrm>
                <a:off x="4567238" y="5824538"/>
                <a:ext cx="14287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14300">
                    <a:moveTo>
                      <a:pt x="0" y="57150"/>
                    </a:moveTo>
                    <a:lnTo>
                      <a:pt x="28575" y="28575"/>
                    </a:lnTo>
                    <a:lnTo>
                      <a:pt x="71438" y="71438"/>
                    </a:lnTo>
                    <a:lnTo>
                      <a:pt x="142875" y="0"/>
                    </a:lnTo>
                    <a:lnTo>
                      <a:pt x="142875" y="114300"/>
                    </a:lnTo>
                    <a:lnTo>
                      <a:pt x="0" y="114300"/>
                    </a:lnTo>
                    <a:lnTo>
                      <a:pt x="0" y="57150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4812792" y="58169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可观测运营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698754" y="6385560"/>
            <a:ext cx="525071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F8EA3"/>
                </a:solidFill>
                <a:latin typeface="Arial"/>
                <a:ea typeface="Microsoft YaHei"/>
                <a:cs typeface="Arial"/>
              </a:rPr>
              <a:t>Source: Agent系统介绍演讲稿.html.md + Agent系统验收说明文档.md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5070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Freeform 3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1143000"/>
                  </a:moveTo>
                  <a:lnTo>
                    <a:pt x="12192000" y="1143000"/>
                  </a:lnTo>
                  <a:moveTo>
                    <a:pt x="0" y="2286000"/>
                  </a:moveTo>
                  <a:lnTo>
                    <a:pt x="12192000" y="2286000"/>
                  </a:lnTo>
                  <a:moveTo>
                    <a:pt x="0" y="3429000"/>
                  </a:moveTo>
                  <a:lnTo>
                    <a:pt x="12192000" y="3429000"/>
                  </a:lnTo>
                  <a:moveTo>
                    <a:pt x="0" y="4572000"/>
                  </a:moveTo>
                  <a:lnTo>
                    <a:pt x="12192000" y="4572000"/>
                  </a:lnTo>
                  <a:moveTo>
                    <a:pt x="0" y="5715000"/>
                  </a:moveTo>
                  <a:lnTo>
                    <a:pt x="12192000" y="5715000"/>
                  </a:lnTo>
                  <a:moveTo>
                    <a:pt x="1524000" y="0"/>
                  </a:moveTo>
                  <a:lnTo>
                    <a:pt x="1524000" y="6858000"/>
                  </a:lnTo>
                  <a:moveTo>
                    <a:pt x="3048000" y="0"/>
                  </a:moveTo>
                  <a:lnTo>
                    <a:pt x="3048000" y="6858000"/>
                  </a:lnTo>
                  <a:moveTo>
                    <a:pt x="4572000" y="0"/>
                  </a:moveTo>
                  <a:lnTo>
                    <a:pt x="4572000" y="6858000"/>
                  </a:lnTo>
                  <a:moveTo>
                    <a:pt x="6096000" y="0"/>
                  </a:moveTo>
                  <a:lnTo>
                    <a:pt x="6096000" y="6858000"/>
                  </a:lnTo>
                  <a:moveTo>
                    <a:pt x="7620000" y="0"/>
                  </a:moveTo>
                  <a:lnTo>
                    <a:pt x="7620000" y="6858000"/>
                  </a:lnTo>
                  <a:moveTo>
                    <a:pt x="9144000" y="0"/>
                  </a:moveTo>
                  <a:lnTo>
                    <a:pt x="9144000" y="6858000"/>
                  </a:lnTo>
                  <a:moveTo>
                    <a:pt x="10668000" y="0"/>
                  </a:moveTo>
                  <a:lnTo>
                    <a:pt x="10668000" y="6858000"/>
                  </a:lnTo>
                </a:path>
              </a:pathLst>
            </a:custGeom>
            <a:noFill/>
            <a:ln w="9525">
              <a:solidFill>
                <a:srgbClr val="1C2A3D"/>
              </a:solidFill>
              <a:custDash>
                <a:ds d="200000" sp="1000000"/>
              </a:custDash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14350" y="264795"/>
            <a:ext cx="8307134" cy="946594"/>
            <a:chOff x="514350" y="264795"/>
            <a:chExt cx="8307134" cy="946594"/>
          </a:xfrm>
        </p:grpSpPr>
        <p:sp>
          <p:nvSpPr>
            <p:cNvPr id="5" name="TextBox 5"/>
            <p:cNvSpPr txBox="1"/>
            <p:nvPr/>
          </p:nvSpPr>
          <p:spPr>
            <a:xfrm>
              <a:off x="514350" y="264795"/>
              <a:ext cx="830713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核心交付已经升级为工程能力矩阵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44068" y="888682"/>
              <a:ext cx="6014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能力、协议、治理、回归四类资产共同证明：这不是单点功能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9600" y="1466850"/>
            <a:ext cx="2476500" cy="1676400"/>
            <a:chOff x="609600" y="1466850"/>
            <a:chExt cx="2476500" cy="1676400"/>
          </a:xfrm>
        </p:grpSpPr>
        <p:sp>
          <p:nvSpPr>
            <p:cNvPr id="8" name="Rectangle 8"/>
            <p:cNvSpPr/>
            <p:nvPr/>
          </p:nvSpPr>
          <p:spPr>
            <a:xfrm>
              <a:off x="609600" y="1466850"/>
              <a:ext cx="2476500" cy="1676400"/>
            </a:xfrm>
            <a:prstGeom prst="roundRect">
              <a:avLst>
                <a:gd name="adj" fmla="val 3409"/>
              </a:avLst>
            </a:prstGeom>
            <a:solidFill>
              <a:srgbClr val="111827"/>
            </a:solidFill>
            <a:ln w="14288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907056" y="1571511"/>
              <a:ext cx="323850" cy="303609"/>
            </a:xfrm>
            <a:custGeom>
              <a:avLst/>
              <a:gdLst/>
              <a:ahLst/>
              <a:cxnLst/>
              <a:rect l="l" t="t" r="r" b="b"/>
              <a:pathLst>
                <a:path w="323850" h="303609">
                  <a:moveTo>
                    <a:pt x="182166" y="0"/>
                  </a:moveTo>
                  <a:lnTo>
                    <a:pt x="182166" y="40481"/>
                  </a:lnTo>
                  <a:lnTo>
                    <a:pt x="263128" y="40481"/>
                  </a:lnTo>
                  <a:lnTo>
                    <a:pt x="323850" y="172045"/>
                  </a:lnTo>
                  <a:lnTo>
                    <a:pt x="263128" y="303609"/>
                  </a:lnTo>
                  <a:lnTo>
                    <a:pt x="60722" y="303609"/>
                  </a:lnTo>
                  <a:lnTo>
                    <a:pt x="0" y="172045"/>
                  </a:lnTo>
                  <a:lnTo>
                    <a:pt x="60722" y="40481"/>
                  </a:lnTo>
                  <a:lnTo>
                    <a:pt x="141684" y="40481"/>
                  </a:lnTo>
                  <a:lnTo>
                    <a:pt x="141684" y="0"/>
                  </a:lnTo>
                  <a:lnTo>
                    <a:pt x="182166" y="0"/>
                  </a:lnTo>
                  <a:close/>
                  <a:moveTo>
                    <a:pt x="93065" y="237593"/>
                  </a:moveTo>
                  <a:lnTo>
                    <a:pt x="161925" y="248186"/>
                  </a:lnTo>
                  <a:lnTo>
                    <a:pt x="230786" y="237593"/>
                  </a:lnTo>
                  <a:lnTo>
                    <a:pt x="224628" y="197581"/>
                  </a:lnTo>
                  <a:lnTo>
                    <a:pt x="161925" y="207228"/>
                  </a:lnTo>
                  <a:lnTo>
                    <a:pt x="99221" y="197581"/>
                  </a:lnTo>
                  <a:lnTo>
                    <a:pt x="93065" y="237593"/>
                  </a:lnTo>
                  <a:close/>
                  <a:moveTo>
                    <a:pt x="141684" y="136624"/>
                  </a:moveTo>
                  <a:cubicBezTo>
                    <a:pt x="141684" y="150598"/>
                    <a:pt x="130357" y="161925"/>
                    <a:pt x="116384" y="161925"/>
                  </a:cubicBezTo>
                  <a:cubicBezTo>
                    <a:pt x="102410" y="161925"/>
                    <a:pt x="91083" y="150598"/>
                    <a:pt x="91083" y="136624"/>
                  </a:cubicBezTo>
                  <a:cubicBezTo>
                    <a:pt x="91083" y="122651"/>
                    <a:pt x="102410" y="111323"/>
                    <a:pt x="116384" y="111323"/>
                  </a:cubicBezTo>
                  <a:cubicBezTo>
                    <a:pt x="130357" y="111323"/>
                    <a:pt x="141684" y="122651"/>
                    <a:pt x="141684" y="136624"/>
                  </a:cubicBezTo>
                  <a:close/>
                  <a:moveTo>
                    <a:pt x="207466" y="161925"/>
                  </a:moveTo>
                  <a:cubicBezTo>
                    <a:pt x="221441" y="161925"/>
                    <a:pt x="232767" y="150598"/>
                    <a:pt x="232767" y="136624"/>
                  </a:cubicBezTo>
                  <a:cubicBezTo>
                    <a:pt x="232767" y="122651"/>
                    <a:pt x="221441" y="111323"/>
                    <a:pt x="207466" y="111323"/>
                  </a:cubicBezTo>
                  <a:cubicBezTo>
                    <a:pt x="193493" y="111323"/>
                    <a:pt x="182166" y="122651"/>
                    <a:pt x="182166" y="136624"/>
                  </a:cubicBezTo>
                  <a:cubicBezTo>
                    <a:pt x="182166" y="150598"/>
                    <a:pt x="193493" y="161925"/>
                    <a:pt x="207466" y="161925"/>
                  </a:cubicBezTo>
                  <a:close/>
                </a:path>
              </a:pathLst>
            </a:custGeom>
            <a:solidFill>
              <a:srgbClr val="7DD3F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9150" y="1975485"/>
              <a:ext cx="924371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700" b="1" dirty="0">
                  <a:solidFill>
                    <a:srgbClr val="7DD3FC"/>
                  </a:solidFill>
                  <a:latin typeface="Arial"/>
                  <a:ea typeface="Arial"/>
                  <a:cs typeface="Arial"/>
                </a:rPr>
                <a:t>11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056" y="27393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意图识别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371850" y="1466850"/>
            <a:ext cx="2476500" cy="1676400"/>
            <a:chOff x="3371850" y="1466850"/>
            <a:chExt cx="2476500" cy="1676400"/>
          </a:xfrm>
        </p:grpSpPr>
        <p:sp>
          <p:nvSpPr>
            <p:cNvPr id="13" name="Rectangle 13"/>
            <p:cNvSpPr/>
            <p:nvPr/>
          </p:nvSpPr>
          <p:spPr>
            <a:xfrm>
              <a:off x="3371850" y="1466850"/>
              <a:ext cx="2476500" cy="1676400"/>
            </a:xfrm>
            <a:prstGeom prst="roundRect">
              <a:avLst>
                <a:gd name="adj" fmla="val 3409"/>
              </a:avLst>
            </a:prstGeom>
            <a:solidFill>
              <a:srgbClr val="111827"/>
            </a:solidFill>
            <a:ln w="14288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3703320" y="1619298"/>
              <a:ext cx="283369" cy="283369"/>
            </a:xfrm>
            <a:custGeom>
              <a:avLst/>
              <a:gdLst/>
              <a:ahLst/>
              <a:cxnLst/>
              <a:rect l="l" t="t" r="r" b="b"/>
              <a:pathLst>
                <a:path w="283369" h="283369">
                  <a:moveTo>
                    <a:pt x="283369" y="0"/>
                  </a:moveTo>
                  <a:lnTo>
                    <a:pt x="0" y="0"/>
                  </a:lnTo>
                  <a:lnTo>
                    <a:pt x="0" y="283369"/>
                  </a:lnTo>
                  <a:lnTo>
                    <a:pt x="283369" y="283369"/>
                  </a:lnTo>
                  <a:lnTo>
                    <a:pt x="283369" y="0"/>
                  </a:lnTo>
                  <a:close/>
                  <a:moveTo>
                    <a:pt x="101203" y="80962"/>
                  </a:moveTo>
                  <a:lnTo>
                    <a:pt x="129828" y="109587"/>
                  </a:lnTo>
                  <a:lnTo>
                    <a:pt x="97730" y="141684"/>
                  </a:lnTo>
                  <a:lnTo>
                    <a:pt x="129828" y="173782"/>
                  </a:lnTo>
                  <a:lnTo>
                    <a:pt x="101203" y="202406"/>
                  </a:lnTo>
                  <a:lnTo>
                    <a:pt x="40481" y="141684"/>
                  </a:lnTo>
                  <a:lnTo>
                    <a:pt x="101203" y="80962"/>
                  </a:lnTo>
                  <a:close/>
                  <a:moveTo>
                    <a:pt x="182166" y="80962"/>
                  </a:moveTo>
                  <a:lnTo>
                    <a:pt x="153541" y="109587"/>
                  </a:lnTo>
                  <a:lnTo>
                    <a:pt x="185639" y="141684"/>
                  </a:lnTo>
                  <a:lnTo>
                    <a:pt x="153541" y="173782"/>
                  </a:lnTo>
                  <a:lnTo>
                    <a:pt x="182166" y="202406"/>
                  </a:lnTo>
                  <a:lnTo>
                    <a:pt x="242888" y="141684"/>
                  </a:lnTo>
                  <a:lnTo>
                    <a:pt x="182166" y="80962"/>
                  </a:lnTo>
                  <a:close/>
                </a:path>
              </a:pathLst>
            </a:custGeom>
            <a:solidFill>
              <a:srgbClr val="8B5CF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81400" y="1975485"/>
              <a:ext cx="481235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700" b="1" dirty="0">
                  <a:solidFill>
                    <a:srgbClr val="8B5CF6"/>
                  </a:solidFill>
                  <a:latin typeface="Arial"/>
                  <a:ea typeface="Arial"/>
                  <a:cs typeface="Arial"/>
                </a:rPr>
                <a:t>8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91306" y="27393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业务工具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134100" y="1466850"/>
            <a:ext cx="2476500" cy="1676400"/>
            <a:chOff x="6134100" y="1466850"/>
            <a:chExt cx="2476500" cy="1676400"/>
          </a:xfrm>
        </p:grpSpPr>
        <p:sp>
          <p:nvSpPr>
            <p:cNvPr id="18" name="Rectangle 18"/>
            <p:cNvSpPr/>
            <p:nvPr/>
          </p:nvSpPr>
          <p:spPr>
            <a:xfrm>
              <a:off x="6134100" y="1466850"/>
              <a:ext cx="2476500" cy="1676400"/>
            </a:xfrm>
            <a:prstGeom prst="roundRect">
              <a:avLst>
                <a:gd name="adj" fmla="val 3409"/>
              </a:avLst>
            </a:prstGeom>
            <a:solidFill>
              <a:srgbClr val="111827"/>
            </a:solidFill>
            <a:ln w="14288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6404019" y="1633061"/>
              <a:ext cx="323851" cy="283369"/>
              <a:chOff x="6404019" y="1633061"/>
              <a:chExt cx="323851" cy="283369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6464741" y="1633061"/>
                <a:ext cx="101203" cy="101203"/>
              </a:xfrm>
              <a:custGeom>
                <a:avLst/>
                <a:gdLst/>
                <a:ahLst/>
                <a:cxnLst/>
                <a:rect l="l" t="t" r="r" b="b"/>
                <a:pathLst>
                  <a:path w="101203" h="101203">
                    <a:moveTo>
                      <a:pt x="101203" y="50602"/>
                    </a:moveTo>
                    <a:cubicBezTo>
                      <a:pt x="101203" y="78548"/>
                      <a:pt x="78548" y="101203"/>
                      <a:pt x="50602" y="101203"/>
                    </a:cubicBezTo>
                    <a:cubicBezTo>
                      <a:pt x="22655" y="101203"/>
                      <a:pt x="0" y="78548"/>
                      <a:pt x="0" y="50602"/>
                    </a:cubicBezTo>
                    <a:cubicBezTo>
                      <a:pt x="0" y="22655"/>
                      <a:pt x="22655" y="0"/>
                      <a:pt x="50602" y="0"/>
                    </a:cubicBezTo>
                    <a:cubicBezTo>
                      <a:pt x="78548" y="0"/>
                      <a:pt x="101203" y="22655"/>
                      <a:pt x="101203" y="50602"/>
                    </a:cubicBez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6404019" y="1774746"/>
                <a:ext cx="161925" cy="141684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41684">
                    <a:moveTo>
                      <a:pt x="60722" y="0"/>
                    </a:moveTo>
                    <a:cubicBezTo>
                      <a:pt x="27186" y="0"/>
                      <a:pt x="0" y="27186"/>
                      <a:pt x="0" y="60722"/>
                    </a:cubicBezTo>
                    <a:lnTo>
                      <a:pt x="0" y="141684"/>
                    </a:lnTo>
                    <a:lnTo>
                      <a:pt x="161925" y="141684"/>
                    </a:lnTo>
                    <a:lnTo>
                      <a:pt x="161925" y="0"/>
                    </a:lnTo>
                    <a:lnTo>
                      <a:pt x="60722" y="0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6606426" y="1774746"/>
                <a:ext cx="121444" cy="141684"/>
              </a:xfrm>
              <a:custGeom>
                <a:avLst/>
                <a:gdLst/>
                <a:ahLst/>
                <a:cxnLst/>
                <a:rect l="l" t="t" r="r" b="b"/>
                <a:pathLst>
                  <a:path w="121444" h="141684">
                    <a:moveTo>
                      <a:pt x="60722" y="0"/>
                    </a:moveTo>
                    <a:lnTo>
                      <a:pt x="0" y="0"/>
                    </a:lnTo>
                    <a:lnTo>
                      <a:pt x="0" y="141684"/>
                    </a:lnTo>
                    <a:lnTo>
                      <a:pt x="121444" y="141684"/>
                    </a:lnTo>
                    <a:lnTo>
                      <a:pt x="121444" y="60722"/>
                    </a:lnTo>
                    <a:cubicBezTo>
                      <a:pt x="121444" y="27186"/>
                      <a:pt x="94259" y="0"/>
                      <a:pt x="60722" y="0"/>
                    </a:cubicBez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6606426" y="1653302"/>
                <a:ext cx="80962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80962">
                    <a:moveTo>
                      <a:pt x="40481" y="80962"/>
                    </a:moveTo>
                    <a:cubicBezTo>
                      <a:pt x="62839" y="80962"/>
                      <a:pt x="80962" y="62838"/>
                      <a:pt x="80962" y="40481"/>
                    </a:cubicBezTo>
                    <a:cubicBezTo>
                      <a:pt x="80962" y="18124"/>
                      <a:pt x="62839" y="0"/>
                      <a:pt x="40481" y="0"/>
                    </a:cubicBezTo>
                    <a:cubicBezTo>
                      <a:pt x="18123" y="0"/>
                      <a:pt x="0" y="18124"/>
                      <a:pt x="0" y="40481"/>
                    </a:cubicBezTo>
                    <a:cubicBezTo>
                      <a:pt x="0" y="62838"/>
                      <a:pt x="18123" y="80962"/>
                      <a:pt x="40481" y="80962"/>
                    </a:cubicBez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6343650" y="1975485"/>
              <a:ext cx="481235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700" b="1" dirty="0">
                  <a:solidFill>
                    <a:srgbClr val="F59E0B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53556" y="2739390"/>
              <a:ext cx="9587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B6C2D2"/>
                  </a:solidFill>
                  <a:latin typeface="Arial"/>
                  <a:ea typeface="Arial"/>
                  <a:cs typeface="Arial"/>
                </a:rPr>
                <a:t>Persona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896350" y="1466850"/>
            <a:ext cx="2476500" cy="1676400"/>
            <a:chOff x="8896350" y="1466850"/>
            <a:chExt cx="2476500" cy="1676400"/>
          </a:xfrm>
        </p:grpSpPr>
        <p:sp>
          <p:nvSpPr>
            <p:cNvPr id="27" name="Rectangle 27"/>
            <p:cNvSpPr/>
            <p:nvPr/>
          </p:nvSpPr>
          <p:spPr>
            <a:xfrm>
              <a:off x="8896350" y="1466850"/>
              <a:ext cx="2476500" cy="1676400"/>
            </a:xfrm>
            <a:prstGeom prst="roundRect">
              <a:avLst>
                <a:gd name="adj" fmla="val 3409"/>
              </a:avLst>
            </a:prstGeom>
            <a:solidFill>
              <a:srgbClr val="111827"/>
            </a:solidFill>
            <a:ln w="14288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9192978" y="1626594"/>
              <a:ext cx="242888" cy="323849"/>
              <a:chOff x="9192978" y="1626594"/>
              <a:chExt cx="242888" cy="323849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9192978" y="1626594"/>
                <a:ext cx="242888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80962">
                    <a:moveTo>
                      <a:pt x="242888" y="0"/>
                    </a:moveTo>
                    <a:lnTo>
                      <a:pt x="0" y="0"/>
                    </a:lnTo>
                    <a:lnTo>
                      <a:pt x="0" y="80962"/>
                    </a:lnTo>
                    <a:lnTo>
                      <a:pt x="242888" y="80962"/>
                    </a:lnTo>
                    <a:lnTo>
                      <a:pt x="242888" y="0"/>
                    </a:ln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Freeform 29"/>
              <p:cNvSpPr/>
              <p:nvPr/>
            </p:nvSpPr>
            <p:spPr>
              <a:xfrm>
                <a:off x="9192978" y="1748038"/>
                <a:ext cx="101203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101203" h="80962">
                    <a:moveTo>
                      <a:pt x="0" y="0"/>
                    </a:moveTo>
                    <a:lnTo>
                      <a:pt x="101203" y="0"/>
                    </a:lnTo>
                    <a:lnTo>
                      <a:pt x="101203" y="80962"/>
                    </a:lnTo>
                    <a:lnTo>
                      <a:pt x="0" y="809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Freeform 30"/>
              <p:cNvSpPr/>
              <p:nvPr/>
            </p:nvSpPr>
            <p:spPr>
              <a:xfrm>
                <a:off x="9192978" y="1869481"/>
                <a:ext cx="101203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101203" h="80962">
                    <a:moveTo>
                      <a:pt x="0" y="0"/>
                    </a:moveTo>
                    <a:lnTo>
                      <a:pt x="101203" y="0"/>
                    </a:lnTo>
                    <a:lnTo>
                      <a:pt x="101203" y="80962"/>
                    </a:lnTo>
                    <a:lnTo>
                      <a:pt x="0" y="809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Freeform 31"/>
              <p:cNvSpPr/>
              <p:nvPr/>
            </p:nvSpPr>
            <p:spPr>
              <a:xfrm>
                <a:off x="9334662" y="1869481"/>
                <a:ext cx="101203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101203" h="80962">
                    <a:moveTo>
                      <a:pt x="0" y="0"/>
                    </a:moveTo>
                    <a:lnTo>
                      <a:pt x="101203" y="0"/>
                    </a:lnTo>
                    <a:lnTo>
                      <a:pt x="101203" y="80962"/>
                    </a:lnTo>
                    <a:lnTo>
                      <a:pt x="0" y="809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Freeform 32"/>
              <p:cNvSpPr/>
              <p:nvPr/>
            </p:nvSpPr>
            <p:spPr>
              <a:xfrm>
                <a:off x="9334662" y="1748038"/>
                <a:ext cx="101203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101203" h="80962">
                    <a:moveTo>
                      <a:pt x="101203" y="0"/>
                    </a:moveTo>
                    <a:lnTo>
                      <a:pt x="0" y="0"/>
                    </a:lnTo>
                    <a:lnTo>
                      <a:pt x="0" y="80962"/>
                    </a:lnTo>
                    <a:lnTo>
                      <a:pt x="101203" y="80962"/>
                    </a:lnTo>
                    <a:lnTo>
                      <a:pt x="101203" y="0"/>
                    </a:ln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9105900" y="1975485"/>
              <a:ext cx="481235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700" b="1" dirty="0">
                  <a:solidFill>
                    <a:srgbClr val="22C55E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115806" y="27393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结构化卡片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9600" y="3543300"/>
            <a:ext cx="10763250" cy="1916239"/>
            <a:chOff x="609600" y="3543300"/>
            <a:chExt cx="10763250" cy="1916239"/>
          </a:xfrm>
        </p:grpSpPr>
        <p:sp>
          <p:nvSpPr>
            <p:cNvPr id="37" name="Rectangle 37"/>
            <p:cNvSpPr/>
            <p:nvPr/>
          </p:nvSpPr>
          <p:spPr>
            <a:xfrm>
              <a:off x="609600" y="3543300"/>
              <a:ext cx="10763250" cy="1581150"/>
            </a:xfrm>
            <a:prstGeom prst="roundRect">
              <a:avLst>
                <a:gd name="adj" fmla="val 3614"/>
              </a:avLst>
            </a:prstGeom>
            <a:solidFill>
              <a:srgbClr val="111827"/>
            </a:solidFill>
            <a:ln w="14288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1446" y="4037646"/>
              <a:ext cx="146768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验收证据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369134" y="3925175"/>
              <a:ext cx="608660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21 项验收条目全部通过 · 36 份测试文档沉淀 · </a:t>
              </a:r>
              <a:endParaRPr lang="en-US" altLang="zh-CN" sz="2100" dirty="0">
                <a:solidFill>
                  <a:srgbClr val="B6C2D2"/>
                </a:solidFill>
                <a:latin typeface="Arial"/>
                <a:ea typeface="Microsoft YaHei"/>
                <a:cs typeface="Arial"/>
              </a:endParaRPr>
            </a:p>
            <a:p>
              <a:pPr algn="l"/>
              <a:r>
                <a:rPr lang="zh-CN" sz="210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172/172 UI 静态检查通过 · Playwright 4/4 回归通过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914400" y="4819650"/>
              <a:ext cx="10153650" cy="9525"/>
            </a:xfrm>
            <a:custGeom>
              <a:avLst/>
              <a:gdLst/>
              <a:ahLst/>
              <a:cxnLst/>
              <a:rect l="l" t="t" r="r" b="b"/>
              <a:pathLst>
                <a:path w="10153650" h="9525">
                  <a:moveTo>
                    <a:pt x="0" y="0"/>
                  </a:moveTo>
                  <a:lnTo>
                    <a:pt x="10153650" y="0"/>
                  </a:lnTo>
                </a:path>
              </a:pathLst>
            </a:custGeom>
            <a:noFill/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6018" y="5136832"/>
              <a:ext cx="79924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Capability = Intents + Tools + Personas + Cards + Governance + Regression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527304" y="6309360"/>
            <a:ext cx="413110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7F8EA3"/>
                </a:solidFill>
                <a:latin typeface="Arial"/>
                <a:ea typeface="Arial"/>
                <a:cs typeface="Arial"/>
              </a:rPr>
              <a:t>P02 · KPI overview adapted from kpi_cards template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  <p:bldP spid="26" grpId="0"/>
      <p:bldP spid="36" grpId="0"/>
      <p:bldP spid="4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5070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3"/>
            <a:srcRect t="27" b="2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11827">
                    <a:alpha val="18000"/>
                  </a:srgbClr>
                </a:gs>
                <a:gs pos="100000">
                  <a:srgbClr val="05070D">
                    <a:alpha val="9200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360045"/>
            <a:ext cx="7204596" cy="965644"/>
            <a:chOff x="666750" y="360045"/>
            <a:chExt cx="7204596" cy="965644"/>
          </a:xfrm>
        </p:grpSpPr>
        <p:sp>
          <p:nvSpPr>
            <p:cNvPr id="6" name="TextBox 6"/>
            <p:cNvSpPr txBox="1"/>
            <p:nvPr/>
          </p:nvSpPr>
          <p:spPr>
            <a:xfrm>
              <a:off x="666750" y="360045"/>
              <a:ext cx="720459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工程价值来自四个可验证维度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96468" y="1002982"/>
              <a:ext cx="69025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功能数量只是结果；真正的价值是能力能否被控制、扩展、观测和回归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14500" y="2362200"/>
            <a:ext cx="8763000" cy="1162050"/>
            <a:chOff x="1714500" y="2362200"/>
            <a:chExt cx="8763000" cy="1162050"/>
          </a:xfrm>
        </p:grpSpPr>
        <p:sp>
          <p:nvSpPr>
            <p:cNvPr id="9" name="Rectangle 9"/>
            <p:cNvSpPr/>
            <p:nvPr/>
          </p:nvSpPr>
          <p:spPr>
            <a:xfrm>
              <a:off x="1714500" y="2362200"/>
              <a:ext cx="8763000" cy="1162050"/>
            </a:xfrm>
            <a:prstGeom prst="roundRect">
              <a:avLst>
                <a:gd name="adj" fmla="val 6557"/>
              </a:avLst>
            </a:prstGeom>
            <a:solidFill>
              <a:srgbClr val="05070D">
                <a:alpha val="72000"/>
              </a:srgbClr>
            </a:solidFill>
            <a:ln w="14288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8390" y="2724150"/>
              <a:ext cx="7475220" cy="381000"/>
            </a:xfrm>
            <a:prstGeom prst="rect">
              <a:avLst/>
            </a:prstGeom>
          </p:spPr>
        </p:pic>
      </p:grpSp>
      <p:grpSp>
        <p:nvGrpSpPr>
          <p:cNvPr id="24" name="Group 24"/>
          <p:cNvGrpSpPr/>
          <p:nvPr/>
        </p:nvGrpSpPr>
        <p:grpSpPr>
          <a:xfrm>
            <a:off x="1790700" y="4229100"/>
            <a:ext cx="8610600" cy="1066800"/>
            <a:chOff x="1790700" y="4229100"/>
            <a:chExt cx="8610600" cy="1066800"/>
          </a:xfrm>
        </p:grpSpPr>
        <p:sp>
          <p:nvSpPr>
            <p:cNvPr id="12" name="Ellipse 12"/>
            <p:cNvSpPr/>
            <p:nvPr/>
          </p:nvSpPr>
          <p:spPr>
            <a:xfrm>
              <a:off x="1790700" y="4229100"/>
              <a:ext cx="1066800" cy="1066800"/>
            </a:xfrm>
            <a:prstGeom prst="ellipse">
              <a:avLst/>
            </a:prstGeom>
            <a:solidFill>
              <a:srgbClr val="111827"/>
            </a:solidFill>
            <a:ln w="19050">
              <a:solidFill>
                <a:srgbClr val="7DD3FC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41027" y="4482465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C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093595" y="485108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可控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4305300" y="4229100"/>
              <a:ext cx="1066800" cy="1066800"/>
            </a:xfrm>
            <a:prstGeom prst="ellipse">
              <a:avLst/>
            </a:prstGeom>
            <a:solidFill>
              <a:srgbClr val="111827"/>
            </a:solidFill>
            <a:ln w="19050">
              <a:solidFill>
                <a:srgbClr val="8B5CF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55627" y="4482465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8B5CF6"/>
                  </a:solidFill>
                  <a:latin typeface="Consolas"/>
                  <a:ea typeface="Consolas"/>
                  <a:cs typeface="Consolas"/>
                </a:rPr>
                <a:t>X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97134" y="48510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可扩展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819900" y="4229100"/>
              <a:ext cx="1066800" cy="1066800"/>
            </a:xfrm>
            <a:prstGeom prst="ellipse">
              <a:avLst/>
            </a:prstGeom>
            <a:solidFill>
              <a:srgbClr val="111827"/>
            </a:solidFill>
            <a:ln w="19050">
              <a:solidFill>
                <a:srgbClr val="F59E0B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43343" y="4482465"/>
              <a:ext cx="2199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O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11734" y="48510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可观测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9334500" y="4229100"/>
              <a:ext cx="1066800" cy="1066800"/>
            </a:xfrm>
            <a:prstGeom prst="ellipse">
              <a:avLst/>
            </a:prstGeom>
            <a:solidFill>
              <a:srgbClr val="111827"/>
            </a:solidFill>
            <a:ln w="19050">
              <a:solidFill>
                <a:srgbClr val="22C55E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84827" y="4482465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26334" y="48510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可回归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845436" y="5706428"/>
            <a:ext cx="8501127" cy="498729"/>
            <a:chOff x="1845436" y="5706428"/>
            <a:chExt cx="8501127" cy="498729"/>
          </a:xfrm>
        </p:grpSpPr>
        <p:sp>
          <p:nvSpPr>
            <p:cNvPr id="25" name="TextBox 25"/>
            <p:cNvSpPr txBox="1"/>
            <p:nvPr/>
          </p:nvSpPr>
          <p:spPr>
            <a:xfrm>
              <a:off x="1845436" y="5706428"/>
              <a:ext cx="85011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Agent 的价值不在“会说话”，而在“能被工程化治理”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4" grpId="0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5070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Freeform 3"/>
            <p:cNvSpPr/>
            <p:nvPr/>
          </p:nvSpPr>
          <p:spPr>
            <a:xfrm>
              <a:off x="571500" y="1257300"/>
              <a:ext cx="7620000" cy="4572000"/>
            </a:xfrm>
            <a:custGeom>
              <a:avLst/>
              <a:gdLst/>
              <a:ahLst/>
              <a:cxnLst/>
              <a:rect l="l" t="t" r="r" b="b"/>
              <a:pathLst>
                <a:path w="7620000" h="4572000">
                  <a:moveTo>
                    <a:pt x="0" y="0"/>
                  </a:moveTo>
                  <a:lnTo>
                    <a:pt x="7620000" y="0"/>
                  </a:lnTo>
                  <a:moveTo>
                    <a:pt x="0" y="1143000"/>
                  </a:moveTo>
                  <a:lnTo>
                    <a:pt x="7620000" y="1143000"/>
                  </a:lnTo>
                  <a:moveTo>
                    <a:pt x="0" y="2286000"/>
                  </a:moveTo>
                  <a:lnTo>
                    <a:pt x="7620000" y="2286000"/>
                  </a:lnTo>
                  <a:moveTo>
                    <a:pt x="0" y="3429000"/>
                  </a:moveTo>
                  <a:lnTo>
                    <a:pt x="7620000" y="3429000"/>
                  </a:lnTo>
                  <a:moveTo>
                    <a:pt x="0" y="4572000"/>
                  </a:moveTo>
                  <a:lnTo>
                    <a:pt x="7620000" y="4572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1C2A3D"/>
              </a:solidFill>
              <a:prstDash val="lgDash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14350" y="264795"/>
            <a:ext cx="10268403" cy="946594"/>
            <a:chOff x="514350" y="264795"/>
            <a:chExt cx="10268403" cy="946594"/>
          </a:xfrm>
        </p:grpSpPr>
        <p:sp>
          <p:nvSpPr>
            <p:cNvPr id="5" name="TextBox 5"/>
            <p:cNvSpPr txBox="1"/>
            <p:nvPr/>
          </p:nvSpPr>
          <p:spPr>
            <a:xfrm>
              <a:off x="514350" y="264795"/>
              <a:ext cx="10268403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局部嫁接让 Agent 演进不污染原业务主干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44068" y="888682"/>
              <a:ext cx="8013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`agent_system/` 与原有 API / service / DAO 平行存在，边界清晰，风险可控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66750" y="1485900"/>
            <a:ext cx="7620000" cy="4248150"/>
            <a:chOff x="666750" y="1485900"/>
            <a:chExt cx="7620000" cy="4248150"/>
          </a:xfrm>
        </p:grpSpPr>
        <p:sp>
          <p:nvSpPr>
            <p:cNvPr id="8" name="Rectangle 8"/>
            <p:cNvSpPr/>
            <p:nvPr/>
          </p:nvSpPr>
          <p:spPr>
            <a:xfrm>
              <a:off x="666750" y="1485900"/>
              <a:ext cx="7620000" cy="819150"/>
            </a:xfrm>
            <a:prstGeom prst="roundRect">
              <a:avLst>
                <a:gd name="adj" fmla="val 6977"/>
              </a:avLst>
            </a:prstGeom>
            <a:solidFill>
              <a:srgbClr val="111827"/>
            </a:solidFill>
            <a:ln w="9525">
              <a:solidFill>
                <a:srgbClr val="7DD3FC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8680" y="1628775"/>
              <a:ext cx="1082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01 · ENTRY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5632" y="1887855"/>
              <a:ext cx="54029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F8FAFC"/>
                  </a:solidFill>
                  <a:latin typeface="Arial"/>
                  <a:ea typeface="Arial"/>
                  <a:cs typeface="Arial"/>
                </a:rPr>
                <a:t>FloatingAgent / `/agent` / SSE Stream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66750" y="2628900"/>
              <a:ext cx="7620000" cy="819150"/>
            </a:xfrm>
            <a:prstGeom prst="roundRect">
              <a:avLst>
                <a:gd name="adj" fmla="val 6977"/>
              </a:avLst>
            </a:prstGeom>
            <a:solidFill>
              <a:srgbClr val="111827"/>
            </a:solidFill>
            <a:ln w="9525">
              <a:solidFill>
                <a:srgbClr val="8B5CF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8680" y="2771775"/>
              <a:ext cx="20528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8B5CF6"/>
                  </a:solidFill>
                  <a:latin typeface="Consolas"/>
                  <a:ea typeface="Consolas"/>
                  <a:cs typeface="Consolas"/>
                </a:rPr>
                <a:t>02 · ORCHESTRATION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5632" y="3030855"/>
              <a:ext cx="61135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F8FAFC"/>
                  </a:solidFill>
                  <a:latin typeface="Arial"/>
                  <a:ea typeface="Arial"/>
                  <a:cs typeface="Arial"/>
                </a:rPr>
                <a:t>middleware -&gt; intent -&gt; planner -&gt; executor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66750" y="3771900"/>
              <a:ext cx="7620000" cy="819150"/>
            </a:xfrm>
            <a:prstGeom prst="roundRect">
              <a:avLst>
                <a:gd name="adj" fmla="val 6977"/>
              </a:avLst>
            </a:prstGeom>
            <a:solidFill>
              <a:srgbClr val="111827"/>
            </a:solidFill>
            <a:ln w="9525">
              <a:solidFill>
                <a:srgbClr val="F59E0B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8680" y="3914775"/>
              <a:ext cx="1562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03 · CAPABILITY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65632" y="4173855"/>
              <a:ext cx="63413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F8FAFC"/>
                  </a:solidFill>
                  <a:latin typeface="Arial"/>
                  <a:ea typeface="Arial"/>
                  <a:cs typeface="Arial"/>
                </a:rPr>
                <a:t>RAG / score / NL2SQL / weather / email / map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66750" y="4914900"/>
              <a:ext cx="7620000" cy="819150"/>
            </a:xfrm>
            <a:prstGeom prst="roundRect">
              <a:avLst>
                <a:gd name="adj" fmla="val 6977"/>
              </a:avLst>
            </a:prstGeom>
            <a:solidFill>
              <a:srgbClr val="111827"/>
            </a:solidFill>
            <a:ln w="9525">
              <a:solidFill>
                <a:srgbClr val="22C55E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8680" y="5057775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04 · GOVERNANCE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5632" y="5316855"/>
              <a:ext cx="676471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F8FAFC"/>
                  </a:solidFill>
                  <a:latin typeface="Arial"/>
                  <a:ea typeface="Arial"/>
                  <a:cs typeface="Arial"/>
                </a:rPr>
                <a:t>memory / HITL / feedback / metrics / regression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669983" y="1485900"/>
            <a:ext cx="2948285" cy="4248150"/>
            <a:chOff x="8669983" y="1485900"/>
            <a:chExt cx="2948285" cy="4248150"/>
          </a:xfrm>
        </p:grpSpPr>
        <p:sp>
          <p:nvSpPr>
            <p:cNvPr id="21" name="Rectangle 21"/>
            <p:cNvSpPr/>
            <p:nvPr/>
          </p:nvSpPr>
          <p:spPr>
            <a:xfrm>
              <a:off x="8858250" y="1485900"/>
              <a:ext cx="2571750" cy="4248150"/>
            </a:xfrm>
            <a:prstGeom prst="roundRect">
              <a:avLst>
                <a:gd name="adj" fmla="val 2222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9775031" y="1847850"/>
              <a:ext cx="566738" cy="647700"/>
              <a:chOff x="9775031" y="1847850"/>
              <a:chExt cx="566738" cy="6477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9775031" y="1847850"/>
                <a:ext cx="566738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566738" h="323850">
                    <a:moveTo>
                      <a:pt x="0" y="202406"/>
                    </a:moveTo>
                    <a:lnTo>
                      <a:pt x="0" y="121444"/>
                    </a:lnTo>
                    <a:lnTo>
                      <a:pt x="283369" y="0"/>
                    </a:lnTo>
                    <a:lnTo>
                      <a:pt x="566738" y="121444"/>
                    </a:lnTo>
                    <a:lnTo>
                      <a:pt x="566738" y="202406"/>
                    </a:lnTo>
                    <a:lnTo>
                      <a:pt x="283369" y="323850"/>
                    </a:lnTo>
                    <a:lnTo>
                      <a:pt x="0" y="202406"/>
                    </a:ln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9775031" y="2293144"/>
                <a:ext cx="566738" cy="202406"/>
              </a:xfrm>
              <a:custGeom>
                <a:avLst/>
                <a:gdLst/>
                <a:ahLst/>
                <a:cxnLst/>
                <a:rect l="l" t="t" r="r" b="b"/>
                <a:pathLst>
                  <a:path w="566738" h="202406">
                    <a:moveTo>
                      <a:pt x="283369" y="202406"/>
                    </a:moveTo>
                    <a:lnTo>
                      <a:pt x="0" y="80962"/>
                    </a:lnTo>
                    <a:lnTo>
                      <a:pt x="0" y="0"/>
                    </a:lnTo>
                    <a:lnTo>
                      <a:pt x="283369" y="121444"/>
                    </a:lnTo>
                    <a:lnTo>
                      <a:pt x="566738" y="0"/>
                    </a:lnTo>
                    <a:lnTo>
                      <a:pt x="566738" y="80962"/>
                    </a:lnTo>
                    <a:lnTo>
                      <a:pt x="283369" y="202406"/>
                    </a:ln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Freeform 24"/>
              <p:cNvSpPr/>
              <p:nvPr/>
            </p:nvSpPr>
            <p:spPr>
              <a:xfrm>
                <a:off x="9775031" y="2131219"/>
                <a:ext cx="566738" cy="202406"/>
              </a:xfrm>
              <a:custGeom>
                <a:avLst/>
                <a:gdLst/>
                <a:ahLst/>
                <a:cxnLst/>
                <a:rect l="l" t="t" r="r" b="b"/>
                <a:pathLst>
                  <a:path w="566738" h="202406">
                    <a:moveTo>
                      <a:pt x="0" y="80962"/>
                    </a:moveTo>
                    <a:lnTo>
                      <a:pt x="283369" y="202406"/>
                    </a:lnTo>
                    <a:lnTo>
                      <a:pt x="566738" y="80962"/>
                    </a:lnTo>
                    <a:lnTo>
                      <a:pt x="566738" y="0"/>
                    </a:lnTo>
                    <a:lnTo>
                      <a:pt x="283369" y="121444"/>
                    </a:lnTo>
                    <a:lnTo>
                      <a:pt x="0" y="0"/>
                    </a:lnTo>
                    <a:lnTo>
                      <a:pt x="0" y="80962"/>
                    </a:ln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9230058" y="2753678"/>
              <a:ext cx="18281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原业务主干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47722" y="3234690"/>
              <a:ext cx="27928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学生 / 成绩 / 班级 / 就业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9182100" y="3829050"/>
              <a:ext cx="1924050" cy="9525"/>
            </a:xfrm>
            <a:custGeom>
              <a:avLst/>
              <a:gdLst/>
              <a:ahLst/>
              <a:cxnLst/>
              <a:rect l="l" t="t" r="r" b="b"/>
              <a:pathLst>
                <a:path w="1924050" h="9525">
                  <a:moveTo>
                    <a:pt x="0" y="0"/>
                  </a:moveTo>
                  <a:lnTo>
                    <a:pt x="1924050" y="0"/>
                  </a:lnTo>
                </a:path>
              </a:pathLst>
            </a:custGeom>
            <a:noFill/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19556" y="4062412"/>
              <a:ext cx="22491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零次拖入大重构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69983" y="4584382"/>
              <a:ext cx="29482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Agent 迭代在独立边界内完成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527304" y="6309360"/>
            <a:ext cx="30225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7F8EA3"/>
                </a:solidFill>
                <a:latin typeface="Arial"/>
                <a:ea typeface="Arial"/>
                <a:cs typeface="Arial"/>
              </a:rPr>
              <a:t>P04 · layered architecture adaptation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5070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Freeform 3"/>
            <p:cNvSpPr/>
            <p:nvPr/>
          </p:nvSpPr>
          <p:spPr>
            <a:xfrm>
              <a:off x="476250" y="1333500"/>
              <a:ext cx="11239500" cy="4667250"/>
            </a:xfrm>
            <a:custGeom>
              <a:avLst/>
              <a:gdLst/>
              <a:ahLst/>
              <a:cxnLst/>
              <a:rect l="l" t="t" r="r" b="b"/>
              <a:pathLst>
                <a:path w="11239500" h="4667250">
                  <a:moveTo>
                    <a:pt x="0" y="0"/>
                  </a:moveTo>
                  <a:lnTo>
                    <a:pt x="11239500" y="0"/>
                  </a:lnTo>
                  <a:moveTo>
                    <a:pt x="0" y="4667250"/>
                  </a:moveTo>
                  <a:lnTo>
                    <a:pt x="11239500" y="466725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1C2A3D"/>
              </a:solidFill>
              <a:prstDash val="lgDash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14350" y="264795"/>
            <a:ext cx="11652786" cy="946594"/>
            <a:chOff x="514350" y="264795"/>
            <a:chExt cx="11652786" cy="946594"/>
          </a:xfrm>
        </p:grpSpPr>
        <p:sp>
          <p:nvSpPr>
            <p:cNvPr id="5" name="TextBox 5"/>
            <p:cNvSpPr txBox="1"/>
            <p:nvPr/>
          </p:nvSpPr>
          <p:spPr>
            <a:xfrm>
              <a:off x="514350" y="264795"/>
              <a:ext cx="1165278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Planner 驱动把工具调用风险收敛到确定性链路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44068" y="888682"/>
              <a:ext cx="66234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LLM 负责理解和计划，真正执行的是结构化步骤和确定性工具链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90550" y="1885950"/>
            <a:ext cx="1809750" cy="1485900"/>
            <a:chOff x="590550" y="1885950"/>
            <a:chExt cx="1809750" cy="1485900"/>
          </a:xfrm>
        </p:grpSpPr>
        <p:sp>
          <p:nvSpPr>
            <p:cNvPr id="8" name="Rectangle 8"/>
            <p:cNvSpPr/>
            <p:nvPr/>
          </p:nvSpPr>
          <p:spPr>
            <a:xfrm>
              <a:off x="590550" y="1885950"/>
              <a:ext cx="1809750" cy="1485900"/>
            </a:xfrm>
            <a:prstGeom prst="roundRect">
              <a:avLst>
                <a:gd name="adj" fmla="val 3846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2292" y="212121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08482" y="24593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意图分类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1530" y="29051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只判断任务本身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495550" y="1885950"/>
            <a:ext cx="2628900" cy="1485900"/>
            <a:chOff x="2495550" y="1885950"/>
            <a:chExt cx="2628900" cy="1485900"/>
          </a:xfrm>
        </p:grpSpPr>
        <p:sp>
          <p:nvSpPr>
            <p:cNvPr id="13" name="Line 13"/>
            <p:cNvSpPr/>
            <p:nvPr/>
          </p:nvSpPr>
          <p:spPr>
            <a:xfrm>
              <a:off x="2495550" y="2628900"/>
              <a:ext cx="704850" cy="1"/>
            </a:xfrm>
            <a:prstGeom prst="line">
              <a:avLst/>
            </a:prstGeom>
            <a:noFill/>
            <a:ln w="19050">
              <a:solidFill>
                <a:srgbClr val="7DD3FC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314700" y="1885950"/>
              <a:ext cx="1809750" cy="1485900"/>
            </a:xfrm>
            <a:prstGeom prst="roundRect">
              <a:avLst>
                <a:gd name="adj" fmla="val 3846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36442" y="212121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32632" y="24593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计划生成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35680" y="29051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输出结构化步骤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219700" y="1885950"/>
            <a:ext cx="2628900" cy="1485900"/>
            <a:chOff x="5219700" y="1885950"/>
            <a:chExt cx="2628900" cy="1485900"/>
          </a:xfrm>
        </p:grpSpPr>
        <p:sp>
          <p:nvSpPr>
            <p:cNvPr id="19" name="Line 19"/>
            <p:cNvSpPr/>
            <p:nvPr/>
          </p:nvSpPr>
          <p:spPr>
            <a:xfrm>
              <a:off x="5219700" y="2628900"/>
              <a:ext cx="704850" cy="1"/>
            </a:xfrm>
            <a:prstGeom prst="line">
              <a:avLst/>
            </a:prstGeom>
            <a:noFill/>
            <a:ln w="19050">
              <a:solidFill>
                <a:srgbClr val="7DD3FC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038850" y="1885950"/>
              <a:ext cx="1809750" cy="1485900"/>
            </a:xfrm>
            <a:prstGeom prst="roundRect">
              <a:avLst>
                <a:gd name="adj" fmla="val 3846"/>
              </a:avLst>
            </a:prstGeom>
            <a:solidFill>
              <a:srgbClr val="111827"/>
            </a:solidFill>
            <a:ln w="9525">
              <a:solidFill>
                <a:srgbClr val="F59E0B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60592" y="212121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56782" y="2459355"/>
              <a:ext cx="13366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8FAFC"/>
                  </a:solidFill>
                  <a:latin typeface="Arial"/>
                  <a:ea typeface="Arial"/>
                  <a:cs typeface="Arial"/>
                </a:rPr>
                <a:t>Executor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59830" y="29051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按计划执行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943850" y="1885950"/>
            <a:ext cx="2628900" cy="1485900"/>
            <a:chOff x="7943850" y="1885950"/>
            <a:chExt cx="2628900" cy="1485900"/>
          </a:xfrm>
        </p:grpSpPr>
        <p:sp>
          <p:nvSpPr>
            <p:cNvPr id="25" name="Line 25"/>
            <p:cNvSpPr/>
            <p:nvPr/>
          </p:nvSpPr>
          <p:spPr>
            <a:xfrm>
              <a:off x="7943850" y="2628900"/>
              <a:ext cx="704850" cy="1"/>
            </a:xfrm>
            <a:prstGeom prst="line">
              <a:avLst/>
            </a:prstGeom>
            <a:noFill/>
            <a:ln w="19050">
              <a:solidFill>
                <a:srgbClr val="7DD3FC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763000" y="1885950"/>
              <a:ext cx="1809750" cy="1485900"/>
            </a:xfrm>
            <a:prstGeom prst="roundRect">
              <a:avLst>
                <a:gd name="adj" fmla="val 3846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84742" y="212121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980932" y="2459355"/>
              <a:ext cx="615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工具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983980" y="2905125"/>
              <a:ext cx="13361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统一 BaseTool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525000" y="3371850"/>
            <a:ext cx="1850972" cy="1657350"/>
            <a:chOff x="9525000" y="3371850"/>
            <a:chExt cx="1850972" cy="1657350"/>
          </a:xfrm>
        </p:grpSpPr>
        <p:sp>
          <p:nvSpPr>
            <p:cNvPr id="31" name="Rectangle 31"/>
            <p:cNvSpPr/>
            <p:nvPr/>
          </p:nvSpPr>
          <p:spPr>
            <a:xfrm>
              <a:off x="9525000" y="3905250"/>
              <a:ext cx="1809750" cy="1123950"/>
            </a:xfrm>
            <a:prstGeom prst="roundRect">
              <a:avLst>
                <a:gd name="adj" fmla="val 5085"/>
              </a:avLst>
            </a:prstGeom>
            <a:solidFill>
              <a:srgbClr val="111827"/>
            </a:solidFill>
            <a:ln w="9525">
              <a:solidFill>
                <a:srgbClr val="8B5CF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647301" y="4089521"/>
              <a:ext cx="172867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Persona 回复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745980" y="44862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只影响怎么说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9667875" y="337185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19050">
              <a:solidFill>
                <a:srgbClr val="8B5CF6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93420" y="4095750"/>
            <a:ext cx="9213609" cy="1568767"/>
            <a:chOff x="693420" y="4095750"/>
            <a:chExt cx="9213609" cy="1568767"/>
          </a:xfrm>
        </p:grpSpPr>
        <p:sp>
          <p:nvSpPr>
            <p:cNvPr id="36" name="Rectangle 36"/>
            <p:cNvSpPr/>
            <p:nvPr/>
          </p:nvSpPr>
          <p:spPr>
            <a:xfrm>
              <a:off x="704850" y="4095750"/>
              <a:ext cx="7524750" cy="914400"/>
            </a:xfrm>
            <a:prstGeom prst="roundRect">
              <a:avLst>
                <a:gd name="adj" fmla="val 6250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37" name="Image 3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8421" y="4371975"/>
              <a:ext cx="6472809" cy="400050"/>
            </a:xfrm>
            <a:prstGeom prst="rect">
              <a:avLst/>
            </a:prstGeom>
          </p:spPr>
        </p:pic>
        <p:sp>
          <p:nvSpPr>
            <p:cNvPr id="38" name="TextBox 38"/>
            <p:cNvSpPr txBox="1"/>
            <p:nvPr/>
          </p:nvSpPr>
          <p:spPr>
            <a:xfrm>
              <a:off x="693420" y="5224462"/>
              <a:ext cx="921360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系统要降低的不是“AI 不会说话”，而是“不调、调错、重复调”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24" grpId="0"/>
      <p:bldP spid="30" grpId="0"/>
      <p:bldP spid="35" grpId="0"/>
      <p:bldP spid="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5070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Freeform 3"/>
            <p:cNvSpPr/>
            <p:nvPr/>
          </p:nvSpPr>
          <p:spPr>
            <a:xfrm>
              <a:off x="666750" y="1562100"/>
              <a:ext cx="10858500" cy="4248150"/>
            </a:xfrm>
            <a:custGeom>
              <a:avLst/>
              <a:gdLst/>
              <a:ahLst/>
              <a:cxnLst/>
              <a:rect l="l" t="t" r="r" b="b"/>
              <a:pathLst>
                <a:path w="10858500" h="4248150">
                  <a:moveTo>
                    <a:pt x="0" y="0"/>
                  </a:moveTo>
                  <a:lnTo>
                    <a:pt x="10858500" y="0"/>
                  </a:lnTo>
                  <a:moveTo>
                    <a:pt x="0" y="4248150"/>
                  </a:moveTo>
                  <a:lnTo>
                    <a:pt x="10858500" y="424815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1C2A3D"/>
              </a:solidFill>
              <a:prstDash val="lgDash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14350" y="264795"/>
            <a:ext cx="12240905" cy="946594"/>
            <a:chOff x="514350" y="264795"/>
            <a:chExt cx="12240905" cy="946594"/>
          </a:xfrm>
        </p:grpSpPr>
        <p:sp>
          <p:nvSpPr>
            <p:cNvPr id="5" name="TextBox 5"/>
            <p:cNvSpPr txBox="1"/>
            <p:nvPr/>
          </p:nvSpPr>
          <p:spPr>
            <a:xfrm>
              <a:off x="514350" y="264795"/>
              <a:ext cx="12240905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RAG 不是向量库接入，而是一条问答质量工程链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44068" y="888682"/>
              <a:ext cx="73690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从切片、召回、精排到拒答，每一段都服务于“答得准，也知道何时不该答”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47700" y="2038350"/>
            <a:ext cx="2000250" cy="2381250"/>
            <a:chOff x="647700" y="2038350"/>
            <a:chExt cx="2000250" cy="2381250"/>
          </a:xfrm>
        </p:grpSpPr>
        <p:sp>
          <p:nvSpPr>
            <p:cNvPr id="8" name="Rectangle 8"/>
            <p:cNvSpPr/>
            <p:nvPr/>
          </p:nvSpPr>
          <p:spPr>
            <a:xfrm>
              <a:off x="647700" y="2038350"/>
              <a:ext cx="2000250" cy="2381250"/>
            </a:xfrm>
            <a:prstGeom prst="roundRect">
              <a:avLst>
                <a:gd name="adj" fmla="val 2857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916781" y="2266950"/>
              <a:ext cx="242888" cy="323850"/>
              <a:chOff x="916781" y="2266950"/>
              <a:chExt cx="242888" cy="3238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16781" y="2396490"/>
                <a:ext cx="242888" cy="93107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93107">
                    <a:moveTo>
                      <a:pt x="225422" y="10326"/>
                    </a:moveTo>
                    <a:cubicBezTo>
                      <a:pt x="231116" y="7479"/>
                      <a:pt x="237064" y="4044"/>
                      <a:pt x="242888" y="0"/>
                    </a:cubicBezTo>
                    <a:lnTo>
                      <a:pt x="242888" y="32385"/>
                    </a:lnTo>
                    <a:cubicBezTo>
                      <a:pt x="242888" y="65920"/>
                      <a:pt x="188515" y="93107"/>
                      <a:pt x="121444" y="93107"/>
                    </a:cubicBezTo>
                    <a:cubicBezTo>
                      <a:pt x="54372" y="93107"/>
                      <a:pt x="0" y="65920"/>
                      <a:pt x="0" y="32385"/>
                    </a:cubicBezTo>
                    <a:lnTo>
                      <a:pt x="0" y="0"/>
                    </a:lnTo>
                    <a:cubicBezTo>
                      <a:pt x="5824" y="4044"/>
                      <a:pt x="11772" y="7479"/>
                      <a:pt x="17466" y="10326"/>
                    </a:cubicBezTo>
                    <a:cubicBezTo>
                      <a:pt x="46168" y="24677"/>
                      <a:pt x="82986" y="32385"/>
                      <a:pt x="121444" y="32385"/>
                    </a:cubicBezTo>
                    <a:cubicBezTo>
                      <a:pt x="159901" y="32385"/>
                      <a:pt x="196719" y="24677"/>
                      <a:pt x="225422" y="10326"/>
                    </a:cubicBez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916781" y="2497693"/>
                <a:ext cx="242888" cy="93107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93107">
                    <a:moveTo>
                      <a:pt x="0" y="0"/>
                    </a:moveTo>
                    <a:lnTo>
                      <a:pt x="0" y="32385"/>
                    </a:lnTo>
                    <a:cubicBezTo>
                      <a:pt x="0" y="65922"/>
                      <a:pt x="54372" y="93107"/>
                      <a:pt x="121444" y="93107"/>
                    </a:cubicBezTo>
                    <a:cubicBezTo>
                      <a:pt x="188515" y="93107"/>
                      <a:pt x="242888" y="65922"/>
                      <a:pt x="242888" y="32385"/>
                    </a:cubicBezTo>
                    <a:lnTo>
                      <a:pt x="242888" y="0"/>
                    </a:lnTo>
                    <a:cubicBezTo>
                      <a:pt x="237064" y="4044"/>
                      <a:pt x="231116" y="7479"/>
                      <a:pt x="225422" y="10327"/>
                    </a:cubicBezTo>
                    <a:cubicBezTo>
                      <a:pt x="196719" y="24677"/>
                      <a:pt x="159901" y="32385"/>
                      <a:pt x="121444" y="32385"/>
                    </a:cubicBezTo>
                    <a:cubicBezTo>
                      <a:pt x="82986" y="32385"/>
                      <a:pt x="46168" y="24677"/>
                      <a:pt x="17466" y="10327"/>
                    </a:cubicBezTo>
                    <a:cubicBezTo>
                      <a:pt x="11772" y="7479"/>
                      <a:pt x="5824" y="4044"/>
                      <a:pt x="0" y="0"/>
                    </a:cubicBez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Freeform 11"/>
              <p:cNvSpPr/>
              <p:nvPr/>
            </p:nvSpPr>
            <p:spPr>
              <a:xfrm>
                <a:off x="916781" y="2266950"/>
                <a:ext cx="242888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21444">
                    <a:moveTo>
                      <a:pt x="121444" y="0"/>
                    </a:moveTo>
                    <a:cubicBezTo>
                      <a:pt x="188515" y="0"/>
                      <a:pt x="242888" y="27186"/>
                      <a:pt x="242888" y="60722"/>
                    </a:cubicBezTo>
                    <a:cubicBezTo>
                      <a:pt x="242888" y="94258"/>
                      <a:pt x="188515" y="121444"/>
                      <a:pt x="121444" y="121444"/>
                    </a:cubicBezTo>
                    <a:cubicBezTo>
                      <a:pt x="54372" y="121444"/>
                      <a:pt x="0" y="94258"/>
                      <a:pt x="0" y="60722"/>
                    </a:cubicBezTo>
                    <a:cubicBezTo>
                      <a:pt x="0" y="27186"/>
                      <a:pt x="54372" y="0"/>
                      <a:pt x="121444" y="0"/>
                    </a:cubicBez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864870" y="2709862"/>
              <a:ext cx="129501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入库治理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7918" y="31937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标题注入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7918" y="3517582"/>
              <a:ext cx="12828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500字 chunk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67918" y="384143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多格式统一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724150" y="2038350"/>
            <a:ext cx="2667000" cy="2381250"/>
            <a:chOff x="2724150" y="2038350"/>
            <a:chExt cx="2667000" cy="2381250"/>
          </a:xfrm>
        </p:grpSpPr>
        <p:sp>
          <p:nvSpPr>
            <p:cNvPr id="18" name="Line 18"/>
            <p:cNvSpPr/>
            <p:nvPr/>
          </p:nvSpPr>
          <p:spPr>
            <a:xfrm>
              <a:off x="2724150" y="3238500"/>
              <a:ext cx="552450" cy="1"/>
            </a:xfrm>
            <a:prstGeom prst="line">
              <a:avLst/>
            </a:prstGeom>
            <a:noFill/>
            <a:ln w="19050">
              <a:solidFill>
                <a:srgbClr val="7DD3FC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390900" y="2038350"/>
              <a:ext cx="2000250" cy="2381250"/>
            </a:xfrm>
            <a:prstGeom prst="roundRect">
              <a:avLst>
                <a:gd name="adj" fmla="val 2857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3619500" y="2266950"/>
              <a:ext cx="317922" cy="317922"/>
            </a:xfrm>
            <a:custGeom>
              <a:avLst/>
              <a:gdLst/>
              <a:ahLst/>
              <a:cxnLst/>
              <a:rect l="l" t="t" r="r" b="b"/>
              <a:pathLst>
                <a:path w="317922" h="317922">
                  <a:moveTo>
                    <a:pt x="226537" y="255161"/>
                  </a:moveTo>
                  <a:cubicBezTo>
                    <a:pt x="202884" y="272876"/>
                    <a:pt x="173510" y="283369"/>
                    <a:pt x="141684" y="283369"/>
                  </a:cubicBezTo>
                  <a:cubicBezTo>
                    <a:pt x="63434" y="283369"/>
                    <a:pt x="0" y="219935"/>
                    <a:pt x="0" y="141684"/>
                  </a:cubicBezTo>
                  <a:cubicBezTo>
                    <a:pt x="0" y="63434"/>
                    <a:pt x="63434" y="0"/>
                    <a:pt x="141684" y="0"/>
                  </a:cubicBezTo>
                  <a:cubicBezTo>
                    <a:pt x="219935" y="0"/>
                    <a:pt x="283369" y="63434"/>
                    <a:pt x="283369" y="141684"/>
                  </a:cubicBezTo>
                  <a:cubicBezTo>
                    <a:pt x="283369" y="173510"/>
                    <a:pt x="272876" y="202884"/>
                    <a:pt x="255161" y="226537"/>
                  </a:cubicBezTo>
                  <a:lnTo>
                    <a:pt x="317922" y="289297"/>
                  </a:lnTo>
                  <a:lnTo>
                    <a:pt x="289297" y="317922"/>
                  </a:lnTo>
                  <a:lnTo>
                    <a:pt x="226537" y="255161"/>
                  </a:lnTo>
                  <a:close/>
                  <a:moveTo>
                    <a:pt x="113060" y="170309"/>
                  </a:moveTo>
                  <a:lnTo>
                    <a:pt x="84435" y="198934"/>
                  </a:lnTo>
                  <a:cubicBezTo>
                    <a:pt x="52818" y="167316"/>
                    <a:pt x="52818" y="116053"/>
                    <a:pt x="84435" y="84435"/>
                  </a:cubicBezTo>
                  <a:cubicBezTo>
                    <a:pt x="116053" y="52818"/>
                    <a:pt x="167316" y="52818"/>
                    <a:pt x="198934" y="84435"/>
                  </a:cubicBezTo>
                  <a:lnTo>
                    <a:pt x="170309" y="113060"/>
                  </a:lnTo>
                  <a:cubicBezTo>
                    <a:pt x="154500" y="97251"/>
                    <a:pt x="128869" y="97251"/>
                    <a:pt x="113060" y="113060"/>
                  </a:cubicBezTo>
                  <a:cubicBezTo>
                    <a:pt x="97251" y="128869"/>
                    <a:pt x="97251" y="154500"/>
                    <a:pt x="113060" y="170309"/>
                  </a:cubicBezTo>
                  <a:close/>
                </a:path>
              </a:pathLst>
            </a:custGeom>
            <a:solidFill>
              <a:srgbClr val="8B5CF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08070" y="2709862"/>
              <a:ext cx="129501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混合召回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11118" y="3193732"/>
              <a:ext cx="14417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B6C2D2"/>
                  </a:solidFill>
                  <a:latin typeface="Arial"/>
                  <a:ea typeface="Arial"/>
                  <a:cs typeface="Arial"/>
                </a:rPr>
                <a:t>Dense Vector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11118" y="3517582"/>
              <a:ext cx="13777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B6C2D2"/>
                  </a:solidFill>
                  <a:latin typeface="Arial"/>
                  <a:ea typeface="Arial"/>
                  <a:cs typeface="Arial"/>
                </a:rPr>
                <a:t>BM25 Sparse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611118" y="3841432"/>
              <a:ext cx="9438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RRF 融合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467350" y="2038350"/>
            <a:ext cx="2667000" cy="2381250"/>
            <a:chOff x="5467350" y="2038350"/>
            <a:chExt cx="2667000" cy="2381250"/>
          </a:xfrm>
        </p:grpSpPr>
        <p:sp>
          <p:nvSpPr>
            <p:cNvPr id="26" name="Line 26"/>
            <p:cNvSpPr/>
            <p:nvPr/>
          </p:nvSpPr>
          <p:spPr>
            <a:xfrm>
              <a:off x="5467350" y="3238500"/>
              <a:ext cx="552450" cy="1"/>
            </a:xfrm>
            <a:prstGeom prst="line">
              <a:avLst/>
            </a:prstGeom>
            <a:noFill/>
            <a:ln w="19050">
              <a:solidFill>
                <a:srgbClr val="7DD3FC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134100" y="2038350"/>
              <a:ext cx="2000250" cy="2381250"/>
            </a:xfrm>
            <a:prstGeom prst="roundRect">
              <a:avLst>
                <a:gd name="adj" fmla="val 2857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6403181" y="2266950"/>
              <a:ext cx="242888" cy="323850"/>
            </a:xfrm>
            <a:custGeom>
              <a:avLst/>
              <a:gdLst/>
              <a:ahLst/>
              <a:cxnLst/>
              <a:rect l="l" t="t" r="r" b="b"/>
              <a:pathLst>
                <a:path w="242888" h="323850">
                  <a:moveTo>
                    <a:pt x="141684" y="141684"/>
                  </a:moveTo>
                  <a:lnTo>
                    <a:pt x="161925" y="0"/>
                  </a:lnTo>
                  <a:lnTo>
                    <a:pt x="121444" y="0"/>
                  </a:lnTo>
                  <a:lnTo>
                    <a:pt x="0" y="141684"/>
                  </a:lnTo>
                  <a:lnTo>
                    <a:pt x="0" y="182166"/>
                  </a:lnTo>
                  <a:lnTo>
                    <a:pt x="101203" y="182166"/>
                  </a:lnTo>
                  <a:lnTo>
                    <a:pt x="80962" y="323850"/>
                  </a:lnTo>
                  <a:lnTo>
                    <a:pt x="121444" y="323850"/>
                  </a:lnTo>
                  <a:lnTo>
                    <a:pt x="242888" y="182166"/>
                  </a:lnTo>
                  <a:lnTo>
                    <a:pt x="242888" y="141684"/>
                  </a:lnTo>
                  <a:lnTo>
                    <a:pt x="141684" y="141684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51270" y="2709862"/>
              <a:ext cx="129501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精排校准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54318" y="3193732"/>
              <a:ext cx="14966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B6C2D2"/>
                  </a:solidFill>
                  <a:latin typeface="Arial"/>
                  <a:ea typeface="Arial"/>
                  <a:cs typeface="Arial"/>
                </a:rPr>
                <a:t>CrossEncoder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54318" y="3517582"/>
              <a:ext cx="8616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QA 优先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54318" y="38414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原文回退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210550" y="2038350"/>
            <a:ext cx="2667000" cy="2381250"/>
            <a:chOff x="8210550" y="2038350"/>
            <a:chExt cx="2667000" cy="2381250"/>
          </a:xfrm>
        </p:grpSpPr>
        <p:sp>
          <p:nvSpPr>
            <p:cNvPr id="34" name="Line 34"/>
            <p:cNvSpPr/>
            <p:nvPr/>
          </p:nvSpPr>
          <p:spPr>
            <a:xfrm>
              <a:off x="8210550" y="3238500"/>
              <a:ext cx="552450" cy="1"/>
            </a:xfrm>
            <a:prstGeom prst="line">
              <a:avLst/>
            </a:prstGeom>
            <a:noFill/>
            <a:ln w="19050">
              <a:solidFill>
                <a:srgbClr val="7DD3FC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877300" y="2038350"/>
              <a:ext cx="2000250" cy="2381250"/>
            </a:xfrm>
            <a:prstGeom prst="roundRect">
              <a:avLst>
                <a:gd name="adj" fmla="val 2857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9105900" y="2307431"/>
              <a:ext cx="323850" cy="263128"/>
            </a:xfrm>
            <a:custGeom>
              <a:avLst/>
              <a:gdLst/>
              <a:ahLst/>
              <a:cxnLst/>
              <a:rect l="l" t="t" r="r" b="b"/>
              <a:pathLst>
                <a:path w="323850" h="263128">
                  <a:moveTo>
                    <a:pt x="0" y="0"/>
                  </a:moveTo>
                  <a:lnTo>
                    <a:pt x="72579" y="0"/>
                  </a:lnTo>
                  <a:cubicBezTo>
                    <a:pt x="90907" y="0"/>
                    <a:pt x="108484" y="7281"/>
                    <a:pt x="121444" y="20241"/>
                  </a:cubicBezTo>
                  <a:cubicBezTo>
                    <a:pt x="134404" y="33200"/>
                    <a:pt x="141684" y="50778"/>
                    <a:pt x="141684" y="69106"/>
                  </a:cubicBezTo>
                  <a:lnTo>
                    <a:pt x="141684" y="182166"/>
                  </a:lnTo>
                  <a:lnTo>
                    <a:pt x="182166" y="182166"/>
                  </a:lnTo>
                  <a:lnTo>
                    <a:pt x="182166" y="69106"/>
                  </a:lnTo>
                  <a:cubicBezTo>
                    <a:pt x="182166" y="50778"/>
                    <a:pt x="189446" y="33200"/>
                    <a:pt x="202406" y="20241"/>
                  </a:cubicBezTo>
                  <a:cubicBezTo>
                    <a:pt x="215366" y="7281"/>
                    <a:pt x="232943" y="0"/>
                    <a:pt x="251271" y="0"/>
                  </a:cubicBezTo>
                  <a:lnTo>
                    <a:pt x="323850" y="0"/>
                  </a:lnTo>
                  <a:lnTo>
                    <a:pt x="323850" y="222647"/>
                  </a:lnTo>
                  <a:lnTo>
                    <a:pt x="222647" y="222647"/>
                  </a:lnTo>
                  <a:lnTo>
                    <a:pt x="182166" y="263128"/>
                  </a:lnTo>
                  <a:lnTo>
                    <a:pt x="141684" y="263128"/>
                  </a:lnTo>
                  <a:lnTo>
                    <a:pt x="101203" y="222647"/>
                  </a:lnTo>
                  <a:lnTo>
                    <a:pt x="0" y="2226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94470" y="2709862"/>
              <a:ext cx="161305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上下文治理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97518" y="3193732"/>
              <a:ext cx="13606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B6C2D2"/>
                  </a:solidFill>
                  <a:latin typeface="Arial"/>
                  <a:ea typeface="Arial"/>
                  <a:cs typeface="Arial"/>
                </a:rPr>
                <a:t>small-to-big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97518" y="35175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去重预算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97518" y="38414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来源引用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36352" y="5143500"/>
            <a:ext cx="9919297" cy="685800"/>
            <a:chOff x="1136352" y="5143500"/>
            <a:chExt cx="9919297" cy="685800"/>
          </a:xfrm>
        </p:grpSpPr>
        <p:sp>
          <p:nvSpPr>
            <p:cNvPr id="42" name="Rectangle 42"/>
            <p:cNvSpPr/>
            <p:nvPr/>
          </p:nvSpPr>
          <p:spPr>
            <a:xfrm>
              <a:off x="1143000" y="5143500"/>
              <a:ext cx="9906000" cy="685800"/>
            </a:xfrm>
            <a:prstGeom prst="roundRect">
              <a:avLst>
                <a:gd name="adj" fmla="val 8333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36352" y="5338762"/>
              <a:ext cx="991929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这套 RAG 的核心不是“搜到”，而是“带着证据回答，并能保守拒答”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5" grpId="0"/>
      <p:bldP spid="33" grpId="0"/>
      <p:bldP spid="41" grpId="0"/>
      <p:bldP spid="4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5070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Freeform 3"/>
            <p:cNvSpPr/>
            <p:nvPr/>
          </p:nvSpPr>
          <p:spPr>
            <a:xfrm>
              <a:off x="762000" y="1476375"/>
              <a:ext cx="10668000" cy="4238625"/>
            </a:xfrm>
            <a:custGeom>
              <a:avLst/>
              <a:gdLst/>
              <a:ahLst/>
              <a:cxnLst/>
              <a:rect l="l" t="t" r="r" b="b"/>
              <a:pathLst>
                <a:path w="10668000" h="4238625">
                  <a:moveTo>
                    <a:pt x="0" y="0"/>
                  </a:moveTo>
                  <a:lnTo>
                    <a:pt x="10668000" y="0"/>
                  </a:lnTo>
                  <a:moveTo>
                    <a:pt x="0" y="4238625"/>
                  </a:moveTo>
                  <a:lnTo>
                    <a:pt x="10668000" y="4238625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1C2A3D"/>
              </a:solidFill>
              <a:prstDash val="lgDash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14350" y="264795"/>
            <a:ext cx="10787844" cy="946594"/>
            <a:chOff x="514350" y="264795"/>
            <a:chExt cx="10787844" cy="946594"/>
          </a:xfrm>
        </p:grpSpPr>
        <p:sp>
          <p:nvSpPr>
            <p:cNvPr id="5" name="TextBox 5"/>
            <p:cNvSpPr txBox="1"/>
            <p:nvPr/>
          </p:nvSpPr>
          <p:spPr>
            <a:xfrm>
              <a:off x="514350" y="264795"/>
              <a:ext cx="1078784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v2.0 的真正转折是统一底座，不是堆新工具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44068" y="888682"/>
              <a:ext cx="60565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扩展新工具不再改 Executor 主干，而是进入同一套工具契约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66750" y="1714500"/>
            <a:ext cx="2476500" cy="3714750"/>
            <a:chOff x="666750" y="1714500"/>
            <a:chExt cx="2476500" cy="3714750"/>
          </a:xfrm>
        </p:grpSpPr>
        <p:sp>
          <p:nvSpPr>
            <p:cNvPr id="8" name="Rectangle 8"/>
            <p:cNvSpPr/>
            <p:nvPr/>
          </p:nvSpPr>
          <p:spPr>
            <a:xfrm>
              <a:off x="666750" y="1714500"/>
              <a:ext cx="2476500" cy="3714750"/>
            </a:xfrm>
            <a:prstGeom prst="roundRect">
              <a:avLst>
                <a:gd name="adj" fmla="val 2308"/>
              </a:avLst>
            </a:prstGeom>
            <a:solidFill>
              <a:srgbClr val="111827"/>
            </a:solidFill>
            <a:ln w="9525">
              <a:solidFill>
                <a:srgbClr val="7DD3FC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937022" y="2022872"/>
              <a:ext cx="316706" cy="316706"/>
            </a:xfrm>
            <a:custGeom>
              <a:avLst/>
              <a:gdLst/>
              <a:ahLst/>
              <a:cxnLst/>
              <a:rect l="l" t="t" r="r" b="b"/>
              <a:pathLst>
                <a:path w="316706" h="316706">
                  <a:moveTo>
                    <a:pt x="316706" y="0"/>
                  </a:moveTo>
                  <a:lnTo>
                    <a:pt x="0" y="0"/>
                  </a:lnTo>
                  <a:lnTo>
                    <a:pt x="0" y="316706"/>
                  </a:lnTo>
                  <a:lnTo>
                    <a:pt x="316706" y="316706"/>
                  </a:lnTo>
                  <a:lnTo>
                    <a:pt x="316706" y="0"/>
                  </a:lnTo>
                  <a:close/>
                  <a:moveTo>
                    <a:pt x="113109" y="90488"/>
                  </a:moveTo>
                  <a:lnTo>
                    <a:pt x="145101" y="122480"/>
                  </a:lnTo>
                  <a:lnTo>
                    <a:pt x="109228" y="158353"/>
                  </a:lnTo>
                  <a:lnTo>
                    <a:pt x="145101" y="194227"/>
                  </a:lnTo>
                  <a:lnTo>
                    <a:pt x="113109" y="226219"/>
                  </a:lnTo>
                  <a:lnTo>
                    <a:pt x="45244" y="158353"/>
                  </a:lnTo>
                  <a:lnTo>
                    <a:pt x="113109" y="90488"/>
                  </a:lnTo>
                  <a:close/>
                  <a:moveTo>
                    <a:pt x="203597" y="90488"/>
                  </a:moveTo>
                  <a:lnTo>
                    <a:pt x="171605" y="122480"/>
                  </a:lnTo>
                  <a:lnTo>
                    <a:pt x="207479" y="158353"/>
                  </a:lnTo>
                  <a:lnTo>
                    <a:pt x="171605" y="194227"/>
                  </a:lnTo>
                  <a:lnTo>
                    <a:pt x="203597" y="226219"/>
                  </a:lnTo>
                  <a:lnTo>
                    <a:pt x="271462" y="158353"/>
                  </a:lnTo>
                  <a:lnTo>
                    <a:pt x="203597" y="90488"/>
                  </a:lnTo>
                  <a:close/>
                </a:path>
              </a:pathLst>
            </a:custGeom>
            <a:solidFill>
              <a:srgbClr val="7DD3F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3732" y="2554605"/>
              <a:ext cx="12706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BaseTool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4494" y="310419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统一入口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6018" y="3555682"/>
              <a:ext cx="19603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B6C2D2"/>
                  </a:solidFill>
                  <a:latin typeface="Arial"/>
                  <a:ea typeface="Arial"/>
                  <a:cs typeface="Arial"/>
                </a:rPr>
                <a:t>run(ctx, params)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6018" y="3917632"/>
              <a:ext cx="21158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统一 success/error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8206" y="4570609"/>
              <a:ext cx="2115964" cy="5078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收益：工具接口零散度</a:t>
              </a:r>
              <a:endParaRPr lang="en-US" altLang="zh-CN" sz="1650" dirty="0">
                <a:solidFill>
                  <a:srgbClr val="F59E0B"/>
                </a:solidFill>
                <a:latin typeface="Arial"/>
                <a:ea typeface="Microsoft YaHei"/>
                <a:cs typeface="Arial"/>
              </a:endParaRPr>
            </a:p>
            <a:p>
              <a:pPr algn="l"/>
              <a:r>
                <a:rPr lang="zh-CN" sz="1650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下降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448050" y="1714500"/>
            <a:ext cx="2488368" cy="3714750"/>
            <a:chOff x="3448050" y="1714500"/>
            <a:chExt cx="2488368" cy="3714750"/>
          </a:xfrm>
        </p:grpSpPr>
        <p:sp>
          <p:nvSpPr>
            <p:cNvPr id="16" name="Rectangle 16"/>
            <p:cNvSpPr/>
            <p:nvPr/>
          </p:nvSpPr>
          <p:spPr>
            <a:xfrm>
              <a:off x="3448050" y="1714500"/>
              <a:ext cx="2476500" cy="3714750"/>
            </a:xfrm>
            <a:prstGeom prst="roundRect">
              <a:avLst>
                <a:gd name="adj" fmla="val 2308"/>
              </a:avLst>
            </a:prstGeom>
            <a:solidFill>
              <a:srgbClr val="111827"/>
            </a:solidFill>
            <a:ln w="9525">
              <a:solidFill>
                <a:srgbClr val="8B5CF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3695700" y="2045494"/>
              <a:ext cx="361950" cy="271462"/>
              <a:chOff x="3695700" y="2045494"/>
              <a:chExt cx="361950" cy="271462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3695700" y="2045494"/>
                <a:ext cx="361950" cy="113109"/>
              </a:xfrm>
              <a:custGeom>
                <a:avLst/>
                <a:gdLst/>
                <a:ahLst/>
                <a:cxnLst/>
                <a:rect l="l" t="t" r="r" b="b"/>
                <a:pathLst>
                  <a:path w="361950" h="113109">
                    <a:moveTo>
                      <a:pt x="361950" y="0"/>
                    </a:moveTo>
                    <a:lnTo>
                      <a:pt x="0" y="0"/>
                    </a:lnTo>
                    <a:lnTo>
                      <a:pt x="0" y="113109"/>
                    </a:lnTo>
                    <a:lnTo>
                      <a:pt x="361950" y="113109"/>
                    </a:lnTo>
                    <a:lnTo>
                      <a:pt x="361950" y="0"/>
                    </a:lnTo>
                    <a:close/>
                    <a:moveTo>
                      <a:pt x="90488" y="56555"/>
                    </a:moveTo>
                    <a:cubicBezTo>
                      <a:pt x="90488" y="69048"/>
                      <a:pt x="80359" y="79177"/>
                      <a:pt x="67866" y="79177"/>
                    </a:cubicBezTo>
                    <a:cubicBezTo>
                      <a:pt x="55372" y="79177"/>
                      <a:pt x="45244" y="69048"/>
                      <a:pt x="45244" y="56555"/>
                    </a:cubicBezTo>
                    <a:cubicBezTo>
                      <a:pt x="45244" y="44061"/>
                      <a:pt x="55372" y="33933"/>
                      <a:pt x="67866" y="33933"/>
                    </a:cubicBezTo>
                    <a:cubicBezTo>
                      <a:pt x="80359" y="33933"/>
                      <a:pt x="90488" y="44061"/>
                      <a:pt x="90488" y="56555"/>
                    </a:cubicBez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Freeform 18"/>
              <p:cNvSpPr/>
              <p:nvPr/>
            </p:nvSpPr>
            <p:spPr>
              <a:xfrm>
                <a:off x="3695700" y="2203847"/>
                <a:ext cx="361950" cy="113109"/>
              </a:xfrm>
              <a:custGeom>
                <a:avLst/>
                <a:gdLst/>
                <a:ahLst/>
                <a:cxnLst/>
                <a:rect l="l" t="t" r="r" b="b"/>
                <a:pathLst>
                  <a:path w="361950" h="113109">
                    <a:moveTo>
                      <a:pt x="361950" y="0"/>
                    </a:moveTo>
                    <a:lnTo>
                      <a:pt x="0" y="0"/>
                    </a:lnTo>
                    <a:lnTo>
                      <a:pt x="0" y="113109"/>
                    </a:lnTo>
                    <a:lnTo>
                      <a:pt x="361950" y="113109"/>
                    </a:lnTo>
                    <a:lnTo>
                      <a:pt x="361950" y="0"/>
                    </a:lnTo>
                    <a:close/>
                    <a:moveTo>
                      <a:pt x="67866" y="79177"/>
                    </a:moveTo>
                    <a:cubicBezTo>
                      <a:pt x="80359" y="79177"/>
                      <a:pt x="90488" y="69049"/>
                      <a:pt x="90488" y="56555"/>
                    </a:cubicBezTo>
                    <a:cubicBezTo>
                      <a:pt x="90488" y="44061"/>
                      <a:pt x="80359" y="33933"/>
                      <a:pt x="67866" y="33933"/>
                    </a:cubicBezTo>
                    <a:cubicBezTo>
                      <a:pt x="55372" y="33933"/>
                      <a:pt x="45244" y="44061"/>
                      <a:pt x="45244" y="56555"/>
                    </a:cubicBezTo>
                    <a:cubicBezTo>
                      <a:pt x="45244" y="69049"/>
                      <a:pt x="55372" y="79177"/>
                      <a:pt x="67866" y="79177"/>
                    </a:cubicBez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3685032" y="2554605"/>
              <a:ext cx="17607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8B5CF6"/>
                  </a:solidFill>
                  <a:latin typeface="Consolas"/>
                  <a:ea typeface="Consolas"/>
                  <a:cs typeface="Consolas"/>
                </a:rPr>
                <a:t>ToolContext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85794" y="3104198"/>
              <a:ext cx="1332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运行时封装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87318" y="35556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B6C2D2"/>
                  </a:solidFill>
                  <a:latin typeface="Arial"/>
                  <a:ea typeface="Arial"/>
                  <a:cs typeface="Arial"/>
                </a:rPr>
                <a:t>db session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87318" y="3917632"/>
              <a:ext cx="2249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B6C2D2"/>
                  </a:solidFill>
                  <a:latin typeface="Arial"/>
                  <a:ea typeface="Arial"/>
                  <a:cs typeface="Arial"/>
                </a:rPr>
                <a:t>user / role / session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92350" y="4570608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收益：依赖传递标准化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229350" y="1714500"/>
            <a:ext cx="2512740" cy="3714750"/>
            <a:chOff x="6229350" y="1714500"/>
            <a:chExt cx="2512740" cy="3714750"/>
          </a:xfrm>
        </p:grpSpPr>
        <p:sp>
          <p:nvSpPr>
            <p:cNvPr id="26" name="Rectangle 26"/>
            <p:cNvSpPr/>
            <p:nvPr/>
          </p:nvSpPr>
          <p:spPr>
            <a:xfrm>
              <a:off x="6229350" y="1714500"/>
              <a:ext cx="2476500" cy="3714750"/>
            </a:xfrm>
            <a:prstGeom prst="roundRect">
              <a:avLst>
                <a:gd name="adj" fmla="val 2308"/>
              </a:avLst>
            </a:prstGeom>
            <a:solidFill>
              <a:srgbClr val="111827"/>
            </a:solidFill>
            <a:ln w="9525">
              <a:solidFill>
                <a:srgbClr val="F59E0B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6499622" y="2000250"/>
              <a:ext cx="316706" cy="361950"/>
              <a:chOff x="6499622" y="2000250"/>
              <a:chExt cx="316706" cy="36195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499622" y="2000250"/>
                <a:ext cx="316706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316706" h="180975">
                    <a:moveTo>
                      <a:pt x="0" y="113109"/>
                    </a:moveTo>
                    <a:lnTo>
                      <a:pt x="0" y="67866"/>
                    </a:lnTo>
                    <a:lnTo>
                      <a:pt x="158353" y="0"/>
                    </a:lnTo>
                    <a:lnTo>
                      <a:pt x="316706" y="67866"/>
                    </a:lnTo>
                    <a:lnTo>
                      <a:pt x="316706" y="113109"/>
                    </a:lnTo>
                    <a:lnTo>
                      <a:pt x="158353" y="180975"/>
                    </a:lnTo>
                    <a:lnTo>
                      <a:pt x="0" y="113109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Freeform 28"/>
              <p:cNvSpPr/>
              <p:nvPr/>
            </p:nvSpPr>
            <p:spPr>
              <a:xfrm>
                <a:off x="6499622" y="2249091"/>
                <a:ext cx="316706" cy="113109"/>
              </a:xfrm>
              <a:custGeom>
                <a:avLst/>
                <a:gdLst/>
                <a:ahLst/>
                <a:cxnLst/>
                <a:rect l="l" t="t" r="r" b="b"/>
                <a:pathLst>
                  <a:path w="316706" h="113109">
                    <a:moveTo>
                      <a:pt x="158353" y="113109"/>
                    </a:moveTo>
                    <a:lnTo>
                      <a:pt x="0" y="45244"/>
                    </a:lnTo>
                    <a:lnTo>
                      <a:pt x="0" y="0"/>
                    </a:lnTo>
                    <a:lnTo>
                      <a:pt x="158353" y="67866"/>
                    </a:lnTo>
                    <a:lnTo>
                      <a:pt x="316706" y="0"/>
                    </a:lnTo>
                    <a:lnTo>
                      <a:pt x="316706" y="45244"/>
                    </a:lnTo>
                    <a:lnTo>
                      <a:pt x="158353" y="113109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Freeform 29"/>
              <p:cNvSpPr/>
              <p:nvPr/>
            </p:nvSpPr>
            <p:spPr>
              <a:xfrm>
                <a:off x="6499622" y="2158603"/>
                <a:ext cx="316706" cy="113109"/>
              </a:xfrm>
              <a:custGeom>
                <a:avLst/>
                <a:gdLst/>
                <a:ahLst/>
                <a:cxnLst/>
                <a:rect l="l" t="t" r="r" b="b"/>
                <a:pathLst>
                  <a:path w="316706" h="113109">
                    <a:moveTo>
                      <a:pt x="0" y="45244"/>
                    </a:moveTo>
                    <a:lnTo>
                      <a:pt x="158353" y="113109"/>
                    </a:lnTo>
                    <a:lnTo>
                      <a:pt x="316706" y="45244"/>
                    </a:lnTo>
                    <a:lnTo>
                      <a:pt x="316706" y="0"/>
                    </a:lnTo>
                    <a:lnTo>
                      <a:pt x="158353" y="67866"/>
                    </a:lnTo>
                    <a:lnTo>
                      <a:pt x="0" y="0"/>
                    </a:lnTo>
                    <a:lnTo>
                      <a:pt x="0" y="45244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6466332" y="2554605"/>
              <a:ext cx="12619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Registry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67094" y="310419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查表分发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68618" y="35556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替代 if / elif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68618" y="39176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新增工具低改动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31794" y="4570609"/>
              <a:ext cx="24102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收益：Executor 不膨胀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010650" y="1714500"/>
            <a:ext cx="2476500" cy="3714750"/>
            <a:chOff x="9010650" y="1714500"/>
            <a:chExt cx="2476500" cy="3714750"/>
          </a:xfrm>
        </p:grpSpPr>
        <p:sp>
          <p:nvSpPr>
            <p:cNvPr id="37" name="Rectangle 37"/>
            <p:cNvSpPr/>
            <p:nvPr/>
          </p:nvSpPr>
          <p:spPr>
            <a:xfrm>
              <a:off x="9010650" y="1714500"/>
              <a:ext cx="2476500" cy="3714750"/>
            </a:xfrm>
            <a:prstGeom prst="roundRect">
              <a:avLst>
                <a:gd name="adj" fmla="val 2308"/>
              </a:avLst>
            </a:prstGeom>
            <a:solidFill>
              <a:srgbClr val="111827"/>
            </a:solidFill>
            <a:ln w="9525">
              <a:solidFill>
                <a:srgbClr val="22C55E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9280922" y="2022872"/>
              <a:ext cx="316707" cy="316707"/>
              <a:chOff x="9280922" y="2022872"/>
              <a:chExt cx="316707" cy="316707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9280922" y="2022872"/>
                <a:ext cx="90488" cy="90488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90488">
                    <a:moveTo>
                      <a:pt x="90488" y="45244"/>
                    </a:moveTo>
                    <a:cubicBezTo>
                      <a:pt x="90488" y="70231"/>
                      <a:pt x="70231" y="90488"/>
                      <a:pt x="45244" y="90488"/>
                    </a:cubicBezTo>
                    <a:cubicBezTo>
                      <a:pt x="20256" y="90488"/>
                      <a:pt x="0" y="70231"/>
                      <a:pt x="0" y="45244"/>
                    </a:cubicBezTo>
                    <a:cubicBezTo>
                      <a:pt x="0" y="20256"/>
                      <a:pt x="20256" y="0"/>
                      <a:pt x="45244" y="0"/>
                    </a:cubicBezTo>
                    <a:cubicBezTo>
                      <a:pt x="70231" y="0"/>
                      <a:pt x="90488" y="20256"/>
                      <a:pt x="90488" y="45244"/>
                    </a:cubicBez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Freeform 39"/>
              <p:cNvSpPr/>
              <p:nvPr/>
            </p:nvSpPr>
            <p:spPr>
              <a:xfrm>
                <a:off x="9507141" y="2249091"/>
                <a:ext cx="90488" cy="90488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90488">
                    <a:moveTo>
                      <a:pt x="90488" y="45244"/>
                    </a:moveTo>
                    <a:cubicBezTo>
                      <a:pt x="90488" y="70232"/>
                      <a:pt x="70232" y="90488"/>
                      <a:pt x="45244" y="90488"/>
                    </a:cubicBezTo>
                    <a:cubicBezTo>
                      <a:pt x="20256" y="90488"/>
                      <a:pt x="0" y="70232"/>
                      <a:pt x="0" y="45244"/>
                    </a:cubicBezTo>
                    <a:cubicBezTo>
                      <a:pt x="0" y="20256"/>
                      <a:pt x="20256" y="0"/>
                      <a:pt x="45244" y="0"/>
                    </a:cubicBezTo>
                    <a:cubicBezTo>
                      <a:pt x="70232" y="0"/>
                      <a:pt x="90488" y="20256"/>
                      <a:pt x="90488" y="45244"/>
                    </a:cubicBez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Freeform 40"/>
              <p:cNvSpPr/>
              <p:nvPr/>
            </p:nvSpPr>
            <p:spPr>
              <a:xfrm>
                <a:off x="9303544" y="2022872"/>
                <a:ext cx="271462" cy="316706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316706">
                    <a:moveTo>
                      <a:pt x="158353" y="79177"/>
                    </a:moveTo>
                    <a:cubicBezTo>
                      <a:pt x="158353" y="60436"/>
                      <a:pt x="173545" y="45244"/>
                      <a:pt x="192286" y="45244"/>
                    </a:cubicBezTo>
                    <a:cubicBezTo>
                      <a:pt x="211026" y="45244"/>
                      <a:pt x="226219" y="60436"/>
                      <a:pt x="226219" y="79177"/>
                    </a:cubicBezTo>
                    <a:lnTo>
                      <a:pt x="226219" y="180975"/>
                    </a:lnTo>
                    <a:lnTo>
                      <a:pt x="271462" y="180975"/>
                    </a:lnTo>
                    <a:lnTo>
                      <a:pt x="271462" y="79177"/>
                    </a:lnTo>
                    <a:cubicBezTo>
                      <a:pt x="271462" y="35448"/>
                      <a:pt x="236014" y="0"/>
                      <a:pt x="192286" y="0"/>
                    </a:cubicBezTo>
                    <a:cubicBezTo>
                      <a:pt x="148558" y="0"/>
                      <a:pt x="113109" y="35448"/>
                      <a:pt x="113109" y="79177"/>
                    </a:cubicBezTo>
                    <a:lnTo>
                      <a:pt x="113109" y="237530"/>
                    </a:lnTo>
                    <a:cubicBezTo>
                      <a:pt x="113109" y="256270"/>
                      <a:pt x="97917" y="271462"/>
                      <a:pt x="79177" y="271462"/>
                    </a:cubicBezTo>
                    <a:cubicBezTo>
                      <a:pt x="60436" y="271462"/>
                      <a:pt x="45244" y="256270"/>
                      <a:pt x="45244" y="237530"/>
                    </a:cubicBezTo>
                    <a:lnTo>
                      <a:pt x="45244" y="135731"/>
                    </a:lnTo>
                    <a:lnTo>
                      <a:pt x="0" y="135731"/>
                    </a:lnTo>
                    <a:lnTo>
                      <a:pt x="0" y="237530"/>
                    </a:lnTo>
                    <a:cubicBezTo>
                      <a:pt x="0" y="281258"/>
                      <a:pt x="35448" y="316706"/>
                      <a:pt x="79177" y="316706"/>
                    </a:cubicBezTo>
                    <a:cubicBezTo>
                      <a:pt x="122905" y="316706"/>
                      <a:pt x="158353" y="281258"/>
                      <a:pt x="158353" y="237530"/>
                    </a:cubicBezTo>
                    <a:lnTo>
                      <a:pt x="158353" y="79177"/>
                    </a:ln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9247632" y="2554605"/>
              <a:ext cx="12706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PlanStep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248394" y="310419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链式传值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249918" y="3555682"/>
              <a:ext cx="7941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B6C2D2"/>
                  </a:solidFill>
                  <a:latin typeface="Arial"/>
                  <a:ea typeface="Arial"/>
                  <a:cs typeface="Arial"/>
                </a:rPr>
                <a:t>params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249918" y="39176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B6C2D2"/>
                  </a:solidFill>
                  <a:latin typeface="Arial"/>
                  <a:ea typeface="Arial"/>
                  <a:cs typeface="Arial"/>
                </a:rPr>
                <a:t>inputs_from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153525" y="45843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收益：跨工具协作可控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559461" y="5877878"/>
            <a:ext cx="9073079" cy="498729"/>
            <a:chOff x="1559461" y="5877878"/>
            <a:chExt cx="9073079" cy="498729"/>
          </a:xfrm>
        </p:grpSpPr>
        <p:sp>
          <p:nvSpPr>
            <p:cNvPr id="48" name="TextBox 48"/>
            <p:cNvSpPr txBox="1"/>
            <p:nvPr/>
          </p:nvSpPr>
          <p:spPr>
            <a:xfrm>
              <a:off x="1559461" y="5877878"/>
              <a:ext cx="90730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统一底座让“加工具”变成注册新能力，而不是重写执行器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5" grpId="0"/>
      <p:bldP spid="36" grpId="0"/>
      <p:bldP spid="47" grpId="0"/>
      <p:bldP spid="4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5070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Freeform 3"/>
            <p:cNvSpPr/>
            <p:nvPr/>
          </p:nvSpPr>
          <p:spPr>
            <a:xfrm>
              <a:off x="762000" y="3429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762000" y="1524000"/>
              <a:ext cx="10668000" cy="3810000"/>
            </a:xfrm>
            <a:custGeom>
              <a:avLst/>
              <a:gdLst/>
              <a:ahLst/>
              <a:cxnLst/>
              <a:rect l="l" t="t" r="r" b="b"/>
              <a:pathLst>
                <a:path w="10668000" h="3810000">
                  <a:moveTo>
                    <a:pt x="0" y="0"/>
                  </a:moveTo>
                  <a:lnTo>
                    <a:pt x="10668000" y="0"/>
                  </a:lnTo>
                  <a:moveTo>
                    <a:pt x="0" y="3810000"/>
                  </a:moveTo>
                  <a:lnTo>
                    <a:pt x="10668000" y="3810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1C2A3D"/>
              </a:solidFill>
              <a:prstDash val="lgDash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14350" y="264795"/>
            <a:ext cx="10071194" cy="946594"/>
            <a:chOff x="514350" y="264795"/>
            <a:chExt cx="10071194" cy="946594"/>
          </a:xfrm>
        </p:grpSpPr>
        <p:sp>
          <p:nvSpPr>
            <p:cNvPr id="6" name="TextBox 6"/>
            <p:cNvSpPr txBox="1"/>
            <p:nvPr/>
          </p:nvSpPr>
          <p:spPr>
            <a:xfrm>
              <a:off x="514350" y="264795"/>
              <a:ext cx="1007119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四轮演进让系统从“可运行”走向“可运营”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4068" y="888682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每一版不是单纯加功能，而是在补一块长期运行所需的工程底座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24612" y="2646998"/>
            <a:ext cx="1636776" cy="1942147"/>
            <a:chOff x="324612" y="2646998"/>
            <a:chExt cx="1636776" cy="1942147"/>
          </a:xfrm>
        </p:grpSpPr>
        <p:sp>
          <p:nvSpPr>
            <p:cNvPr id="9" name="Ellipse 9"/>
            <p:cNvSpPr/>
            <p:nvPr/>
          </p:nvSpPr>
          <p:spPr>
            <a:xfrm>
              <a:off x="933450" y="3219450"/>
              <a:ext cx="419100" cy="419100"/>
            </a:xfrm>
            <a:prstGeom prst="ellipse">
              <a:avLst/>
            </a:prstGeom>
            <a:solidFill>
              <a:srgbClr val="7DD3F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9896" y="2646998"/>
              <a:ext cx="62620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v1.0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1825" y="38852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24612" y="4295775"/>
              <a:ext cx="16367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RAG / 多轮 / SSE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859167" y="2646998"/>
            <a:ext cx="1520666" cy="1942147"/>
            <a:chOff x="2859167" y="2646998"/>
            <a:chExt cx="1520666" cy="1942147"/>
          </a:xfrm>
        </p:grpSpPr>
        <p:sp>
          <p:nvSpPr>
            <p:cNvPr id="14" name="Ellipse 14"/>
            <p:cNvSpPr/>
            <p:nvPr/>
          </p:nvSpPr>
          <p:spPr>
            <a:xfrm>
              <a:off x="3409950" y="3219450"/>
              <a:ext cx="419100" cy="4191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306396" y="2646998"/>
              <a:ext cx="62620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8B5CF6"/>
                  </a:solidFill>
                  <a:latin typeface="Consolas"/>
                  <a:ea typeface="Consolas"/>
                  <a:cs typeface="Consolas"/>
                </a:rPr>
                <a:t>v2.0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058325" y="38852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统一底座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59167" y="4295775"/>
              <a:ext cx="15206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B6C2D2"/>
                  </a:solidFill>
                  <a:latin typeface="Arial"/>
                  <a:ea typeface="Arial"/>
                  <a:cs typeface="Arial"/>
                </a:rPr>
                <a:t>BaseTool / HITL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218938" y="2646998"/>
            <a:ext cx="1754124" cy="1942147"/>
            <a:chOff x="5218938" y="2646998"/>
            <a:chExt cx="1754124" cy="1942147"/>
          </a:xfrm>
        </p:grpSpPr>
        <p:sp>
          <p:nvSpPr>
            <p:cNvPr id="19" name="Ellipse 19"/>
            <p:cNvSpPr/>
            <p:nvPr/>
          </p:nvSpPr>
          <p:spPr>
            <a:xfrm>
              <a:off x="5886450" y="3219450"/>
              <a:ext cx="419100" cy="4191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782896" y="2646998"/>
              <a:ext cx="62620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v2.1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97008" y="3885248"/>
              <a:ext cx="13979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可观测运营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18938" y="4295775"/>
              <a:ext cx="17541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反馈 / 监控 / MCP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679436" y="2646998"/>
            <a:ext cx="1786128" cy="1942147"/>
            <a:chOff x="7679436" y="2646998"/>
            <a:chExt cx="1786128" cy="1942147"/>
          </a:xfrm>
        </p:grpSpPr>
        <p:sp>
          <p:nvSpPr>
            <p:cNvPr id="24" name="Ellipse 24"/>
            <p:cNvSpPr/>
            <p:nvPr/>
          </p:nvSpPr>
          <p:spPr>
            <a:xfrm>
              <a:off x="8362950" y="3219450"/>
              <a:ext cx="419100" cy="4191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59396" y="2646998"/>
              <a:ext cx="62620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v2.2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11325" y="38852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长期可用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79436" y="4295775"/>
              <a:ext cx="17861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记忆压缩 / UI 回归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188473" y="2646998"/>
            <a:ext cx="1721053" cy="1942147"/>
            <a:chOff x="10188473" y="2646998"/>
            <a:chExt cx="1721053" cy="1942147"/>
          </a:xfrm>
        </p:grpSpPr>
        <p:sp>
          <p:nvSpPr>
            <p:cNvPr id="29" name="Ellipse 29"/>
            <p:cNvSpPr/>
            <p:nvPr/>
          </p:nvSpPr>
          <p:spPr>
            <a:xfrm>
              <a:off x="10839450" y="3219450"/>
              <a:ext cx="419100" cy="419100"/>
            </a:xfrm>
            <a:prstGeom prst="ellipse">
              <a:avLst/>
            </a:prstGeom>
            <a:solidFill>
              <a:srgbClr val="7DD3F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735896" y="2646998"/>
              <a:ext cx="62620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v2.3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87825" y="38852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系统收口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188473" y="4295775"/>
              <a:ext cx="17210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周边 / Supervisor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131492" y="5572125"/>
            <a:ext cx="7741905" cy="609600"/>
            <a:chOff x="2135430" y="5572125"/>
            <a:chExt cx="7921138" cy="609600"/>
          </a:xfrm>
        </p:grpSpPr>
        <p:sp>
          <p:nvSpPr>
            <p:cNvPr id="34" name="Rectangle 34"/>
            <p:cNvSpPr/>
            <p:nvPr/>
          </p:nvSpPr>
          <p:spPr>
            <a:xfrm>
              <a:off x="2381250" y="5572125"/>
              <a:ext cx="7429500" cy="609600"/>
            </a:xfrm>
            <a:prstGeom prst="roundRect">
              <a:avLst>
                <a:gd name="adj" fmla="val 9375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135430" y="5709635"/>
              <a:ext cx="792113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200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主线：先跑闭环，再统一底座，最后把能力收口为可运营系统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  <p:bldP spid="23" grpId="0"/>
      <p:bldP spid="28" grpId="0"/>
      <p:bldP spid="33" grpId="0"/>
      <p:bldP spid="3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5070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Freeform 3"/>
            <p:cNvSpPr/>
            <p:nvPr/>
          </p:nvSpPr>
          <p:spPr>
            <a:xfrm>
              <a:off x="533400" y="1257300"/>
              <a:ext cx="11125200" cy="4572000"/>
            </a:xfrm>
            <a:custGeom>
              <a:avLst/>
              <a:gdLst/>
              <a:ahLst/>
              <a:cxnLst/>
              <a:rect l="l" t="t" r="r" b="b"/>
              <a:pathLst>
                <a:path w="11125200" h="4572000">
                  <a:moveTo>
                    <a:pt x="0" y="0"/>
                  </a:moveTo>
                  <a:lnTo>
                    <a:pt x="11125200" y="0"/>
                  </a:lnTo>
                  <a:moveTo>
                    <a:pt x="0" y="914400"/>
                  </a:moveTo>
                  <a:lnTo>
                    <a:pt x="11125200" y="914400"/>
                  </a:lnTo>
                  <a:moveTo>
                    <a:pt x="0" y="1828800"/>
                  </a:moveTo>
                  <a:lnTo>
                    <a:pt x="11125200" y="1828800"/>
                  </a:lnTo>
                  <a:moveTo>
                    <a:pt x="0" y="2743200"/>
                  </a:moveTo>
                  <a:lnTo>
                    <a:pt x="11125200" y="2743200"/>
                  </a:lnTo>
                  <a:moveTo>
                    <a:pt x="0" y="3657600"/>
                  </a:moveTo>
                  <a:lnTo>
                    <a:pt x="11125200" y="3657600"/>
                  </a:lnTo>
                  <a:moveTo>
                    <a:pt x="0" y="4572000"/>
                  </a:moveTo>
                  <a:lnTo>
                    <a:pt x="11125200" y="4572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1C2A3D"/>
              </a:solidFill>
              <a:prstDash val="lg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1047750" y="419100"/>
              <a:ext cx="9525000" cy="6019800"/>
            </a:xfrm>
            <a:custGeom>
              <a:avLst/>
              <a:gdLst/>
              <a:ahLst/>
              <a:cxnLst/>
              <a:rect l="l" t="t" r="r" b="b"/>
              <a:pathLst>
                <a:path w="9525000" h="6019800">
                  <a:moveTo>
                    <a:pt x="0" y="0"/>
                  </a:moveTo>
                  <a:lnTo>
                    <a:pt x="0" y="6019800"/>
                  </a:lnTo>
                  <a:moveTo>
                    <a:pt x="1905000" y="0"/>
                  </a:moveTo>
                  <a:lnTo>
                    <a:pt x="1905000" y="6019800"/>
                  </a:lnTo>
                  <a:moveTo>
                    <a:pt x="3810000" y="0"/>
                  </a:moveTo>
                  <a:lnTo>
                    <a:pt x="3810000" y="6019800"/>
                  </a:lnTo>
                  <a:moveTo>
                    <a:pt x="5715000" y="0"/>
                  </a:moveTo>
                  <a:lnTo>
                    <a:pt x="5715000" y="6019800"/>
                  </a:lnTo>
                  <a:moveTo>
                    <a:pt x="7620000" y="0"/>
                  </a:moveTo>
                  <a:lnTo>
                    <a:pt x="7620000" y="6019800"/>
                  </a:lnTo>
                  <a:moveTo>
                    <a:pt x="9525000" y="0"/>
                  </a:moveTo>
                  <a:lnTo>
                    <a:pt x="9525000" y="60198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1C2A3D">
                  <a:alpha val="48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14350" y="264795"/>
            <a:ext cx="10181448" cy="946594"/>
            <a:chOff x="514350" y="264795"/>
            <a:chExt cx="10181448" cy="946594"/>
          </a:xfrm>
        </p:grpSpPr>
        <p:sp>
          <p:nvSpPr>
            <p:cNvPr id="6" name="TextBox 6"/>
            <p:cNvSpPr txBox="1"/>
            <p:nvPr/>
          </p:nvSpPr>
          <p:spPr>
            <a:xfrm>
              <a:off x="514350" y="264795"/>
              <a:ext cx="10181448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21 项验收条目全部通过，结论可以先给出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4068" y="888682"/>
              <a:ext cx="6680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功能需求、扩展需求与非功能需求均已达成，验收通过率为百分之百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52450" y="1308735"/>
            <a:ext cx="3028950" cy="1358265"/>
            <a:chOff x="552450" y="1308735"/>
            <a:chExt cx="3028950" cy="1358265"/>
          </a:xfrm>
        </p:grpSpPr>
        <p:sp>
          <p:nvSpPr>
            <p:cNvPr id="9" name="Rectangle 9"/>
            <p:cNvSpPr/>
            <p:nvPr/>
          </p:nvSpPr>
          <p:spPr>
            <a:xfrm>
              <a:off x="552450" y="1409700"/>
              <a:ext cx="3028950" cy="1257300"/>
            </a:xfrm>
            <a:prstGeom prst="roundRect">
              <a:avLst>
                <a:gd name="adj" fmla="val 4545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781050" y="165735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50" y="419100"/>
                  </a:moveTo>
                  <a:cubicBezTo>
                    <a:pt x="325282" y="419100"/>
                    <a:pt x="419100" y="325282"/>
                    <a:pt x="419100" y="209550"/>
                  </a:cubicBezTo>
                  <a:cubicBezTo>
                    <a:pt x="419100" y="93819"/>
                    <a:pt x="325282" y="0"/>
                    <a:pt x="209550" y="0"/>
                  </a:cubicBezTo>
                  <a:cubicBezTo>
                    <a:pt x="93819" y="0"/>
                    <a:pt x="0" y="93819"/>
                    <a:pt x="0" y="209550"/>
                  </a:cubicBezTo>
                  <a:cubicBezTo>
                    <a:pt x="0" y="325282"/>
                    <a:pt x="93819" y="419100"/>
                    <a:pt x="209550" y="419100"/>
                  </a:cubicBezTo>
                  <a:close/>
                  <a:moveTo>
                    <a:pt x="332847" y="149491"/>
                  </a:moveTo>
                  <a:lnTo>
                    <a:pt x="295803" y="112447"/>
                  </a:lnTo>
                  <a:lnTo>
                    <a:pt x="170259" y="237991"/>
                  </a:lnTo>
                  <a:lnTo>
                    <a:pt x="123297" y="191028"/>
                  </a:lnTo>
                  <a:lnTo>
                    <a:pt x="86253" y="228072"/>
                  </a:lnTo>
                  <a:lnTo>
                    <a:pt x="170259" y="312078"/>
                  </a:lnTo>
                  <a:lnTo>
                    <a:pt x="332847" y="149491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1600" y="1308735"/>
              <a:ext cx="1971782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700" b="1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100%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8670" y="2138362"/>
              <a:ext cx="129501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验收通过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39518" y="2203132"/>
              <a:ext cx="7608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B6C2D2"/>
                  </a:solidFill>
                  <a:latin typeface="Arial"/>
                  <a:ea typeface="Arial"/>
                  <a:cs typeface="Arial"/>
                </a:rPr>
                <a:t>21 / 21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52450" y="3009900"/>
            <a:ext cx="7067550" cy="2609850"/>
            <a:chOff x="552450" y="3009900"/>
            <a:chExt cx="7067550" cy="2609850"/>
          </a:xfrm>
        </p:grpSpPr>
        <p:sp>
          <p:nvSpPr>
            <p:cNvPr id="15" name="Rectangle 15"/>
            <p:cNvSpPr/>
            <p:nvPr/>
          </p:nvSpPr>
          <p:spPr>
            <a:xfrm>
              <a:off x="552450" y="3009900"/>
              <a:ext cx="7067550" cy="2609850"/>
            </a:xfrm>
            <a:prstGeom prst="roundRect">
              <a:avLst>
                <a:gd name="adj" fmla="val 2190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52450" y="3009900"/>
              <a:ext cx="7067550" cy="514350"/>
            </a:xfrm>
            <a:prstGeom prst="roundRect">
              <a:avLst>
                <a:gd name="adj" fmla="val 11111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0956" y="314896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7DD3FC"/>
                  </a:solidFill>
                  <a:latin typeface="Arial"/>
                  <a:ea typeface="Microsoft YaHei"/>
                  <a:cs typeface="Arial"/>
                </a:rPr>
                <a:t>验收维度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67456" y="3148965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7DD3FC"/>
                  </a:solidFill>
                  <a:latin typeface="Arial"/>
                  <a:ea typeface="Microsoft YaHei"/>
                  <a:cs typeface="Arial"/>
                </a:rPr>
                <a:t>条目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96206" y="314896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7DD3FC"/>
                  </a:solidFill>
                  <a:latin typeface="Arial"/>
                  <a:ea typeface="Microsoft YaHei"/>
                  <a:cs typeface="Arial"/>
                </a:rPr>
                <a:t>达成版本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65824" y="3148965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7DD3FC"/>
                  </a:solidFill>
                  <a:latin typeface="Arial"/>
                  <a:ea typeface="Microsoft YaHei"/>
                  <a:cs typeface="Arial"/>
                </a:rPr>
                <a:t>状态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3048000" y="3009900"/>
              <a:ext cx="9525" cy="2609850"/>
            </a:xfrm>
            <a:custGeom>
              <a:avLst/>
              <a:gdLst/>
              <a:ahLst/>
              <a:cxnLst/>
              <a:rect l="l" t="t" r="r" b="b"/>
              <a:pathLst>
                <a:path w="9525" h="2609850">
                  <a:moveTo>
                    <a:pt x="0" y="0"/>
                  </a:moveTo>
                  <a:lnTo>
                    <a:pt x="0" y="2609850"/>
                  </a:lnTo>
                </a:path>
              </a:pathLst>
            </a:custGeom>
            <a:noFill/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2"/>
            <p:cNvSpPr/>
            <p:nvPr/>
          </p:nvSpPr>
          <p:spPr>
            <a:xfrm>
              <a:off x="4381500" y="3009900"/>
              <a:ext cx="9525" cy="2609850"/>
            </a:xfrm>
            <a:custGeom>
              <a:avLst/>
              <a:gdLst/>
              <a:ahLst/>
              <a:cxnLst/>
              <a:rect l="l" t="t" r="r" b="b"/>
              <a:pathLst>
                <a:path w="9525" h="2609850">
                  <a:moveTo>
                    <a:pt x="0" y="0"/>
                  </a:moveTo>
                  <a:lnTo>
                    <a:pt x="0" y="2609850"/>
                  </a:lnTo>
                </a:path>
              </a:pathLst>
            </a:custGeom>
            <a:noFill/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3"/>
            <p:cNvSpPr/>
            <p:nvPr/>
          </p:nvSpPr>
          <p:spPr>
            <a:xfrm>
              <a:off x="6000750" y="3009900"/>
              <a:ext cx="9525" cy="2609850"/>
            </a:xfrm>
            <a:custGeom>
              <a:avLst/>
              <a:gdLst/>
              <a:ahLst/>
              <a:cxnLst/>
              <a:rect l="l" t="t" r="r" b="b"/>
              <a:pathLst>
                <a:path w="9525" h="2609850">
                  <a:moveTo>
                    <a:pt x="0" y="0"/>
                  </a:moveTo>
                  <a:lnTo>
                    <a:pt x="0" y="2609850"/>
                  </a:lnTo>
                </a:path>
              </a:pathLst>
            </a:custGeom>
            <a:noFill/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552450" y="4038600"/>
              <a:ext cx="7067550" cy="1028700"/>
            </a:xfrm>
            <a:custGeom>
              <a:avLst/>
              <a:gdLst/>
              <a:ahLst/>
              <a:cxnLst/>
              <a:rect l="l" t="t" r="r" b="b"/>
              <a:pathLst>
                <a:path w="7067550" h="1028700">
                  <a:moveTo>
                    <a:pt x="0" y="0"/>
                  </a:moveTo>
                  <a:lnTo>
                    <a:pt x="7067550" y="0"/>
                  </a:lnTo>
                  <a:moveTo>
                    <a:pt x="0" y="514350"/>
                  </a:moveTo>
                  <a:lnTo>
                    <a:pt x="7067550" y="514350"/>
                  </a:lnTo>
                  <a:moveTo>
                    <a:pt x="0" y="1028700"/>
                  </a:moveTo>
                  <a:lnTo>
                    <a:pt x="7067550" y="10287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9432" y="3649980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必须完成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78483" y="3633788"/>
              <a:ext cx="70437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F8FAFC"/>
                  </a:solidFill>
                  <a:latin typeface="Consolas"/>
                  <a:ea typeface="Consolas"/>
                  <a:cs typeface="Consolas"/>
                </a:rPr>
                <a:t>5 / 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96968" y="3698558"/>
              <a:ext cx="10240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B6C2D2"/>
                  </a:solidFill>
                  <a:latin typeface="Arial"/>
                  <a:ea typeface="Arial"/>
                  <a:cs typeface="Arial"/>
                </a:rPr>
                <a:t>v1.0 MVP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21895" y="3649980"/>
              <a:ext cx="615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通过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9432" y="4164330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推荐完成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78483" y="4148138"/>
              <a:ext cx="70437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F8FAFC"/>
                  </a:solidFill>
                  <a:latin typeface="Consolas"/>
                  <a:ea typeface="Consolas"/>
                  <a:cs typeface="Consolas"/>
                </a:rPr>
                <a:t>5 / 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96968" y="4212908"/>
              <a:ext cx="12495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B6C2D2"/>
                  </a:solidFill>
                  <a:latin typeface="Arial"/>
                  <a:ea typeface="Arial"/>
                  <a:cs typeface="Arial"/>
                </a:rPr>
                <a:t>v1.0 - v2.3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21895" y="4164330"/>
              <a:ext cx="615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通过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9432" y="4678680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可选扩展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178483" y="4638294"/>
              <a:ext cx="70437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F8FAFC"/>
                  </a:solidFill>
                  <a:latin typeface="Consolas"/>
                  <a:ea typeface="Consolas"/>
                  <a:cs typeface="Consolas"/>
                </a:rPr>
                <a:t>6 / 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96968" y="4727258"/>
              <a:ext cx="12495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B6C2D2"/>
                  </a:solidFill>
                  <a:latin typeface="Arial"/>
                  <a:ea typeface="Arial"/>
                  <a:cs typeface="Arial"/>
                </a:rPr>
                <a:t>v2.0 - v2.3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21895" y="4678680"/>
              <a:ext cx="615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通过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9432" y="5193030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非功能需求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178483" y="5176838"/>
              <a:ext cx="70437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F8FAFC"/>
                  </a:solidFill>
                  <a:latin typeface="Consolas"/>
                  <a:ea typeface="Consolas"/>
                  <a:cs typeface="Consolas"/>
                </a:rPr>
                <a:t>5 / 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696968" y="524160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全版本支持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21895" y="5193030"/>
              <a:ext cx="615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通过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115300" y="1438275"/>
            <a:ext cx="3638550" cy="4210050"/>
            <a:chOff x="8115300" y="1438275"/>
            <a:chExt cx="3638550" cy="4210050"/>
          </a:xfrm>
        </p:grpSpPr>
        <p:sp>
          <p:nvSpPr>
            <p:cNvPr id="42" name="Rectangle 42"/>
            <p:cNvSpPr/>
            <p:nvPr/>
          </p:nvSpPr>
          <p:spPr>
            <a:xfrm>
              <a:off x="8115300" y="1438275"/>
              <a:ext cx="3638550" cy="4210050"/>
            </a:xfrm>
            <a:prstGeom prst="roundRect">
              <a:avLst>
                <a:gd name="adj" fmla="val 1571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92846" y="1591628"/>
              <a:ext cx="146768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结论公式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97418" y="2060258"/>
              <a:ext cx="2750753" cy="5078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所有条目进入同一条证据链，</a:t>
              </a:r>
              <a:endParaRPr lang="en-US" altLang="zh-CN" sz="1650" dirty="0">
                <a:solidFill>
                  <a:srgbClr val="B6C2D2"/>
                </a:solidFill>
                <a:latin typeface="Arial"/>
                <a:ea typeface="Microsoft YaHei"/>
                <a:cs typeface="Arial"/>
              </a:endParaRPr>
            </a:p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不按演示印象主观判断</a:t>
              </a:r>
            </a:p>
          </p:txBody>
        </p:sp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77250" y="2686050"/>
              <a:ext cx="2724150" cy="542925"/>
            </a:xfrm>
            <a:prstGeom prst="rect">
              <a:avLst/>
            </a:prstGeom>
          </p:spPr>
        </p:pic>
        <p:sp>
          <p:nvSpPr>
            <p:cNvPr id="46" name="Freeform 46"/>
            <p:cNvSpPr/>
            <p:nvPr/>
          </p:nvSpPr>
          <p:spPr>
            <a:xfrm>
              <a:off x="8477250" y="3657600"/>
              <a:ext cx="2724150" cy="9525"/>
            </a:xfrm>
            <a:custGeom>
              <a:avLst/>
              <a:gdLst/>
              <a:ahLst/>
              <a:cxnLst/>
              <a:rect l="l" t="t" r="r" b="b"/>
              <a:pathLst>
                <a:path w="2724150" h="9525">
                  <a:moveTo>
                    <a:pt x="0" y="0"/>
                  </a:moveTo>
                  <a:lnTo>
                    <a:pt x="272415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7DD3FC"/>
              </a:solidFill>
              <a:prstDash val="lgDash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8546306" y="4000500"/>
              <a:ext cx="300038" cy="400050"/>
              <a:chOff x="8546306" y="4000500"/>
              <a:chExt cx="300038" cy="40005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8546306" y="4000500"/>
                <a:ext cx="300038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100012">
                    <a:moveTo>
                      <a:pt x="300038" y="0"/>
                    </a:moveTo>
                    <a:lnTo>
                      <a:pt x="0" y="0"/>
                    </a:lnTo>
                    <a:lnTo>
                      <a:pt x="0" y="100012"/>
                    </a:lnTo>
                    <a:lnTo>
                      <a:pt x="300038" y="100012"/>
                    </a:lnTo>
                    <a:lnTo>
                      <a:pt x="300038" y="0"/>
                    </a:ln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" name="Freeform 48"/>
              <p:cNvSpPr/>
              <p:nvPr/>
            </p:nvSpPr>
            <p:spPr>
              <a:xfrm>
                <a:off x="8546306" y="4150519"/>
                <a:ext cx="125016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25016" h="100012">
                    <a:moveTo>
                      <a:pt x="0" y="0"/>
                    </a:moveTo>
                    <a:lnTo>
                      <a:pt x="125016" y="0"/>
                    </a:lnTo>
                    <a:lnTo>
                      <a:pt x="125016" y="100012"/>
                    </a:lnTo>
                    <a:lnTo>
                      <a:pt x="0" y="1000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" name="Freeform 49"/>
              <p:cNvSpPr/>
              <p:nvPr/>
            </p:nvSpPr>
            <p:spPr>
              <a:xfrm>
                <a:off x="8546306" y="4300538"/>
                <a:ext cx="125016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25016" h="100012">
                    <a:moveTo>
                      <a:pt x="0" y="0"/>
                    </a:moveTo>
                    <a:lnTo>
                      <a:pt x="125016" y="0"/>
                    </a:lnTo>
                    <a:lnTo>
                      <a:pt x="125016" y="100012"/>
                    </a:lnTo>
                    <a:lnTo>
                      <a:pt x="0" y="1000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Freeform 50"/>
              <p:cNvSpPr/>
              <p:nvPr/>
            </p:nvSpPr>
            <p:spPr>
              <a:xfrm>
                <a:off x="8721328" y="4300538"/>
                <a:ext cx="125016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25016" h="100012">
                    <a:moveTo>
                      <a:pt x="0" y="0"/>
                    </a:moveTo>
                    <a:lnTo>
                      <a:pt x="125016" y="0"/>
                    </a:lnTo>
                    <a:lnTo>
                      <a:pt x="125016" y="100012"/>
                    </a:lnTo>
                    <a:lnTo>
                      <a:pt x="0" y="1000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Freeform 51"/>
              <p:cNvSpPr/>
              <p:nvPr/>
            </p:nvSpPr>
            <p:spPr>
              <a:xfrm>
                <a:off x="8721328" y="4150519"/>
                <a:ext cx="125016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25016" h="100012">
                    <a:moveTo>
                      <a:pt x="125016" y="0"/>
                    </a:moveTo>
                    <a:lnTo>
                      <a:pt x="0" y="0"/>
                    </a:lnTo>
                    <a:lnTo>
                      <a:pt x="0" y="100012"/>
                    </a:lnTo>
                    <a:lnTo>
                      <a:pt x="125016" y="100012"/>
                    </a:lnTo>
                    <a:lnTo>
                      <a:pt x="125016" y="0"/>
                    </a:ln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3" name="TextBox 53"/>
            <p:cNvSpPr txBox="1"/>
            <p:nvPr/>
          </p:nvSpPr>
          <p:spPr>
            <a:xfrm>
              <a:off x="9075420" y="4024312"/>
              <a:ext cx="129501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需求对照</a:t>
              </a:r>
            </a:p>
          </p:txBody>
        </p:sp>
        <p:grpSp>
          <p:nvGrpSpPr>
            <p:cNvPr id="56" name="Group 56"/>
            <p:cNvGrpSpPr/>
            <p:nvPr/>
          </p:nvGrpSpPr>
          <p:grpSpPr>
            <a:xfrm>
              <a:off x="8521303" y="4629150"/>
              <a:ext cx="350044" cy="400050"/>
              <a:chOff x="8521303" y="4629150"/>
              <a:chExt cx="350044" cy="40005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8621316" y="4629150"/>
                <a:ext cx="250031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250031" h="300038">
                    <a:moveTo>
                      <a:pt x="150019" y="0"/>
                    </a:moveTo>
                    <a:lnTo>
                      <a:pt x="0" y="0"/>
                    </a:lnTo>
                    <a:lnTo>
                      <a:pt x="0" y="300038"/>
                    </a:lnTo>
                    <a:lnTo>
                      <a:pt x="250031" y="300038"/>
                    </a:lnTo>
                    <a:lnTo>
                      <a:pt x="250031" y="100012"/>
                    </a:lnTo>
                    <a:lnTo>
                      <a:pt x="150019" y="0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Freeform 55"/>
              <p:cNvSpPr/>
              <p:nvPr/>
            </p:nvSpPr>
            <p:spPr>
              <a:xfrm>
                <a:off x="8521303" y="4729162"/>
                <a:ext cx="250031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250031" h="300038">
                    <a:moveTo>
                      <a:pt x="0" y="0"/>
                    </a:moveTo>
                    <a:lnTo>
                      <a:pt x="0" y="300038"/>
                    </a:lnTo>
                    <a:lnTo>
                      <a:pt x="250031" y="300038"/>
                    </a:lnTo>
                    <a:lnTo>
                      <a:pt x="250031" y="250031"/>
                    </a:lnTo>
                    <a:lnTo>
                      <a:pt x="50006" y="250031"/>
                    </a:lnTo>
                    <a:lnTo>
                      <a:pt x="500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7" name="TextBox 57"/>
            <p:cNvSpPr txBox="1"/>
            <p:nvPr/>
          </p:nvSpPr>
          <p:spPr>
            <a:xfrm>
              <a:off x="9075420" y="4652962"/>
              <a:ext cx="129501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测试沉淀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297418" y="5131118"/>
              <a:ext cx="2962349" cy="5078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验收结论：功能、治理、观测、</a:t>
              </a:r>
              <a:endParaRPr lang="en-US" altLang="zh-CN" sz="1650" dirty="0">
                <a:solidFill>
                  <a:srgbClr val="B6C2D2"/>
                </a:solidFill>
                <a:latin typeface="Arial"/>
                <a:ea typeface="Microsoft YaHei"/>
                <a:cs typeface="Arial"/>
              </a:endParaRPr>
            </a:p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回归四条证据同时闭合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527304" y="6309360"/>
            <a:ext cx="52864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F8EA3"/>
                </a:solidFill>
                <a:latin typeface="Arial"/>
                <a:ea typeface="Microsoft YaHei"/>
                <a:cs typeface="Arial"/>
              </a:rPr>
              <a:t>P09 · consulting table adaptation · Source: Agent 系统验收说明文档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1" grpId="0"/>
      <p:bldP spid="5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5070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Freeform 3"/>
            <p:cNvSpPr/>
            <p:nvPr/>
          </p:nvSpPr>
          <p:spPr>
            <a:xfrm>
              <a:off x="533400" y="1428750"/>
              <a:ext cx="11125200" cy="4572000"/>
            </a:xfrm>
            <a:custGeom>
              <a:avLst/>
              <a:gdLst/>
              <a:ahLst/>
              <a:cxnLst/>
              <a:rect l="l" t="t" r="r" b="b"/>
              <a:pathLst>
                <a:path w="11125200" h="4572000">
                  <a:moveTo>
                    <a:pt x="0" y="0"/>
                  </a:moveTo>
                  <a:lnTo>
                    <a:pt x="11125200" y="0"/>
                  </a:lnTo>
                  <a:moveTo>
                    <a:pt x="0" y="1143000"/>
                  </a:moveTo>
                  <a:lnTo>
                    <a:pt x="11125200" y="1143000"/>
                  </a:lnTo>
                  <a:moveTo>
                    <a:pt x="0" y="2286000"/>
                  </a:moveTo>
                  <a:lnTo>
                    <a:pt x="11125200" y="2286000"/>
                  </a:lnTo>
                  <a:moveTo>
                    <a:pt x="0" y="3429000"/>
                  </a:moveTo>
                  <a:lnTo>
                    <a:pt x="11125200" y="3429000"/>
                  </a:lnTo>
                  <a:moveTo>
                    <a:pt x="0" y="4572000"/>
                  </a:moveTo>
                  <a:lnTo>
                    <a:pt x="11125200" y="4572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1C2A3D"/>
              </a:solidFill>
              <a:prstDash val="lg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762000" y="419100"/>
              <a:ext cx="10668000" cy="6019800"/>
            </a:xfrm>
            <a:custGeom>
              <a:avLst/>
              <a:gdLst/>
              <a:ahLst/>
              <a:cxnLst/>
              <a:rect l="l" t="t" r="r" b="b"/>
              <a:pathLst>
                <a:path w="10668000" h="6019800">
                  <a:moveTo>
                    <a:pt x="0" y="0"/>
                  </a:moveTo>
                  <a:lnTo>
                    <a:pt x="0" y="6019800"/>
                  </a:lnTo>
                  <a:moveTo>
                    <a:pt x="2286000" y="0"/>
                  </a:moveTo>
                  <a:lnTo>
                    <a:pt x="2286000" y="6019800"/>
                  </a:lnTo>
                  <a:moveTo>
                    <a:pt x="4572000" y="0"/>
                  </a:moveTo>
                  <a:lnTo>
                    <a:pt x="4572000" y="6019800"/>
                  </a:lnTo>
                  <a:moveTo>
                    <a:pt x="6858000" y="0"/>
                  </a:moveTo>
                  <a:lnTo>
                    <a:pt x="6858000" y="6019800"/>
                  </a:lnTo>
                  <a:moveTo>
                    <a:pt x="9144000" y="0"/>
                  </a:moveTo>
                  <a:lnTo>
                    <a:pt x="9144000" y="6019800"/>
                  </a:lnTo>
                  <a:moveTo>
                    <a:pt x="10668000" y="0"/>
                  </a:moveTo>
                  <a:lnTo>
                    <a:pt x="10668000" y="60198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1C2A3D">
                  <a:alpha val="45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14350" y="264795"/>
            <a:ext cx="8256427" cy="946594"/>
            <a:chOff x="514350" y="264795"/>
            <a:chExt cx="8256427" cy="946594"/>
          </a:xfrm>
        </p:grpSpPr>
        <p:sp>
          <p:nvSpPr>
            <p:cNvPr id="6" name="TextBox 6"/>
            <p:cNvSpPr txBox="1"/>
            <p:nvPr/>
          </p:nvSpPr>
          <p:spPr>
            <a:xfrm>
              <a:off x="514350" y="264795"/>
              <a:ext cx="8256427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非功能验收证明它不是一次 Demo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4068" y="888682"/>
              <a:ext cx="645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稳定性、可维护性、可扩展性、安全和用户体验都有对应工程抓手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52450" y="1524000"/>
            <a:ext cx="2038350" cy="3981450"/>
            <a:chOff x="552450" y="1524000"/>
            <a:chExt cx="2038350" cy="3981450"/>
          </a:xfrm>
        </p:grpSpPr>
        <p:sp>
          <p:nvSpPr>
            <p:cNvPr id="9" name="Rectangle 9"/>
            <p:cNvSpPr/>
            <p:nvPr/>
          </p:nvSpPr>
          <p:spPr>
            <a:xfrm>
              <a:off x="552450" y="1524000"/>
              <a:ext cx="2038350" cy="3981450"/>
            </a:xfrm>
            <a:prstGeom prst="roundRect">
              <a:avLst>
                <a:gd name="adj" fmla="val 2804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52450" y="1524000"/>
              <a:ext cx="2038350" cy="114300"/>
            </a:xfrm>
            <a:prstGeom prst="rect">
              <a:avLst/>
            </a:prstGeom>
            <a:solidFill>
              <a:srgbClr val="7DD3F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781050" y="1902619"/>
              <a:ext cx="438150" cy="328612"/>
              <a:chOff x="781050" y="1902619"/>
              <a:chExt cx="438150" cy="32861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781050" y="1902619"/>
                <a:ext cx="438150" cy="136922"/>
              </a:xfrm>
              <a:custGeom>
                <a:avLst/>
                <a:gdLst/>
                <a:ahLst/>
                <a:cxnLst/>
                <a:rect l="l" t="t" r="r" b="b"/>
                <a:pathLst>
                  <a:path w="438150" h="136922">
                    <a:moveTo>
                      <a:pt x="438150" y="0"/>
                    </a:moveTo>
                    <a:lnTo>
                      <a:pt x="0" y="0"/>
                    </a:lnTo>
                    <a:lnTo>
                      <a:pt x="0" y="136922"/>
                    </a:lnTo>
                    <a:lnTo>
                      <a:pt x="438150" y="136922"/>
                    </a:lnTo>
                    <a:lnTo>
                      <a:pt x="438150" y="0"/>
                    </a:lnTo>
                    <a:close/>
                    <a:moveTo>
                      <a:pt x="109538" y="68461"/>
                    </a:moveTo>
                    <a:cubicBezTo>
                      <a:pt x="109538" y="83585"/>
                      <a:pt x="97277" y="95845"/>
                      <a:pt x="82153" y="95845"/>
                    </a:cubicBezTo>
                    <a:cubicBezTo>
                      <a:pt x="67029" y="95845"/>
                      <a:pt x="54769" y="83585"/>
                      <a:pt x="54769" y="68461"/>
                    </a:cubicBezTo>
                    <a:cubicBezTo>
                      <a:pt x="54769" y="53337"/>
                      <a:pt x="67029" y="41077"/>
                      <a:pt x="82153" y="41077"/>
                    </a:cubicBezTo>
                    <a:cubicBezTo>
                      <a:pt x="97277" y="41077"/>
                      <a:pt x="109538" y="53337"/>
                      <a:pt x="109538" y="68461"/>
                    </a:cubicBez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Freeform 12"/>
              <p:cNvSpPr/>
              <p:nvPr/>
            </p:nvSpPr>
            <p:spPr>
              <a:xfrm>
                <a:off x="781050" y="2094309"/>
                <a:ext cx="438150" cy="136922"/>
              </a:xfrm>
              <a:custGeom>
                <a:avLst/>
                <a:gdLst/>
                <a:ahLst/>
                <a:cxnLst/>
                <a:rect l="l" t="t" r="r" b="b"/>
                <a:pathLst>
                  <a:path w="438150" h="136922">
                    <a:moveTo>
                      <a:pt x="438150" y="0"/>
                    </a:moveTo>
                    <a:lnTo>
                      <a:pt x="0" y="0"/>
                    </a:lnTo>
                    <a:lnTo>
                      <a:pt x="0" y="136922"/>
                    </a:lnTo>
                    <a:lnTo>
                      <a:pt x="438150" y="136922"/>
                    </a:lnTo>
                    <a:lnTo>
                      <a:pt x="438150" y="0"/>
                    </a:lnTo>
                    <a:close/>
                    <a:moveTo>
                      <a:pt x="82153" y="95845"/>
                    </a:moveTo>
                    <a:cubicBezTo>
                      <a:pt x="97277" y="95845"/>
                      <a:pt x="109538" y="83585"/>
                      <a:pt x="109538" y="68461"/>
                    </a:cubicBezTo>
                    <a:cubicBezTo>
                      <a:pt x="109538" y="53337"/>
                      <a:pt x="97277" y="41077"/>
                      <a:pt x="82153" y="41077"/>
                    </a:cubicBezTo>
                    <a:cubicBezTo>
                      <a:pt x="67029" y="41077"/>
                      <a:pt x="54769" y="53337"/>
                      <a:pt x="54769" y="68461"/>
                    </a:cubicBezTo>
                    <a:cubicBezTo>
                      <a:pt x="54769" y="83585"/>
                      <a:pt x="67029" y="95845"/>
                      <a:pt x="82153" y="95845"/>
                    </a:cubicBez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769620" y="2405062"/>
              <a:ext cx="6589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稳定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2668" y="2927032"/>
              <a:ext cx="1693164" cy="12942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独立子系统边界MCP 不可用回退输入异常前置拦截工具链降级策略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4192" y="4883468"/>
              <a:ext cx="11274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NFR-01 PASS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819400" y="1524000"/>
            <a:ext cx="2038350" cy="3981450"/>
            <a:chOff x="2819400" y="1524000"/>
            <a:chExt cx="2038350" cy="3981450"/>
          </a:xfrm>
        </p:grpSpPr>
        <p:sp>
          <p:nvSpPr>
            <p:cNvPr id="18" name="Rectangle 18"/>
            <p:cNvSpPr/>
            <p:nvPr/>
          </p:nvSpPr>
          <p:spPr>
            <a:xfrm>
              <a:off x="2819400" y="1524000"/>
              <a:ext cx="2038350" cy="3981450"/>
            </a:xfrm>
            <a:prstGeom prst="roundRect">
              <a:avLst>
                <a:gd name="adj" fmla="val 2804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819400" y="1524000"/>
              <a:ext cx="2038350" cy="114300"/>
            </a:xfrm>
            <a:prstGeom prst="rect">
              <a:avLst/>
            </a:prstGeom>
            <a:solidFill>
              <a:srgbClr val="8B5CF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3075384" y="1847850"/>
              <a:ext cx="383381" cy="438150"/>
              <a:chOff x="3075384" y="1847850"/>
              <a:chExt cx="383381" cy="43815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3075384" y="1847850"/>
                <a:ext cx="383381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383381" h="219075">
                    <a:moveTo>
                      <a:pt x="0" y="136922"/>
                    </a:moveTo>
                    <a:lnTo>
                      <a:pt x="0" y="82153"/>
                    </a:lnTo>
                    <a:lnTo>
                      <a:pt x="191691" y="0"/>
                    </a:lnTo>
                    <a:lnTo>
                      <a:pt x="383381" y="82153"/>
                    </a:lnTo>
                    <a:lnTo>
                      <a:pt x="383381" y="136922"/>
                    </a:lnTo>
                    <a:lnTo>
                      <a:pt x="191691" y="219075"/>
                    </a:lnTo>
                    <a:lnTo>
                      <a:pt x="0" y="136922"/>
                    </a:ln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3075384" y="2149078"/>
                <a:ext cx="383381" cy="136922"/>
              </a:xfrm>
              <a:custGeom>
                <a:avLst/>
                <a:gdLst/>
                <a:ahLst/>
                <a:cxnLst/>
                <a:rect l="l" t="t" r="r" b="b"/>
                <a:pathLst>
                  <a:path w="383381" h="136922">
                    <a:moveTo>
                      <a:pt x="191691" y="136922"/>
                    </a:moveTo>
                    <a:lnTo>
                      <a:pt x="0" y="54769"/>
                    </a:lnTo>
                    <a:lnTo>
                      <a:pt x="0" y="0"/>
                    </a:lnTo>
                    <a:lnTo>
                      <a:pt x="191691" y="82153"/>
                    </a:lnTo>
                    <a:lnTo>
                      <a:pt x="383381" y="0"/>
                    </a:lnTo>
                    <a:lnTo>
                      <a:pt x="383381" y="54769"/>
                    </a:lnTo>
                    <a:lnTo>
                      <a:pt x="191691" y="136922"/>
                    </a:ln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3075384" y="2039541"/>
                <a:ext cx="383381" cy="136922"/>
              </a:xfrm>
              <a:custGeom>
                <a:avLst/>
                <a:gdLst/>
                <a:ahLst/>
                <a:cxnLst/>
                <a:rect l="l" t="t" r="r" b="b"/>
                <a:pathLst>
                  <a:path w="383381" h="136922">
                    <a:moveTo>
                      <a:pt x="0" y="54769"/>
                    </a:moveTo>
                    <a:lnTo>
                      <a:pt x="191691" y="136922"/>
                    </a:lnTo>
                    <a:lnTo>
                      <a:pt x="383381" y="54769"/>
                    </a:lnTo>
                    <a:lnTo>
                      <a:pt x="383381" y="0"/>
                    </a:lnTo>
                    <a:lnTo>
                      <a:pt x="191691" y="82153"/>
                    </a:lnTo>
                    <a:lnTo>
                      <a:pt x="0" y="0"/>
                    </a:lnTo>
                    <a:lnTo>
                      <a:pt x="0" y="54769"/>
                    </a:ln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3036570" y="2405062"/>
              <a:ext cx="97697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可维护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39618" y="2927032"/>
              <a:ext cx="1274064" cy="12942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分层目录结构独立数据模型工具逻辑收敛协议单独沉淀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41142" y="4883468"/>
              <a:ext cx="11274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8B5CF6"/>
                  </a:solidFill>
                  <a:latin typeface="Consolas"/>
                  <a:ea typeface="Consolas"/>
                  <a:cs typeface="Consolas"/>
                </a:rPr>
                <a:t>NFR-02 PASS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086350" y="1524000"/>
            <a:ext cx="2038350" cy="3981450"/>
            <a:chOff x="5086350" y="1524000"/>
            <a:chExt cx="2038350" cy="3981450"/>
          </a:xfrm>
        </p:grpSpPr>
        <p:sp>
          <p:nvSpPr>
            <p:cNvPr id="28" name="Rectangle 28"/>
            <p:cNvSpPr/>
            <p:nvPr/>
          </p:nvSpPr>
          <p:spPr>
            <a:xfrm>
              <a:off x="5086350" y="1524000"/>
              <a:ext cx="2038350" cy="3981450"/>
            </a:xfrm>
            <a:prstGeom prst="roundRect">
              <a:avLst>
                <a:gd name="adj" fmla="val 2804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086350" y="1524000"/>
              <a:ext cx="2038350" cy="1143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5342334" y="1875234"/>
              <a:ext cx="383381" cy="383381"/>
            </a:xfrm>
            <a:custGeom>
              <a:avLst/>
              <a:gdLst/>
              <a:ahLst/>
              <a:cxnLst/>
              <a:rect l="l" t="t" r="r" b="b"/>
              <a:pathLst>
                <a:path w="383381" h="383381">
                  <a:moveTo>
                    <a:pt x="383381" y="0"/>
                  </a:moveTo>
                  <a:lnTo>
                    <a:pt x="0" y="0"/>
                  </a:lnTo>
                  <a:lnTo>
                    <a:pt x="0" y="383381"/>
                  </a:lnTo>
                  <a:lnTo>
                    <a:pt x="383381" y="383381"/>
                  </a:lnTo>
                  <a:lnTo>
                    <a:pt x="383381" y="0"/>
                  </a:lnTo>
                  <a:close/>
                  <a:moveTo>
                    <a:pt x="136922" y="109538"/>
                  </a:moveTo>
                  <a:lnTo>
                    <a:pt x="175649" y="148265"/>
                  </a:lnTo>
                  <a:lnTo>
                    <a:pt x="132224" y="191691"/>
                  </a:lnTo>
                  <a:lnTo>
                    <a:pt x="175649" y="235116"/>
                  </a:lnTo>
                  <a:lnTo>
                    <a:pt x="136922" y="273844"/>
                  </a:lnTo>
                  <a:lnTo>
                    <a:pt x="54769" y="191691"/>
                  </a:lnTo>
                  <a:lnTo>
                    <a:pt x="136922" y="109538"/>
                  </a:lnTo>
                  <a:close/>
                  <a:moveTo>
                    <a:pt x="246459" y="109538"/>
                  </a:moveTo>
                  <a:lnTo>
                    <a:pt x="207732" y="148265"/>
                  </a:lnTo>
                  <a:lnTo>
                    <a:pt x="251159" y="191691"/>
                  </a:lnTo>
                  <a:lnTo>
                    <a:pt x="207732" y="235116"/>
                  </a:lnTo>
                  <a:lnTo>
                    <a:pt x="246459" y="273844"/>
                  </a:lnTo>
                  <a:lnTo>
                    <a:pt x="328612" y="191691"/>
                  </a:lnTo>
                  <a:lnTo>
                    <a:pt x="246459" y="109538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03520" y="2405062"/>
              <a:ext cx="97697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可扩展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306568" y="2927032"/>
              <a:ext cx="1368362" cy="12942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BaseTool 契约Persona 注册卡片协议版本知识库可扩域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308092" y="4883468"/>
              <a:ext cx="11274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NFR-03 PASS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353300" y="1524000"/>
            <a:ext cx="2038350" cy="3981450"/>
            <a:chOff x="7353300" y="1524000"/>
            <a:chExt cx="2038350" cy="3981450"/>
          </a:xfrm>
        </p:grpSpPr>
        <p:sp>
          <p:nvSpPr>
            <p:cNvPr id="35" name="Rectangle 35"/>
            <p:cNvSpPr/>
            <p:nvPr/>
          </p:nvSpPr>
          <p:spPr>
            <a:xfrm>
              <a:off x="7353300" y="1524000"/>
              <a:ext cx="2038350" cy="3981450"/>
            </a:xfrm>
            <a:prstGeom prst="roundRect">
              <a:avLst>
                <a:gd name="adj" fmla="val 2804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353300" y="1524000"/>
              <a:ext cx="2038350" cy="114300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7609284" y="1847850"/>
              <a:ext cx="383381" cy="438150"/>
            </a:xfrm>
            <a:custGeom>
              <a:avLst/>
              <a:gdLst/>
              <a:ahLst/>
              <a:cxnLst/>
              <a:rect l="l" t="t" r="r" b="b"/>
              <a:pathLst>
                <a:path w="383381" h="438150">
                  <a:moveTo>
                    <a:pt x="191691" y="438150"/>
                  </a:moveTo>
                  <a:lnTo>
                    <a:pt x="91740" y="366756"/>
                  </a:lnTo>
                  <a:cubicBezTo>
                    <a:pt x="34168" y="325633"/>
                    <a:pt x="0" y="259239"/>
                    <a:pt x="0" y="188488"/>
                  </a:cubicBezTo>
                  <a:lnTo>
                    <a:pt x="0" y="82153"/>
                  </a:lnTo>
                  <a:lnTo>
                    <a:pt x="191691" y="0"/>
                  </a:lnTo>
                  <a:lnTo>
                    <a:pt x="383381" y="82153"/>
                  </a:lnTo>
                  <a:lnTo>
                    <a:pt x="383381" y="188488"/>
                  </a:lnTo>
                  <a:cubicBezTo>
                    <a:pt x="383381" y="259239"/>
                    <a:pt x="349214" y="325633"/>
                    <a:pt x="291641" y="366756"/>
                  </a:cubicBezTo>
                  <a:lnTo>
                    <a:pt x="191691" y="438150"/>
                  </a:lnTo>
                  <a:close/>
                  <a:moveTo>
                    <a:pt x="306899" y="156286"/>
                  </a:moveTo>
                  <a:lnTo>
                    <a:pt x="268172" y="117558"/>
                  </a:lnTo>
                  <a:lnTo>
                    <a:pt x="164306" y="221424"/>
                  </a:lnTo>
                  <a:lnTo>
                    <a:pt x="115209" y="172327"/>
                  </a:lnTo>
                  <a:lnTo>
                    <a:pt x="76482" y="211054"/>
                  </a:lnTo>
                  <a:lnTo>
                    <a:pt x="164306" y="298879"/>
                  </a:lnTo>
                  <a:lnTo>
                    <a:pt x="306899" y="156286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70470" y="2405062"/>
              <a:ext cx="6589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安全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73518" y="2927032"/>
              <a:ext cx="1326452" cy="12942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权限映射约束输入安全网邮件白名单HITL 人工确认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75042" y="4883468"/>
              <a:ext cx="11274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NFR-04 PASS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620250" y="1524000"/>
            <a:ext cx="2038350" cy="3981450"/>
            <a:chOff x="9620250" y="1524000"/>
            <a:chExt cx="2038350" cy="3981450"/>
          </a:xfrm>
        </p:grpSpPr>
        <p:sp>
          <p:nvSpPr>
            <p:cNvPr id="42" name="Rectangle 42"/>
            <p:cNvSpPr/>
            <p:nvPr/>
          </p:nvSpPr>
          <p:spPr>
            <a:xfrm>
              <a:off x="9620250" y="1524000"/>
              <a:ext cx="2038350" cy="3981450"/>
            </a:xfrm>
            <a:prstGeom prst="roundRect">
              <a:avLst>
                <a:gd name="adj" fmla="val 2804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620250" y="1524000"/>
              <a:ext cx="2038350" cy="114300"/>
            </a:xfrm>
            <a:prstGeom prst="rect">
              <a:avLst/>
            </a:prstGeom>
            <a:solidFill>
              <a:srgbClr val="7DD3F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9848850" y="1875234"/>
              <a:ext cx="438150" cy="383382"/>
              <a:chOff x="9848850" y="1875234"/>
              <a:chExt cx="438150" cy="38338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9931003" y="1875234"/>
                <a:ext cx="136922" cy="136922"/>
              </a:xfrm>
              <a:custGeom>
                <a:avLst/>
                <a:gdLst/>
                <a:ahLst/>
                <a:cxnLst/>
                <a:rect l="l" t="t" r="r" b="b"/>
                <a:pathLst>
                  <a:path w="136922" h="136922">
                    <a:moveTo>
                      <a:pt x="136922" y="68461"/>
                    </a:moveTo>
                    <a:cubicBezTo>
                      <a:pt x="136922" y="106271"/>
                      <a:pt x="106271" y="136922"/>
                      <a:pt x="68461" y="136922"/>
                    </a:cubicBezTo>
                    <a:cubicBezTo>
                      <a:pt x="30651" y="136922"/>
                      <a:pt x="0" y="106271"/>
                      <a:pt x="0" y="68461"/>
                    </a:cubicBezTo>
                    <a:cubicBezTo>
                      <a:pt x="0" y="30651"/>
                      <a:pt x="30651" y="0"/>
                      <a:pt x="68461" y="0"/>
                    </a:cubicBezTo>
                    <a:cubicBezTo>
                      <a:pt x="106271" y="0"/>
                      <a:pt x="136922" y="30651"/>
                      <a:pt x="136922" y="68461"/>
                    </a:cubicBez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9848850" y="2066925"/>
                <a:ext cx="219075" cy="191691"/>
              </a:xfrm>
              <a:custGeom>
                <a:avLst/>
                <a:gdLst/>
                <a:ahLst/>
                <a:cxnLst/>
                <a:rect l="l" t="t" r="r" b="b"/>
                <a:pathLst>
                  <a:path w="219075" h="191691">
                    <a:moveTo>
                      <a:pt x="82153" y="0"/>
                    </a:moveTo>
                    <a:cubicBezTo>
                      <a:pt x="36781" y="0"/>
                      <a:pt x="0" y="36781"/>
                      <a:pt x="0" y="82153"/>
                    </a:cubicBezTo>
                    <a:lnTo>
                      <a:pt x="0" y="191691"/>
                    </a:lnTo>
                    <a:lnTo>
                      <a:pt x="219075" y="191691"/>
                    </a:lnTo>
                    <a:lnTo>
                      <a:pt x="219075" y="0"/>
                    </a:lnTo>
                    <a:lnTo>
                      <a:pt x="82153" y="0"/>
                    </a:ln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" name="Freeform 46"/>
              <p:cNvSpPr/>
              <p:nvPr/>
            </p:nvSpPr>
            <p:spPr>
              <a:xfrm>
                <a:off x="10122694" y="2066925"/>
                <a:ext cx="164306" cy="191691"/>
              </a:xfrm>
              <a:custGeom>
                <a:avLst/>
                <a:gdLst/>
                <a:ahLst/>
                <a:cxnLst/>
                <a:rect l="l" t="t" r="r" b="b"/>
                <a:pathLst>
                  <a:path w="164306" h="191691">
                    <a:moveTo>
                      <a:pt x="82153" y="0"/>
                    </a:moveTo>
                    <a:lnTo>
                      <a:pt x="0" y="0"/>
                    </a:lnTo>
                    <a:lnTo>
                      <a:pt x="0" y="191691"/>
                    </a:lnTo>
                    <a:lnTo>
                      <a:pt x="164306" y="191691"/>
                    </a:lnTo>
                    <a:lnTo>
                      <a:pt x="164306" y="82153"/>
                    </a:lnTo>
                    <a:cubicBezTo>
                      <a:pt x="164306" y="36781"/>
                      <a:pt x="127526" y="0"/>
                      <a:pt x="82153" y="0"/>
                    </a:cubicBez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" name="Freeform 47"/>
              <p:cNvSpPr/>
              <p:nvPr/>
            </p:nvSpPr>
            <p:spPr>
              <a:xfrm>
                <a:off x="10122694" y="1902619"/>
                <a:ext cx="109538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109538" h="109538">
                    <a:moveTo>
                      <a:pt x="54769" y="109538"/>
                    </a:moveTo>
                    <a:cubicBezTo>
                      <a:pt x="85018" y="109538"/>
                      <a:pt x="109538" y="85017"/>
                      <a:pt x="109538" y="54769"/>
                    </a:cubicBezTo>
                    <a:cubicBezTo>
                      <a:pt x="109538" y="24521"/>
                      <a:pt x="85018" y="0"/>
                      <a:pt x="54769" y="0"/>
                    </a:cubicBezTo>
                    <a:cubicBezTo>
                      <a:pt x="24520" y="0"/>
                      <a:pt x="0" y="24521"/>
                      <a:pt x="0" y="54769"/>
                    </a:cubicBezTo>
                    <a:cubicBezTo>
                      <a:pt x="0" y="85017"/>
                      <a:pt x="24520" y="109538"/>
                      <a:pt x="54769" y="109538"/>
                    </a:cubicBez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9" name="TextBox 49"/>
            <p:cNvSpPr txBox="1"/>
            <p:nvPr/>
          </p:nvSpPr>
          <p:spPr>
            <a:xfrm>
              <a:off x="9837420" y="2405062"/>
              <a:ext cx="129501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用户体验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840468" y="2927032"/>
              <a:ext cx="1556956" cy="12942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SSE 流式回复全局 Agent 入口结构化卡片反馈与历史摘要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841992" y="4883468"/>
              <a:ext cx="11274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NFR-05 PASS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95934" y="5791200"/>
            <a:ext cx="10200132" cy="530543"/>
            <a:chOff x="995934" y="5791200"/>
            <a:chExt cx="10200132" cy="530543"/>
          </a:xfrm>
        </p:grpSpPr>
        <p:sp>
          <p:nvSpPr>
            <p:cNvPr id="53" name="Rectangle 53"/>
            <p:cNvSpPr/>
            <p:nvPr/>
          </p:nvSpPr>
          <p:spPr>
            <a:xfrm>
              <a:off x="1485900" y="5791200"/>
              <a:ext cx="9220200" cy="514350"/>
            </a:xfrm>
            <a:prstGeom prst="roundRect">
              <a:avLst>
                <a:gd name="adj" fmla="val 11111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95934" y="5881688"/>
              <a:ext cx="1020013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非功能验收的意义：证明系统可以长期运行、持续扩展、被治理和被回归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527304" y="6309360"/>
            <a:ext cx="52053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F8EA3"/>
                </a:solidFill>
                <a:latin typeface="Arial"/>
                <a:ea typeface="Microsoft YaHei"/>
                <a:cs typeface="Arial"/>
              </a:rPr>
              <a:t>P10 · vertical pillars adaptation · Source: Agent 系统验收说明文档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7" grpId="0"/>
      <p:bldP spid="34" grpId="0"/>
      <p:bldP spid="41" grpId="0"/>
      <p:bldP spid="52" grpId="0"/>
      <p:bldP spid="5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5070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Freeform 3"/>
            <p:cNvSpPr/>
            <p:nvPr/>
          </p:nvSpPr>
          <p:spPr>
            <a:xfrm>
              <a:off x="609600" y="1371600"/>
              <a:ext cx="10972800" cy="4572000"/>
            </a:xfrm>
            <a:custGeom>
              <a:avLst/>
              <a:gdLst/>
              <a:ahLst/>
              <a:cxnLst/>
              <a:rect l="l" t="t" r="r" b="b"/>
              <a:pathLst>
                <a:path w="10972800" h="4572000">
                  <a:moveTo>
                    <a:pt x="0" y="0"/>
                  </a:moveTo>
                  <a:lnTo>
                    <a:pt x="10972800" y="0"/>
                  </a:lnTo>
                  <a:moveTo>
                    <a:pt x="0" y="1143000"/>
                  </a:moveTo>
                  <a:lnTo>
                    <a:pt x="10972800" y="1143000"/>
                  </a:lnTo>
                  <a:moveTo>
                    <a:pt x="0" y="2286000"/>
                  </a:moveTo>
                  <a:lnTo>
                    <a:pt x="10972800" y="2286000"/>
                  </a:lnTo>
                  <a:moveTo>
                    <a:pt x="0" y="3429000"/>
                  </a:moveTo>
                  <a:lnTo>
                    <a:pt x="10972800" y="3429000"/>
                  </a:lnTo>
                  <a:moveTo>
                    <a:pt x="0" y="4572000"/>
                  </a:moveTo>
                  <a:lnTo>
                    <a:pt x="10972800" y="4572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1C2A3D"/>
              </a:solidFill>
              <a:prstDash val="lg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1524000" y="419100"/>
              <a:ext cx="9144000" cy="6019800"/>
            </a:xfrm>
            <a:custGeom>
              <a:avLst/>
              <a:gdLst/>
              <a:ahLst/>
              <a:cxnLst/>
              <a:rect l="l" t="t" r="r" b="b"/>
              <a:pathLst>
                <a:path w="9144000" h="6019800">
                  <a:moveTo>
                    <a:pt x="0" y="0"/>
                  </a:moveTo>
                  <a:lnTo>
                    <a:pt x="0" y="6019800"/>
                  </a:lnTo>
                  <a:moveTo>
                    <a:pt x="1524000" y="0"/>
                  </a:moveTo>
                  <a:lnTo>
                    <a:pt x="1524000" y="6019800"/>
                  </a:lnTo>
                  <a:moveTo>
                    <a:pt x="3048000" y="0"/>
                  </a:moveTo>
                  <a:lnTo>
                    <a:pt x="3048000" y="6019800"/>
                  </a:lnTo>
                  <a:moveTo>
                    <a:pt x="4572000" y="0"/>
                  </a:moveTo>
                  <a:lnTo>
                    <a:pt x="4572000" y="6019800"/>
                  </a:lnTo>
                  <a:moveTo>
                    <a:pt x="6096000" y="0"/>
                  </a:moveTo>
                  <a:lnTo>
                    <a:pt x="6096000" y="6019800"/>
                  </a:lnTo>
                  <a:moveTo>
                    <a:pt x="7620000" y="0"/>
                  </a:moveTo>
                  <a:lnTo>
                    <a:pt x="7620000" y="6019800"/>
                  </a:lnTo>
                  <a:moveTo>
                    <a:pt x="9144000" y="0"/>
                  </a:moveTo>
                  <a:lnTo>
                    <a:pt x="9144000" y="60198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1C2A3D">
                  <a:alpha val="42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14350" y="264795"/>
            <a:ext cx="11614747" cy="946594"/>
            <a:chOff x="514350" y="264795"/>
            <a:chExt cx="11614747" cy="946594"/>
          </a:xfrm>
        </p:grpSpPr>
        <p:sp>
          <p:nvSpPr>
            <p:cNvPr id="6" name="TextBox 6"/>
            <p:cNvSpPr txBox="1"/>
            <p:nvPr/>
          </p:nvSpPr>
          <p:spPr>
            <a:xfrm>
              <a:off x="514350" y="264795"/>
              <a:ext cx="11614747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可运营来自任务、反馈、监控和健康状态的闭环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4068" y="888682"/>
              <a:ext cx="95414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系统好不好用不靠主观判断，由 AgentTask、AgentFeedback、Provider 与 MCP 健康状态支撑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895850" y="2343150"/>
            <a:ext cx="2400300" cy="2400300"/>
            <a:chOff x="4895850" y="2343150"/>
            <a:chExt cx="2400300" cy="2400300"/>
          </a:xfrm>
        </p:grpSpPr>
        <p:sp>
          <p:nvSpPr>
            <p:cNvPr id="9" name="Ellipse 9"/>
            <p:cNvSpPr/>
            <p:nvPr/>
          </p:nvSpPr>
          <p:spPr>
            <a:xfrm>
              <a:off x="4895850" y="2343150"/>
              <a:ext cx="2400300" cy="2400300"/>
            </a:xfrm>
            <a:prstGeom prst="ellipse">
              <a:avLst/>
            </a:prstGeom>
            <a:solidFill>
              <a:srgbClr val="111827"/>
            </a:solidFill>
            <a:ln w="19050">
              <a:solidFill>
                <a:srgbClr val="7DD3FC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Ellipse 10"/>
            <p:cNvSpPr/>
            <p:nvPr/>
          </p:nvSpPr>
          <p:spPr>
            <a:xfrm>
              <a:off x="5219700" y="2667000"/>
              <a:ext cx="1752600" cy="1752600"/>
            </a:xfrm>
            <a:prstGeom prst="ellipse">
              <a:avLst/>
            </a:prstGeom>
            <a:solidFill>
              <a:srgbClr val="111827"/>
            </a:solidFill>
            <a:ln w="9525">
              <a:solidFill>
                <a:srgbClr val="2A3A52"/>
              </a:solidFill>
              <a:prstDash val="lgDash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5795962" y="2862262"/>
              <a:ext cx="600075" cy="600075"/>
              <a:chOff x="5795962" y="2862262"/>
              <a:chExt cx="600075" cy="60007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5795962" y="2862262"/>
                <a:ext cx="600075" cy="600075"/>
              </a:xfrm>
              <a:custGeom>
                <a:avLst/>
                <a:gdLst/>
                <a:ahLst/>
                <a:cxnLst/>
                <a:rect l="l" t="t" r="r" b="b"/>
                <a:pathLst>
                  <a:path w="600075" h="600075">
                    <a:moveTo>
                      <a:pt x="0" y="0"/>
                    </a:moveTo>
                    <a:lnTo>
                      <a:pt x="0" y="600075"/>
                    </a:lnTo>
                    <a:lnTo>
                      <a:pt x="600075" y="600075"/>
                    </a:lnTo>
                    <a:lnTo>
                      <a:pt x="600075" y="514350"/>
                    </a:lnTo>
                    <a:lnTo>
                      <a:pt x="85725" y="514350"/>
                    </a:lnTo>
                    <a:lnTo>
                      <a:pt x="8572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Freeform 12"/>
              <p:cNvSpPr/>
              <p:nvPr/>
            </p:nvSpPr>
            <p:spPr>
              <a:xfrm>
                <a:off x="5967412" y="2947988"/>
                <a:ext cx="428625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342900">
                    <a:moveTo>
                      <a:pt x="0" y="171450"/>
                    </a:moveTo>
                    <a:lnTo>
                      <a:pt x="85725" y="85725"/>
                    </a:lnTo>
                    <a:lnTo>
                      <a:pt x="214312" y="214312"/>
                    </a:lnTo>
                    <a:lnTo>
                      <a:pt x="428625" y="0"/>
                    </a:lnTo>
                    <a:lnTo>
                      <a:pt x="428625" y="342900"/>
                    </a:lnTo>
                    <a:lnTo>
                      <a:pt x="0" y="34290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4945178" y="3624425"/>
              <a:ext cx="2341447" cy="39241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Agent 运营面板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284956" y="4121468"/>
              <a:ext cx="16220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dashboard + tasks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647950" y="1657350"/>
            <a:ext cx="6896100" cy="3924300"/>
            <a:chOff x="2647950" y="1657350"/>
            <a:chExt cx="6896100" cy="3924300"/>
          </a:xfrm>
        </p:grpSpPr>
        <p:sp>
          <p:nvSpPr>
            <p:cNvPr id="17" name="Line 17"/>
            <p:cNvSpPr/>
            <p:nvPr/>
          </p:nvSpPr>
          <p:spPr>
            <a:xfrm>
              <a:off x="2857500" y="2038350"/>
              <a:ext cx="2238375" cy="819150"/>
            </a:xfrm>
            <a:custGeom>
              <a:avLst/>
              <a:gdLst/>
              <a:ahLst/>
              <a:cxnLst/>
              <a:rect l="l" t="t" r="r" b="b"/>
              <a:pathLst>
                <a:path w="2238375" h="819150">
                  <a:moveTo>
                    <a:pt x="2238375" y="8191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8"/>
            <p:cNvSpPr/>
            <p:nvPr/>
          </p:nvSpPr>
          <p:spPr>
            <a:xfrm>
              <a:off x="6096000" y="165735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6858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9"/>
            <p:cNvSpPr/>
            <p:nvPr/>
          </p:nvSpPr>
          <p:spPr>
            <a:xfrm>
              <a:off x="7096125" y="2038350"/>
              <a:ext cx="2238375" cy="819150"/>
            </a:xfrm>
            <a:custGeom>
              <a:avLst/>
              <a:gdLst/>
              <a:ahLst/>
              <a:cxnLst/>
              <a:rect l="l" t="t" r="r" b="b"/>
              <a:pathLst>
                <a:path w="2238375" h="819150">
                  <a:moveTo>
                    <a:pt x="0" y="819150"/>
                  </a:moveTo>
                  <a:lnTo>
                    <a:pt x="2238375" y="0"/>
                  </a:lnTo>
                </a:path>
              </a:pathLst>
            </a:custGeom>
            <a:noFill/>
            <a:ln w="19050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0"/>
            <p:cNvSpPr/>
            <p:nvPr/>
          </p:nvSpPr>
          <p:spPr>
            <a:xfrm>
              <a:off x="2647950" y="3714750"/>
              <a:ext cx="2247900" cy="266700"/>
            </a:xfrm>
            <a:custGeom>
              <a:avLst/>
              <a:gdLst/>
              <a:ahLst/>
              <a:cxnLst/>
              <a:rect l="l" t="t" r="r" b="b"/>
              <a:pathLst>
                <a:path w="2247900" h="266700">
                  <a:moveTo>
                    <a:pt x="2247900" y="0"/>
                  </a:moveTo>
                  <a:lnTo>
                    <a:pt x="0" y="266700"/>
                  </a:lnTo>
                </a:path>
              </a:pathLst>
            </a:custGeom>
            <a:noFill/>
            <a:ln w="19050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1"/>
            <p:cNvSpPr/>
            <p:nvPr/>
          </p:nvSpPr>
          <p:spPr>
            <a:xfrm>
              <a:off x="7296150" y="3714750"/>
              <a:ext cx="2247900" cy="266700"/>
            </a:xfrm>
            <a:custGeom>
              <a:avLst/>
              <a:gdLst/>
              <a:ahLst/>
              <a:cxnLst/>
              <a:rect l="l" t="t" r="r" b="b"/>
              <a:pathLst>
                <a:path w="2247900" h="266700">
                  <a:moveTo>
                    <a:pt x="0" y="0"/>
                  </a:moveTo>
                  <a:lnTo>
                    <a:pt x="2247900" y="266700"/>
                  </a:lnTo>
                </a:path>
              </a:pathLst>
            </a:custGeom>
            <a:noFill/>
            <a:ln w="19050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2"/>
            <p:cNvSpPr/>
            <p:nvPr/>
          </p:nvSpPr>
          <p:spPr>
            <a:xfrm>
              <a:off x="6096000" y="474345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19050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90600" y="1504950"/>
            <a:ext cx="2381250" cy="1066800"/>
            <a:chOff x="990600" y="1504950"/>
            <a:chExt cx="2381250" cy="1066800"/>
          </a:xfrm>
        </p:grpSpPr>
        <p:sp>
          <p:nvSpPr>
            <p:cNvPr id="24" name="Rectangle 24"/>
            <p:cNvSpPr/>
            <p:nvPr/>
          </p:nvSpPr>
          <p:spPr>
            <a:xfrm>
              <a:off x="990600" y="1504950"/>
              <a:ext cx="2381250" cy="1066800"/>
            </a:xfrm>
            <a:prstGeom prst="roundRect">
              <a:avLst>
                <a:gd name="adj" fmla="val 5357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1243012" y="1771650"/>
              <a:ext cx="257175" cy="342900"/>
              <a:chOff x="1243012" y="1771650"/>
              <a:chExt cx="257175" cy="3429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1243012" y="1908810"/>
                <a:ext cx="257175" cy="98584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98584">
                    <a:moveTo>
                      <a:pt x="238682" y="10934"/>
                    </a:moveTo>
                    <a:cubicBezTo>
                      <a:pt x="244711" y="7919"/>
                      <a:pt x="251009" y="4282"/>
                      <a:pt x="257175" y="0"/>
                    </a:cubicBezTo>
                    <a:lnTo>
                      <a:pt x="257175" y="34290"/>
                    </a:lnTo>
                    <a:cubicBezTo>
                      <a:pt x="257175" y="69798"/>
                      <a:pt x="199604" y="98584"/>
                      <a:pt x="128588" y="98584"/>
                    </a:cubicBezTo>
                    <a:cubicBezTo>
                      <a:pt x="57571" y="98584"/>
                      <a:pt x="0" y="69798"/>
                      <a:pt x="0" y="34290"/>
                    </a:cubicBezTo>
                    <a:lnTo>
                      <a:pt x="0" y="0"/>
                    </a:lnTo>
                    <a:cubicBezTo>
                      <a:pt x="6166" y="4282"/>
                      <a:pt x="12464" y="7919"/>
                      <a:pt x="18494" y="10934"/>
                    </a:cubicBezTo>
                    <a:cubicBezTo>
                      <a:pt x="48884" y="26129"/>
                      <a:pt x="87868" y="34290"/>
                      <a:pt x="128588" y="34290"/>
                    </a:cubicBezTo>
                    <a:cubicBezTo>
                      <a:pt x="169307" y="34290"/>
                      <a:pt x="208290" y="26129"/>
                      <a:pt x="238682" y="10934"/>
                    </a:cubicBez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Freeform 26"/>
              <p:cNvSpPr/>
              <p:nvPr/>
            </p:nvSpPr>
            <p:spPr>
              <a:xfrm>
                <a:off x="1243012" y="2015966"/>
                <a:ext cx="257175" cy="98584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98584">
                    <a:moveTo>
                      <a:pt x="0" y="0"/>
                    </a:moveTo>
                    <a:lnTo>
                      <a:pt x="0" y="34290"/>
                    </a:lnTo>
                    <a:cubicBezTo>
                      <a:pt x="0" y="69799"/>
                      <a:pt x="57571" y="98584"/>
                      <a:pt x="128588" y="98584"/>
                    </a:cubicBezTo>
                    <a:cubicBezTo>
                      <a:pt x="199604" y="98584"/>
                      <a:pt x="257175" y="69799"/>
                      <a:pt x="257175" y="34290"/>
                    </a:cubicBezTo>
                    <a:lnTo>
                      <a:pt x="257175" y="0"/>
                    </a:lnTo>
                    <a:cubicBezTo>
                      <a:pt x="251009" y="4282"/>
                      <a:pt x="244711" y="7919"/>
                      <a:pt x="238682" y="10934"/>
                    </a:cubicBezTo>
                    <a:cubicBezTo>
                      <a:pt x="208290" y="26129"/>
                      <a:pt x="169307" y="34290"/>
                      <a:pt x="128588" y="34290"/>
                    </a:cubicBezTo>
                    <a:cubicBezTo>
                      <a:pt x="87868" y="34290"/>
                      <a:pt x="48884" y="26129"/>
                      <a:pt x="18494" y="10934"/>
                    </a:cubicBezTo>
                    <a:cubicBezTo>
                      <a:pt x="12464" y="7919"/>
                      <a:pt x="6166" y="4282"/>
                      <a:pt x="0" y="0"/>
                    </a:cubicBez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Freeform 27"/>
              <p:cNvSpPr/>
              <p:nvPr/>
            </p:nvSpPr>
            <p:spPr>
              <a:xfrm>
                <a:off x="1243012" y="1771650"/>
                <a:ext cx="257175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28588">
                    <a:moveTo>
                      <a:pt x="128588" y="0"/>
                    </a:moveTo>
                    <a:cubicBezTo>
                      <a:pt x="199604" y="0"/>
                      <a:pt x="257175" y="28785"/>
                      <a:pt x="257175" y="64294"/>
                    </a:cubicBezTo>
                    <a:cubicBezTo>
                      <a:pt x="257175" y="99802"/>
                      <a:pt x="199604" y="128588"/>
                      <a:pt x="128588" y="128588"/>
                    </a:cubicBezTo>
                    <a:cubicBezTo>
                      <a:pt x="57571" y="128588"/>
                      <a:pt x="0" y="99802"/>
                      <a:pt x="0" y="64294"/>
                    </a:cubicBezTo>
                    <a:cubicBezTo>
                      <a:pt x="0" y="28785"/>
                      <a:pt x="57571" y="0"/>
                      <a:pt x="128588" y="0"/>
                    </a:cubicBez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1665732" y="17735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任务记录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93292" y="2216468"/>
              <a:ext cx="18723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6C2D2"/>
                  </a:solidFill>
                  <a:latin typeface="Consolas"/>
                  <a:ea typeface="Microsoft YaHei"/>
                  <a:cs typeface="Consolas"/>
                </a:rPr>
                <a:t>AgentTask / 最近任务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905375" y="1219200"/>
            <a:ext cx="2381250" cy="1066800"/>
            <a:chOff x="4905375" y="1219200"/>
            <a:chExt cx="2381250" cy="1066800"/>
          </a:xfrm>
        </p:grpSpPr>
        <p:sp>
          <p:nvSpPr>
            <p:cNvPr id="32" name="Rectangle 32"/>
            <p:cNvSpPr/>
            <p:nvPr/>
          </p:nvSpPr>
          <p:spPr>
            <a:xfrm>
              <a:off x="4905375" y="1219200"/>
              <a:ext cx="2381250" cy="1066800"/>
            </a:xfrm>
            <a:prstGeom prst="roundRect">
              <a:avLst>
                <a:gd name="adj" fmla="val 5357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5114925" y="1507331"/>
              <a:ext cx="342901" cy="300038"/>
              <a:chOff x="5114925" y="1507331"/>
              <a:chExt cx="342901" cy="300038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5179219" y="1507331"/>
                <a:ext cx="107156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107156">
                    <a:moveTo>
                      <a:pt x="107156" y="53578"/>
                    </a:moveTo>
                    <a:cubicBezTo>
                      <a:pt x="107156" y="83168"/>
                      <a:pt x="83168" y="107156"/>
                      <a:pt x="53578" y="107156"/>
                    </a:cubicBezTo>
                    <a:cubicBezTo>
                      <a:pt x="23988" y="107156"/>
                      <a:pt x="0" y="83168"/>
                      <a:pt x="0" y="53578"/>
                    </a:cubicBezTo>
                    <a:cubicBezTo>
                      <a:pt x="0" y="23988"/>
                      <a:pt x="23988" y="0"/>
                      <a:pt x="53578" y="0"/>
                    </a:cubicBezTo>
                    <a:cubicBezTo>
                      <a:pt x="83168" y="0"/>
                      <a:pt x="107156" y="23988"/>
                      <a:pt x="107156" y="53578"/>
                    </a:cubicBez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5114925" y="1657350"/>
                <a:ext cx="171450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50019">
                    <a:moveTo>
                      <a:pt x="64294" y="0"/>
                    </a:moveTo>
                    <a:cubicBezTo>
                      <a:pt x="28785" y="0"/>
                      <a:pt x="0" y="28785"/>
                      <a:pt x="0" y="64294"/>
                    </a:cubicBezTo>
                    <a:lnTo>
                      <a:pt x="0" y="150019"/>
                    </a:lnTo>
                    <a:lnTo>
                      <a:pt x="171450" y="150019"/>
                    </a:lnTo>
                    <a:lnTo>
                      <a:pt x="171450" y="0"/>
                    </a:lnTo>
                    <a:lnTo>
                      <a:pt x="64294" y="0"/>
                    </a:ln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Freeform 35"/>
              <p:cNvSpPr/>
              <p:nvPr/>
            </p:nvSpPr>
            <p:spPr>
              <a:xfrm>
                <a:off x="5329238" y="1657350"/>
                <a:ext cx="128588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50019">
                    <a:moveTo>
                      <a:pt x="64294" y="0"/>
                    </a:moveTo>
                    <a:lnTo>
                      <a:pt x="0" y="0"/>
                    </a:lnTo>
                    <a:lnTo>
                      <a:pt x="0" y="150019"/>
                    </a:lnTo>
                    <a:lnTo>
                      <a:pt x="128588" y="150019"/>
                    </a:lnTo>
                    <a:lnTo>
                      <a:pt x="128588" y="64294"/>
                    </a:lnTo>
                    <a:cubicBezTo>
                      <a:pt x="128588" y="28785"/>
                      <a:pt x="99803" y="0"/>
                      <a:pt x="64294" y="0"/>
                    </a:cubicBez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Freeform 36"/>
              <p:cNvSpPr/>
              <p:nvPr/>
            </p:nvSpPr>
            <p:spPr>
              <a:xfrm>
                <a:off x="5329238" y="1528762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42862" y="85725"/>
                    </a:moveTo>
                    <a:cubicBezTo>
                      <a:pt x="66535" y="85725"/>
                      <a:pt x="85725" y="66535"/>
                      <a:pt x="85725" y="42862"/>
                    </a:cubicBezTo>
                    <a:cubicBezTo>
                      <a:pt x="85725" y="19190"/>
                      <a:pt x="66535" y="0"/>
                      <a:pt x="42862" y="0"/>
                    </a:cubicBezTo>
                    <a:cubicBezTo>
                      <a:pt x="19190" y="0"/>
                      <a:pt x="0" y="19190"/>
                      <a:pt x="0" y="42862"/>
                    </a:cubicBezTo>
                    <a:cubicBezTo>
                      <a:pt x="0" y="66535"/>
                      <a:pt x="19190" y="85725"/>
                      <a:pt x="42862" y="85725"/>
                    </a:cubicBez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5580507" y="14878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用户反馈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984128" y="1930718"/>
              <a:ext cx="22685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6C2D2"/>
                  </a:solidFill>
                  <a:latin typeface="Consolas"/>
                  <a:ea typeface="Microsoft YaHei"/>
                  <a:cs typeface="Consolas"/>
                </a:rPr>
                <a:t>AgentFeedback / 原因聚合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820150" y="1504950"/>
            <a:ext cx="2381250" cy="1066800"/>
            <a:chOff x="8820150" y="1504950"/>
            <a:chExt cx="2381250" cy="1066800"/>
          </a:xfrm>
        </p:grpSpPr>
        <p:sp>
          <p:nvSpPr>
            <p:cNvPr id="41" name="Rectangle 41"/>
            <p:cNvSpPr/>
            <p:nvPr/>
          </p:nvSpPr>
          <p:spPr>
            <a:xfrm>
              <a:off x="8820150" y="1504950"/>
              <a:ext cx="2381250" cy="1066800"/>
            </a:xfrm>
            <a:prstGeom prst="roundRect">
              <a:avLst>
                <a:gd name="adj" fmla="val 5357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9051131" y="1793081"/>
              <a:ext cx="300038" cy="300038"/>
              <a:chOff x="9051131" y="1793081"/>
              <a:chExt cx="300038" cy="300038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9051131" y="1793081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85725" y="42862"/>
                    </a:moveTo>
                    <a:cubicBezTo>
                      <a:pt x="85725" y="66535"/>
                      <a:pt x="66535" y="85725"/>
                      <a:pt x="42862" y="85725"/>
                    </a:cubicBezTo>
                    <a:cubicBezTo>
                      <a:pt x="19190" y="85725"/>
                      <a:pt x="0" y="66535"/>
                      <a:pt x="0" y="42862"/>
                    </a:cubicBezTo>
                    <a:cubicBezTo>
                      <a:pt x="0" y="19190"/>
                      <a:pt x="19190" y="0"/>
                      <a:pt x="42862" y="0"/>
                    </a:cubicBezTo>
                    <a:cubicBezTo>
                      <a:pt x="66535" y="0"/>
                      <a:pt x="85725" y="19190"/>
                      <a:pt x="85725" y="42862"/>
                    </a:cubicBez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Freeform 43"/>
              <p:cNvSpPr/>
              <p:nvPr/>
            </p:nvSpPr>
            <p:spPr>
              <a:xfrm>
                <a:off x="9265444" y="2007394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85725" y="42862"/>
                    </a:moveTo>
                    <a:cubicBezTo>
                      <a:pt x="85725" y="66535"/>
                      <a:pt x="66535" y="85725"/>
                      <a:pt x="42862" y="85725"/>
                    </a:cubicBezTo>
                    <a:cubicBezTo>
                      <a:pt x="19190" y="85725"/>
                      <a:pt x="0" y="66535"/>
                      <a:pt x="0" y="42862"/>
                    </a:cubicBezTo>
                    <a:cubicBezTo>
                      <a:pt x="0" y="19190"/>
                      <a:pt x="19190" y="0"/>
                      <a:pt x="42862" y="0"/>
                    </a:cubicBezTo>
                    <a:cubicBezTo>
                      <a:pt x="66535" y="0"/>
                      <a:pt x="85725" y="19190"/>
                      <a:pt x="85725" y="42862"/>
                    </a:cubicBez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Freeform 44"/>
              <p:cNvSpPr/>
              <p:nvPr/>
            </p:nvSpPr>
            <p:spPr>
              <a:xfrm>
                <a:off x="9072562" y="1793081"/>
                <a:ext cx="257175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300038">
                    <a:moveTo>
                      <a:pt x="150019" y="75009"/>
                    </a:moveTo>
                    <a:cubicBezTo>
                      <a:pt x="150019" y="57255"/>
                      <a:pt x="164411" y="42862"/>
                      <a:pt x="182166" y="42862"/>
                    </a:cubicBezTo>
                    <a:cubicBezTo>
                      <a:pt x="199919" y="42862"/>
                      <a:pt x="214312" y="57255"/>
                      <a:pt x="214312" y="75009"/>
                    </a:cubicBezTo>
                    <a:lnTo>
                      <a:pt x="214312" y="171450"/>
                    </a:lnTo>
                    <a:lnTo>
                      <a:pt x="257175" y="171450"/>
                    </a:lnTo>
                    <a:lnTo>
                      <a:pt x="257175" y="75009"/>
                    </a:lnTo>
                    <a:cubicBezTo>
                      <a:pt x="257175" y="33583"/>
                      <a:pt x="223592" y="0"/>
                      <a:pt x="182166" y="0"/>
                    </a:cubicBezTo>
                    <a:cubicBezTo>
                      <a:pt x="140739" y="0"/>
                      <a:pt x="107156" y="33583"/>
                      <a:pt x="107156" y="75009"/>
                    </a:cubicBezTo>
                    <a:lnTo>
                      <a:pt x="107156" y="225028"/>
                    </a:lnTo>
                    <a:cubicBezTo>
                      <a:pt x="107156" y="242782"/>
                      <a:pt x="92764" y="257175"/>
                      <a:pt x="75009" y="257175"/>
                    </a:cubicBezTo>
                    <a:cubicBezTo>
                      <a:pt x="57255" y="257175"/>
                      <a:pt x="42862" y="242782"/>
                      <a:pt x="42862" y="225028"/>
                    </a:cubicBezTo>
                    <a:lnTo>
                      <a:pt x="42862" y="128588"/>
                    </a:lnTo>
                    <a:lnTo>
                      <a:pt x="0" y="128588"/>
                    </a:lnTo>
                    <a:lnTo>
                      <a:pt x="0" y="225028"/>
                    </a:lnTo>
                    <a:cubicBezTo>
                      <a:pt x="0" y="266455"/>
                      <a:pt x="33583" y="300038"/>
                      <a:pt x="75009" y="300038"/>
                    </a:cubicBezTo>
                    <a:cubicBezTo>
                      <a:pt x="116436" y="300038"/>
                      <a:pt x="150019" y="266455"/>
                      <a:pt x="150019" y="225028"/>
                    </a:cubicBezTo>
                    <a:lnTo>
                      <a:pt x="150019" y="75009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6" name="TextBox 46"/>
            <p:cNvSpPr txBox="1"/>
            <p:nvPr/>
          </p:nvSpPr>
          <p:spPr>
            <a:xfrm>
              <a:off x="9495282" y="177355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意图与工具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022842" y="2216468"/>
              <a:ext cx="18765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B6C2D2"/>
                  </a:solidFill>
                  <a:latin typeface="Consolas"/>
                  <a:ea typeface="Consolas"/>
                  <a:cs typeface="Consolas"/>
                </a:rPr>
                <a:t>intent / tool metrics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059456" y="3676650"/>
            <a:ext cx="2555758" cy="1066800"/>
            <a:chOff x="1059456" y="3676650"/>
            <a:chExt cx="2555758" cy="1066800"/>
          </a:xfrm>
        </p:grpSpPr>
        <p:sp>
          <p:nvSpPr>
            <p:cNvPr id="49" name="Rectangle 49"/>
            <p:cNvSpPr/>
            <p:nvPr/>
          </p:nvSpPr>
          <p:spPr>
            <a:xfrm>
              <a:off x="1059456" y="3676650"/>
              <a:ext cx="2381250" cy="1066800"/>
            </a:xfrm>
            <a:prstGeom prst="roundRect">
              <a:avLst>
                <a:gd name="adj" fmla="val 5357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1200150" y="3986212"/>
              <a:ext cx="342900" cy="257175"/>
              <a:chOff x="1200150" y="3986212"/>
              <a:chExt cx="342900" cy="25717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1200150" y="3986212"/>
                <a:ext cx="342900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07156">
                    <a:moveTo>
                      <a:pt x="342900" y="0"/>
                    </a:moveTo>
                    <a:lnTo>
                      <a:pt x="0" y="0"/>
                    </a:lnTo>
                    <a:lnTo>
                      <a:pt x="0" y="107156"/>
                    </a:lnTo>
                    <a:lnTo>
                      <a:pt x="342900" y="107156"/>
                    </a:lnTo>
                    <a:lnTo>
                      <a:pt x="342900" y="0"/>
                    </a:lnTo>
                    <a:close/>
                    <a:moveTo>
                      <a:pt x="85725" y="53578"/>
                    </a:moveTo>
                    <a:cubicBezTo>
                      <a:pt x="85725" y="65414"/>
                      <a:pt x="76130" y="75009"/>
                      <a:pt x="64294" y="75009"/>
                    </a:cubicBezTo>
                    <a:cubicBezTo>
                      <a:pt x="52458" y="75009"/>
                      <a:pt x="42862" y="65414"/>
                      <a:pt x="42862" y="53578"/>
                    </a:cubicBezTo>
                    <a:cubicBezTo>
                      <a:pt x="42862" y="41742"/>
                      <a:pt x="52458" y="32147"/>
                      <a:pt x="64294" y="32147"/>
                    </a:cubicBezTo>
                    <a:cubicBezTo>
                      <a:pt x="76130" y="32147"/>
                      <a:pt x="85725" y="41742"/>
                      <a:pt x="85725" y="53578"/>
                    </a:cubicBez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Freeform 51"/>
              <p:cNvSpPr/>
              <p:nvPr/>
            </p:nvSpPr>
            <p:spPr>
              <a:xfrm>
                <a:off x="1200150" y="4136231"/>
                <a:ext cx="342900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07156">
                    <a:moveTo>
                      <a:pt x="342900" y="0"/>
                    </a:moveTo>
                    <a:lnTo>
                      <a:pt x="0" y="0"/>
                    </a:lnTo>
                    <a:lnTo>
                      <a:pt x="0" y="107156"/>
                    </a:lnTo>
                    <a:lnTo>
                      <a:pt x="342900" y="107156"/>
                    </a:lnTo>
                    <a:lnTo>
                      <a:pt x="342900" y="0"/>
                    </a:lnTo>
                    <a:close/>
                    <a:moveTo>
                      <a:pt x="64294" y="75009"/>
                    </a:moveTo>
                    <a:cubicBezTo>
                      <a:pt x="76130" y="75009"/>
                      <a:pt x="85725" y="65415"/>
                      <a:pt x="85725" y="53578"/>
                    </a:cubicBezTo>
                    <a:cubicBezTo>
                      <a:pt x="85725" y="41742"/>
                      <a:pt x="76130" y="32147"/>
                      <a:pt x="64294" y="32147"/>
                    </a:cubicBezTo>
                    <a:cubicBezTo>
                      <a:pt x="52458" y="32147"/>
                      <a:pt x="42862" y="41742"/>
                      <a:pt x="42862" y="53578"/>
                    </a:cubicBezTo>
                    <a:cubicBezTo>
                      <a:pt x="42862" y="65415"/>
                      <a:pt x="52458" y="75009"/>
                      <a:pt x="64294" y="75009"/>
                    </a:cubicBez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3" name="TextBox 53"/>
            <p:cNvSpPr txBox="1"/>
            <p:nvPr/>
          </p:nvSpPr>
          <p:spPr>
            <a:xfrm>
              <a:off x="1665732" y="3945255"/>
              <a:ext cx="19494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Provider 分布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93292" y="43881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6C2D2"/>
                  </a:solidFill>
                  <a:latin typeface="Consolas"/>
                  <a:ea typeface="Microsoft YaHei"/>
                  <a:cs typeface="Consolas"/>
                </a:rPr>
                <a:t>模型调用与路由状态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8820150" y="3676650"/>
            <a:ext cx="2381250" cy="1066800"/>
            <a:chOff x="8820150" y="3676650"/>
            <a:chExt cx="2381250" cy="1066800"/>
          </a:xfrm>
        </p:grpSpPr>
        <p:sp>
          <p:nvSpPr>
            <p:cNvPr id="56" name="Rectangle 56"/>
            <p:cNvSpPr/>
            <p:nvPr/>
          </p:nvSpPr>
          <p:spPr>
            <a:xfrm>
              <a:off x="8820150" y="3676650"/>
              <a:ext cx="2381250" cy="1066800"/>
            </a:xfrm>
            <a:prstGeom prst="roundRect">
              <a:avLst>
                <a:gd name="adj" fmla="val 5357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0" name="Group 60"/>
            <p:cNvGrpSpPr/>
            <p:nvPr/>
          </p:nvGrpSpPr>
          <p:grpSpPr>
            <a:xfrm>
              <a:off x="9029700" y="3964781"/>
              <a:ext cx="342900" cy="300038"/>
              <a:chOff x="9029700" y="3964781"/>
              <a:chExt cx="342900" cy="300038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9029700" y="3964781"/>
                <a:ext cx="85725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300038">
                    <a:moveTo>
                      <a:pt x="85725" y="21431"/>
                    </a:moveTo>
                    <a:lnTo>
                      <a:pt x="0" y="0"/>
                    </a:lnTo>
                    <a:lnTo>
                      <a:pt x="0" y="278606"/>
                    </a:lnTo>
                    <a:lnTo>
                      <a:pt x="85725" y="300038"/>
                    </a:lnTo>
                    <a:lnTo>
                      <a:pt x="85725" y="21431"/>
                    </a:ln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" name="Freeform 58"/>
              <p:cNvSpPr/>
              <p:nvPr/>
            </p:nvSpPr>
            <p:spPr>
              <a:xfrm>
                <a:off x="9286875" y="3964781"/>
                <a:ext cx="85725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300038">
                    <a:moveTo>
                      <a:pt x="85725" y="21431"/>
                    </a:moveTo>
                    <a:lnTo>
                      <a:pt x="0" y="0"/>
                    </a:lnTo>
                    <a:lnTo>
                      <a:pt x="0" y="278606"/>
                    </a:lnTo>
                    <a:lnTo>
                      <a:pt x="85725" y="300038"/>
                    </a:lnTo>
                    <a:lnTo>
                      <a:pt x="85725" y="21431"/>
                    </a:ln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Freeform 59"/>
              <p:cNvSpPr/>
              <p:nvPr/>
            </p:nvSpPr>
            <p:spPr>
              <a:xfrm>
                <a:off x="9158288" y="3964781"/>
                <a:ext cx="85725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300038">
                    <a:moveTo>
                      <a:pt x="85725" y="0"/>
                    </a:moveTo>
                    <a:lnTo>
                      <a:pt x="0" y="21431"/>
                    </a:lnTo>
                    <a:lnTo>
                      <a:pt x="0" y="300038"/>
                    </a:lnTo>
                    <a:lnTo>
                      <a:pt x="85725" y="278606"/>
                    </a:lnTo>
                    <a:lnTo>
                      <a:pt x="85725" y="0"/>
                    </a:ln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1" name="TextBox 61"/>
            <p:cNvSpPr txBox="1"/>
            <p:nvPr/>
          </p:nvSpPr>
          <p:spPr>
            <a:xfrm>
              <a:off x="9495282" y="3945255"/>
              <a:ext cx="132293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MCP 健康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022842" y="4388168"/>
              <a:ext cx="17249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B6C2D2"/>
                  </a:solidFill>
                  <a:latin typeface="Consolas"/>
                  <a:ea typeface="Consolas"/>
                  <a:cs typeface="Consolas"/>
                </a:rPr>
                <a:t>Tencent Map health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4667250" y="5448300"/>
            <a:ext cx="2980763" cy="855974"/>
            <a:chOff x="4667250" y="5448300"/>
            <a:chExt cx="2980763" cy="855974"/>
          </a:xfrm>
        </p:grpSpPr>
        <p:sp>
          <p:nvSpPr>
            <p:cNvPr id="64" name="Rectangle 64"/>
            <p:cNvSpPr/>
            <p:nvPr/>
          </p:nvSpPr>
          <p:spPr>
            <a:xfrm>
              <a:off x="4667250" y="5448300"/>
              <a:ext cx="2857500" cy="819150"/>
            </a:xfrm>
            <a:prstGeom prst="roundRect">
              <a:avLst>
                <a:gd name="adj" fmla="val 6977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7" name="Group 67"/>
            <p:cNvGrpSpPr/>
            <p:nvPr/>
          </p:nvGrpSpPr>
          <p:grpSpPr>
            <a:xfrm>
              <a:off x="4916091" y="5657850"/>
              <a:ext cx="283368" cy="323850"/>
              <a:chOff x="4916091" y="5657850"/>
              <a:chExt cx="283368" cy="32385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4997053" y="5657850"/>
                <a:ext cx="202406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02406" h="242888">
                    <a:moveTo>
                      <a:pt x="121444" y="0"/>
                    </a:moveTo>
                    <a:lnTo>
                      <a:pt x="0" y="0"/>
                    </a:lnTo>
                    <a:lnTo>
                      <a:pt x="0" y="242888"/>
                    </a:lnTo>
                    <a:lnTo>
                      <a:pt x="202406" y="242888"/>
                    </a:lnTo>
                    <a:lnTo>
                      <a:pt x="202406" y="80962"/>
                    </a:lnTo>
                    <a:lnTo>
                      <a:pt x="121444" y="0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" name="Freeform 66"/>
              <p:cNvSpPr/>
              <p:nvPr/>
            </p:nvSpPr>
            <p:spPr>
              <a:xfrm>
                <a:off x="4916091" y="5738812"/>
                <a:ext cx="202406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02406" h="242888">
                    <a:moveTo>
                      <a:pt x="0" y="0"/>
                    </a:moveTo>
                    <a:lnTo>
                      <a:pt x="0" y="242888"/>
                    </a:lnTo>
                    <a:lnTo>
                      <a:pt x="202406" y="242888"/>
                    </a:lnTo>
                    <a:lnTo>
                      <a:pt x="202406" y="202406"/>
                    </a:lnTo>
                    <a:lnTo>
                      <a:pt x="40481" y="202406"/>
                    </a:lnTo>
                    <a:lnTo>
                      <a:pt x="4048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8" name="TextBox 68"/>
            <p:cNvSpPr txBox="1"/>
            <p:nvPr/>
          </p:nvSpPr>
          <p:spPr>
            <a:xfrm>
              <a:off x="5342382" y="5659755"/>
              <a:ext cx="20991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任务详情可复盘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726505" y="6040241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从指标回到具体链路，形成定位闭环</a:t>
              </a: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527304" y="6309360"/>
            <a:ext cx="48290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F8EA3"/>
                </a:solidFill>
                <a:latin typeface="Arial"/>
                <a:ea typeface="Microsoft YaHei"/>
                <a:cs typeface="Arial"/>
              </a:rPr>
              <a:t>P11 · hub-spoke adaptation · Source: Agent 系统验收说明文档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3" grpId="0"/>
      <p:bldP spid="31" grpId="0"/>
      <p:bldP spid="40" grpId="0"/>
      <p:bldP spid="48" grpId="0"/>
      <p:bldP spid="55" grpId="0"/>
      <p:bldP spid="63" grpId="0"/>
      <p:bldP spid="7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5070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Freeform 3"/>
            <p:cNvSpPr/>
            <p:nvPr/>
          </p:nvSpPr>
          <p:spPr>
            <a:xfrm>
              <a:off x="552450" y="1447800"/>
              <a:ext cx="11087100" cy="4572000"/>
            </a:xfrm>
            <a:custGeom>
              <a:avLst/>
              <a:gdLst/>
              <a:ahLst/>
              <a:cxnLst/>
              <a:rect l="l" t="t" r="r" b="b"/>
              <a:pathLst>
                <a:path w="11087100" h="4572000">
                  <a:moveTo>
                    <a:pt x="0" y="0"/>
                  </a:moveTo>
                  <a:lnTo>
                    <a:pt x="11087100" y="0"/>
                  </a:lnTo>
                  <a:moveTo>
                    <a:pt x="0" y="1143000"/>
                  </a:moveTo>
                  <a:lnTo>
                    <a:pt x="11087100" y="1143000"/>
                  </a:lnTo>
                  <a:moveTo>
                    <a:pt x="0" y="2286000"/>
                  </a:moveTo>
                  <a:lnTo>
                    <a:pt x="11087100" y="2286000"/>
                  </a:lnTo>
                  <a:moveTo>
                    <a:pt x="0" y="3429000"/>
                  </a:moveTo>
                  <a:lnTo>
                    <a:pt x="11087100" y="3429000"/>
                  </a:lnTo>
                  <a:moveTo>
                    <a:pt x="0" y="4572000"/>
                  </a:moveTo>
                  <a:lnTo>
                    <a:pt x="11087100" y="4572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1C2A3D"/>
              </a:solidFill>
              <a:prstDash val="lg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4000500" y="1352550"/>
              <a:ext cx="4191000" cy="4572000"/>
            </a:xfrm>
            <a:custGeom>
              <a:avLst/>
              <a:gdLst/>
              <a:ahLst/>
              <a:cxnLst/>
              <a:rect l="l" t="t" r="r" b="b"/>
              <a:pathLst>
                <a:path w="4191000" h="4572000">
                  <a:moveTo>
                    <a:pt x="0" y="0"/>
                  </a:moveTo>
                  <a:lnTo>
                    <a:pt x="0" y="4572000"/>
                  </a:lnTo>
                  <a:moveTo>
                    <a:pt x="4191000" y="0"/>
                  </a:moveTo>
                  <a:lnTo>
                    <a:pt x="4191000" y="4572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2A3A52"/>
              </a:solidFill>
              <a:prstDash val="lgDash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14350" y="264795"/>
            <a:ext cx="13312863" cy="946594"/>
            <a:chOff x="514350" y="264795"/>
            <a:chExt cx="13312863" cy="946594"/>
          </a:xfrm>
        </p:grpSpPr>
        <p:sp>
          <p:nvSpPr>
            <p:cNvPr id="6" name="TextBox 6"/>
            <p:cNvSpPr txBox="1"/>
            <p:nvPr/>
          </p:nvSpPr>
          <p:spPr>
            <a:xfrm>
              <a:off x="514350" y="264795"/>
              <a:ext cx="13312863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Supervisor 最小闭环证明多 Agent 协作已经跨域跑通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4068" y="888682"/>
              <a:ext cx="75689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它没有追求大而全，而是通过路线规划加邮件通知完成一条可验收的跨域链路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90550" y="1866900"/>
            <a:ext cx="2571750" cy="2933700"/>
            <a:chOff x="590550" y="1866900"/>
            <a:chExt cx="2571750" cy="2933700"/>
          </a:xfrm>
        </p:grpSpPr>
        <p:sp>
          <p:nvSpPr>
            <p:cNvPr id="9" name="Rectangle 9"/>
            <p:cNvSpPr/>
            <p:nvPr/>
          </p:nvSpPr>
          <p:spPr>
            <a:xfrm>
              <a:off x="590550" y="1866900"/>
              <a:ext cx="2571750" cy="2933700"/>
            </a:xfrm>
            <a:prstGeom prst="roundRect">
              <a:avLst>
                <a:gd name="adj" fmla="val 2222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876300" y="2240756"/>
              <a:ext cx="495300" cy="433388"/>
              <a:chOff x="876300" y="2240756"/>
              <a:chExt cx="495300" cy="43338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969169" y="2240756"/>
                <a:ext cx="154781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154781" h="154781">
                    <a:moveTo>
                      <a:pt x="154781" y="77391"/>
                    </a:moveTo>
                    <a:cubicBezTo>
                      <a:pt x="154781" y="120132"/>
                      <a:pt x="120132" y="154781"/>
                      <a:pt x="77391" y="154781"/>
                    </a:cubicBezTo>
                    <a:cubicBezTo>
                      <a:pt x="34649" y="154781"/>
                      <a:pt x="0" y="120132"/>
                      <a:pt x="0" y="77391"/>
                    </a:cubicBezTo>
                    <a:cubicBezTo>
                      <a:pt x="0" y="34649"/>
                      <a:pt x="34649" y="0"/>
                      <a:pt x="77391" y="0"/>
                    </a:cubicBezTo>
                    <a:cubicBezTo>
                      <a:pt x="120132" y="0"/>
                      <a:pt x="154781" y="34649"/>
                      <a:pt x="154781" y="77391"/>
                    </a:cubicBez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Freeform 11"/>
              <p:cNvSpPr/>
              <p:nvPr/>
            </p:nvSpPr>
            <p:spPr>
              <a:xfrm>
                <a:off x="876300" y="2457450"/>
                <a:ext cx="247650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16694">
                    <a:moveTo>
                      <a:pt x="92869" y="0"/>
                    </a:moveTo>
                    <a:cubicBezTo>
                      <a:pt x="41579" y="0"/>
                      <a:pt x="0" y="41579"/>
                      <a:pt x="0" y="92869"/>
                    </a:cubicBezTo>
                    <a:lnTo>
                      <a:pt x="0" y="216694"/>
                    </a:lnTo>
                    <a:lnTo>
                      <a:pt x="247650" y="216694"/>
                    </a:lnTo>
                    <a:lnTo>
                      <a:pt x="247650" y="0"/>
                    </a:lnTo>
                    <a:lnTo>
                      <a:pt x="92869" y="0"/>
                    </a:ln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Freeform 12"/>
              <p:cNvSpPr/>
              <p:nvPr/>
            </p:nvSpPr>
            <p:spPr>
              <a:xfrm>
                <a:off x="1185862" y="2457450"/>
                <a:ext cx="185738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216694">
                    <a:moveTo>
                      <a:pt x="92869" y="0"/>
                    </a:moveTo>
                    <a:lnTo>
                      <a:pt x="0" y="0"/>
                    </a:lnTo>
                    <a:lnTo>
                      <a:pt x="0" y="216694"/>
                    </a:lnTo>
                    <a:lnTo>
                      <a:pt x="185738" y="216694"/>
                    </a:lnTo>
                    <a:lnTo>
                      <a:pt x="185738" y="92869"/>
                    </a:lnTo>
                    <a:cubicBezTo>
                      <a:pt x="185738" y="41579"/>
                      <a:pt x="144160" y="0"/>
                      <a:pt x="92869" y="0"/>
                    </a:cubicBez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1185862" y="2271712"/>
                <a:ext cx="1238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23825">
                    <a:moveTo>
                      <a:pt x="61912" y="123825"/>
                    </a:moveTo>
                    <a:cubicBezTo>
                      <a:pt x="96107" y="123825"/>
                      <a:pt x="123825" y="96106"/>
                      <a:pt x="123825" y="61912"/>
                    </a:cubicBezTo>
                    <a:cubicBezTo>
                      <a:pt x="123825" y="27719"/>
                      <a:pt x="96107" y="0"/>
                      <a:pt x="61912" y="0"/>
                    </a:cubicBezTo>
                    <a:cubicBezTo>
                      <a:pt x="27718" y="0"/>
                      <a:pt x="0" y="27719"/>
                      <a:pt x="0" y="61912"/>
                    </a:cubicBezTo>
                    <a:cubicBezTo>
                      <a:pt x="0" y="96106"/>
                      <a:pt x="27718" y="123825"/>
                      <a:pt x="61912" y="123825"/>
                    </a:cubicBez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864870" y="2824162"/>
              <a:ext cx="129501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用户请求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67918" y="3346132"/>
              <a:ext cx="1693164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从宝安中心到龙岗怎么走，并顺手写邮件通知老师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69442" y="4350068"/>
              <a:ext cx="16039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7F8EA3"/>
                  </a:solidFill>
                  <a:latin typeface="Consolas"/>
                  <a:ea typeface="Consolas"/>
                  <a:cs typeface="Consolas"/>
                </a:rPr>
                <a:t>multi-domain task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343400" y="1790700"/>
            <a:ext cx="3796898" cy="1162050"/>
            <a:chOff x="4343400" y="1790700"/>
            <a:chExt cx="3796898" cy="1162050"/>
          </a:xfrm>
        </p:grpSpPr>
        <p:sp>
          <p:nvSpPr>
            <p:cNvPr id="19" name="Rectangle 19"/>
            <p:cNvSpPr/>
            <p:nvPr/>
          </p:nvSpPr>
          <p:spPr>
            <a:xfrm>
              <a:off x="4343400" y="1790700"/>
              <a:ext cx="3505200" cy="1162050"/>
            </a:xfrm>
            <a:prstGeom prst="roundRect">
              <a:avLst>
                <a:gd name="adj" fmla="val 4918"/>
              </a:avLst>
            </a:prstGeom>
            <a:solidFill>
              <a:srgbClr val="111827"/>
            </a:solidFill>
            <a:ln w="19050">
              <a:solidFill>
                <a:srgbClr val="7DD3FC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4610100" y="1949301"/>
              <a:ext cx="457200" cy="428625"/>
            </a:xfrm>
            <a:custGeom>
              <a:avLst/>
              <a:gdLst/>
              <a:ahLst/>
              <a:cxnLst/>
              <a:rect l="l" t="t" r="r" b="b"/>
              <a:pathLst>
                <a:path w="457200" h="428625">
                  <a:moveTo>
                    <a:pt x="257175" y="0"/>
                  </a:moveTo>
                  <a:lnTo>
                    <a:pt x="257175" y="57150"/>
                  </a:lnTo>
                  <a:lnTo>
                    <a:pt x="371475" y="57150"/>
                  </a:lnTo>
                  <a:lnTo>
                    <a:pt x="457200" y="242888"/>
                  </a:lnTo>
                  <a:lnTo>
                    <a:pt x="371475" y="428625"/>
                  </a:lnTo>
                  <a:lnTo>
                    <a:pt x="85725" y="428625"/>
                  </a:lnTo>
                  <a:lnTo>
                    <a:pt x="0" y="242888"/>
                  </a:lnTo>
                  <a:lnTo>
                    <a:pt x="85725" y="57150"/>
                  </a:lnTo>
                  <a:lnTo>
                    <a:pt x="200025" y="57150"/>
                  </a:lnTo>
                  <a:lnTo>
                    <a:pt x="200025" y="0"/>
                  </a:lnTo>
                  <a:lnTo>
                    <a:pt x="257175" y="0"/>
                  </a:lnTo>
                  <a:close/>
                  <a:moveTo>
                    <a:pt x="131386" y="335425"/>
                  </a:moveTo>
                  <a:lnTo>
                    <a:pt x="228600" y="350381"/>
                  </a:lnTo>
                  <a:lnTo>
                    <a:pt x="325815" y="335425"/>
                  </a:lnTo>
                  <a:lnTo>
                    <a:pt x="317122" y="278939"/>
                  </a:lnTo>
                  <a:lnTo>
                    <a:pt x="228600" y="292557"/>
                  </a:lnTo>
                  <a:lnTo>
                    <a:pt x="140076" y="278939"/>
                  </a:lnTo>
                  <a:lnTo>
                    <a:pt x="131386" y="335425"/>
                  </a:lnTo>
                  <a:close/>
                  <a:moveTo>
                    <a:pt x="200025" y="192881"/>
                  </a:moveTo>
                  <a:cubicBezTo>
                    <a:pt x="200025" y="212608"/>
                    <a:pt x="184033" y="228600"/>
                    <a:pt x="164306" y="228600"/>
                  </a:cubicBezTo>
                  <a:cubicBezTo>
                    <a:pt x="144579" y="228600"/>
                    <a:pt x="128588" y="212608"/>
                    <a:pt x="128588" y="192881"/>
                  </a:cubicBezTo>
                  <a:cubicBezTo>
                    <a:pt x="128588" y="173154"/>
                    <a:pt x="144579" y="157162"/>
                    <a:pt x="164306" y="157162"/>
                  </a:cubicBezTo>
                  <a:cubicBezTo>
                    <a:pt x="184033" y="157162"/>
                    <a:pt x="200025" y="173154"/>
                    <a:pt x="200025" y="192881"/>
                  </a:cubicBezTo>
                  <a:close/>
                  <a:moveTo>
                    <a:pt x="292894" y="228600"/>
                  </a:moveTo>
                  <a:cubicBezTo>
                    <a:pt x="312622" y="228600"/>
                    <a:pt x="328612" y="212608"/>
                    <a:pt x="328612" y="192881"/>
                  </a:cubicBezTo>
                  <a:cubicBezTo>
                    <a:pt x="328612" y="173154"/>
                    <a:pt x="312622" y="157162"/>
                    <a:pt x="292894" y="157162"/>
                  </a:cubicBezTo>
                  <a:cubicBezTo>
                    <a:pt x="273167" y="157162"/>
                    <a:pt x="257175" y="173154"/>
                    <a:pt x="257175" y="192881"/>
                  </a:cubicBezTo>
                  <a:cubicBezTo>
                    <a:pt x="257175" y="212608"/>
                    <a:pt x="273167" y="228600"/>
                    <a:pt x="292894" y="228600"/>
                  </a:cubicBez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44846" y="2048828"/>
              <a:ext cx="19289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F8FAFC"/>
                  </a:solidFill>
                  <a:latin typeface="Arial"/>
                  <a:ea typeface="Arial"/>
                  <a:cs typeface="Arial"/>
                </a:rPr>
                <a:t>Supervisor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50709" y="2535479"/>
              <a:ext cx="36895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任务拆解、状态汇总、跨 Agent 编排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43400" y="3752850"/>
            <a:ext cx="2686050" cy="1168716"/>
            <a:chOff x="4343400" y="3752850"/>
            <a:chExt cx="2686050" cy="1168716"/>
          </a:xfrm>
        </p:grpSpPr>
        <p:sp>
          <p:nvSpPr>
            <p:cNvPr id="24" name="Rectangle 24"/>
            <p:cNvSpPr/>
            <p:nvPr/>
          </p:nvSpPr>
          <p:spPr>
            <a:xfrm>
              <a:off x="4343400" y="3752850"/>
              <a:ext cx="2686050" cy="1162050"/>
            </a:xfrm>
            <a:prstGeom prst="roundRect">
              <a:avLst>
                <a:gd name="adj" fmla="val 4918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4591050" y="4006501"/>
              <a:ext cx="419100" cy="366712"/>
              <a:chOff x="4591050" y="4006501"/>
              <a:chExt cx="419100" cy="366712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4591050" y="4006501"/>
                <a:ext cx="104775" cy="366712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366712">
                    <a:moveTo>
                      <a:pt x="104775" y="26194"/>
                    </a:moveTo>
                    <a:lnTo>
                      <a:pt x="0" y="0"/>
                    </a:lnTo>
                    <a:lnTo>
                      <a:pt x="0" y="340519"/>
                    </a:lnTo>
                    <a:lnTo>
                      <a:pt x="104775" y="366712"/>
                    </a:lnTo>
                    <a:lnTo>
                      <a:pt x="104775" y="26194"/>
                    </a:ln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Freeform 26"/>
              <p:cNvSpPr/>
              <p:nvPr/>
            </p:nvSpPr>
            <p:spPr>
              <a:xfrm>
                <a:off x="4905375" y="4006501"/>
                <a:ext cx="104775" cy="366712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366712">
                    <a:moveTo>
                      <a:pt x="104775" y="26194"/>
                    </a:moveTo>
                    <a:lnTo>
                      <a:pt x="0" y="0"/>
                    </a:lnTo>
                    <a:lnTo>
                      <a:pt x="0" y="340519"/>
                    </a:lnTo>
                    <a:lnTo>
                      <a:pt x="104775" y="366712"/>
                    </a:lnTo>
                    <a:lnTo>
                      <a:pt x="104775" y="26194"/>
                    </a:ln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Freeform 27"/>
              <p:cNvSpPr/>
              <p:nvPr/>
            </p:nvSpPr>
            <p:spPr>
              <a:xfrm>
                <a:off x="4748212" y="4006501"/>
                <a:ext cx="104775" cy="366712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366712">
                    <a:moveTo>
                      <a:pt x="104775" y="0"/>
                    </a:moveTo>
                    <a:lnTo>
                      <a:pt x="0" y="26194"/>
                    </a:lnTo>
                    <a:lnTo>
                      <a:pt x="0" y="366712"/>
                    </a:lnTo>
                    <a:lnTo>
                      <a:pt x="104775" y="340519"/>
                    </a:lnTo>
                    <a:lnTo>
                      <a:pt x="104775" y="0"/>
                    </a:ln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5170170" y="4062412"/>
              <a:ext cx="15065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8FAFC"/>
                  </a:solidFill>
                  <a:latin typeface="Arial"/>
                  <a:ea typeface="Arial"/>
                  <a:cs typeface="Arial"/>
                </a:rPr>
                <a:t>MapAgent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00801" y="4459901"/>
              <a:ext cx="2376249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复用通勤规划和地图 MCP 能力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429500" y="3752850"/>
            <a:ext cx="2695575" cy="1162050"/>
            <a:chOff x="7429500" y="3752850"/>
            <a:chExt cx="2695575" cy="1162050"/>
          </a:xfrm>
        </p:grpSpPr>
        <p:sp>
          <p:nvSpPr>
            <p:cNvPr id="32" name="Rectangle 32"/>
            <p:cNvSpPr/>
            <p:nvPr/>
          </p:nvSpPr>
          <p:spPr>
            <a:xfrm>
              <a:off x="7429500" y="3752850"/>
              <a:ext cx="2686050" cy="1162050"/>
            </a:xfrm>
            <a:prstGeom prst="roundRect">
              <a:avLst>
                <a:gd name="adj" fmla="val 4918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7667777" y="3919347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35744" y="0"/>
                  </a:moveTo>
                  <a:lnTo>
                    <a:pt x="235744" y="104775"/>
                  </a:lnTo>
                  <a:lnTo>
                    <a:pt x="163507" y="104775"/>
                  </a:lnTo>
                  <a:cubicBezTo>
                    <a:pt x="176045" y="123505"/>
                    <a:pt x="183356" y="146028"/>
                    <a:pt x="183356" y="170259"/>
                  </a:cubicBezTo>
                  <a:lnTo>
                    <a:pt x="183356" y="288131"/>
                  </a:lnTo>
                  <a:lnTo>
                    <a:pt x="130969" y="288131"/>
                  </a:lnTo>
                  <a:lnTo>
                    <a:pt x="130969" y="170259"/>
                  </a:lnTo>
                  <a:cubicBezTo>
                    <a:pt x="130969" y="134093"/>
                    <a:pt x="101650" y="104775"/>
                    <a:pt x="65484" y="104775"/>
                  </a:cubicBezTo>
                  <a:cubicBezTo>
                    <a:pt x="29318" y="104775"/>
                    <a:pt x="0" y="134093"/>
                    <a:pt x="0" y="170259"/>
                  </a:cubicBezTo>
                  <a:lnTo>
                    <a:pt x="0" y="340519"/>
                  </a:lnTo>
                  <a:lnTo>
                    <a:pt x="183356" y="340519"/>
                  </a:lnTo>
                  <a:lnTo>
                    <a:pt x="183356" y="419100"/>
                  </a:lnTo>
                  <a:lnTo>
                    <a:pt x="235744" y="419100"/>
                  </a:lnTo>
                  <a:lnTo>
                    <a:pt x="235744" y="340519"/>
                  </a:lnTo>
                  <a:lnTo>
                    <a:pt x="419100" y="340519"/>
                  </a:lnTo>
                  <a:lnTo>
                    <a:pt x="419100" y="170259"/>
                  </a:lnTo>
                  <a:cubicBezTo>
                    <a:pt x="419100" y="134093"/>
                    <a:pt x="389781" y="104775"/>
                    <a:pt x="353616" y="104775"/>
                  </a:cubicBezTo>
                  <a:lnTo>
                    <a:pt x="288131" y="104775"/>
                  </a:lnTo>
                  <a:lnTo>
                    <a:pt x="288131" y="52388"/>
                  </a:lnTo>
                  <a:lnTo>
                    <a:pt x="340519" y="52388"/>
                  </a:lnTo>
                  <a:lnTo>
                    <a:pt x="340519" y="0"/>
                  </a:lnTo>
                  <a:lnTo>
                    <a:pt x="235744" y="0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56270" y="4062412"/>
              <a:ext cx="164714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通信 Agent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21150" y="4450180"/>
              <a:ext cx="260392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复用邮件工具、草稿生成与白名单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0572750" y="2076450"/>
            <a:ext cx="1085850" cy="2552700"/>
            <a:chOff x="10572750" y="2076450"/>
            <a:chExt cx="1085850" cy="2552700"/>
          </a:xfrm>
        </p:grpSpPr>
        <p:sp>
          <p:nvSpPr>
            <p:cNvPr id="37" name="Rectangle 37"/>
            <p:cNvSpPr/>
            <p:nvPr/>
          </p:nvSpPr>
          <p:spPr>
            <a:xfrm>
              <a:off x="10572750" y="2076450"/>
              <a:ext cx="1085850" cy="781050"/>
            </a:xfrm>
            <a:prstGeom prst="roundRect">
              <a:avLst>
                <a:gd name="adj" fmla="val 7317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874064" y="222218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地图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951693" y="2537460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MCP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0572750" y="3848100"/>
              <a:ext cx="1085850" cy="781050"/>
            </a:xfrm>
            <a:prstGeom prst="roundRect">
              <a:avLst>
                <a:gd name="adj" fmla="val 7317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874064" y="399383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邮件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943158" y="4309110"/>
              <a:ext cx="3450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HITL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3162300" y="2371725"/>
            <a:ext cx="7410450" cy="1962150"/>
            <a:chOff x="3162300" y="2371725"/>
            <a:chExt cx="7410450" cy="1962150"/>
          </a:xfrm>
        </p:grpSpPr>
        <p:sp>
          <p:nvSpPr>
            <p:cNvPr id="44" name="Line 44"/>
            <p:cNvSpPr/>
            <p:nvPr/>
          </p:nvSpPr>
          <p:spPr>
            <a:xfrm flipV="1">
              <a:off x="3162300" y="2371725"/>
              <a:ext cx="1181100" cy="962025"/>
            </a:xfrm>
            <a:prstGeom prst="line">
              <a:avLst/>
            </a:prstGeom>
            <a:noFill/>
            <a:ln w="23812">
              <a:solidFill>
                <a:srgbClr val="7DD3FC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45"/>
            <p:cNvSpPr/>
            <p:nvPr/>
          </p:nvSpPr>
          <p:spPr>
            <a:xfrm flipH="1">
              <a:off x="5686425" y="2952750"/>
              <a:ext cx="409575" cy="800100"/>
            </a:xfrm>
            <a:prstGeom prst="line">
              <a:avLst/>
            </a:prstGeom>
            <a:noFill/>
            <a:ln w="23812">
              <a:solidFill>
                <a:srgbClr val="7DD3FC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46"/>
            <p:cNvSpPr/>
            <p:nvPr/>
          </p:nvSpPr>
          <p:spPr>
            <a:xfrm>
              <a:off x="6648450" y="2952750"/>
              <a:ext cx="1657350" cy="800100"/>
            </a:xfrm>
            <a:prstGeom prst="line">
              <a:avLst/>
            </a:prstGeom>
            <a:noFill/>
            <a:ln w="23812">
              <a:solidFill>
                <a:srgbClr val="F59E0B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47"/>
            <p:cNvSpPr/>
            <p:nvPr/>
          </p:nvSpPr>
          <p:spPr>
            <a:xfrm flipV="1">
              <a:off x="7029450" y="2466975"/>
              <a:ext cx="3543300" cy="1866900"/>
            </a:xfrm>
            <a:prstGeom prst="line">
              <a:avLst/>
            </a:prstGeom>
            <a:noFill/>
            <a:ln w="19050">
              <a:solidFill>
                <a:srgbClr val="7DD3FC"/>
              </a:solidFill>
              <a:prstDash val="lgDash"/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48"/>
            <p:cNvSpPr/>
            <p:nvPr/>
          </p:nvSpPr>
          <p:spPr>
            <a:xfrm flipV="1">
              <a:off x="10115550" y="4238625"/>
              <a:ext cx="457200" cy="95250"/>
            </a:xfrm>
            <a:prstGeom prst="line">
              <a:avLst/>
            </a:prstGeom>
            <a:noFill/>
            <a:ln w="19050">
              <a:solidFill>
                <a:srgbClr val="F59E0B"/>
              </a:solidFill>
              <a:prstDash val="lgDash"/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3543300" y="5314950"/>
            <a:ext cx="7163990" cy="497686"/>
            <a:chOff x="3543300" y="5314950"/>
            <a:chExt cx="7163990" cy="497686"/>
          </a:xfrm>
        </p:grpSpPr>
        <p:sp>
          <p:nvSpPr>
            <p:cNvPr id="50" name="Rectangle 50"/>
            <p:cNvSpPr/>
            <p:nvPr/>
          </p:nvSpPr>
          <p:spPr>
            <a:xfrm>
              <a:off x="3543300" y="5314950"/>
              <a:ext cx="6478524" cy="497686"/>
            </a:xfrm>
            <a:prstGeom prst="roundRect">
              <a:avLst>
                <a:gd name="adj" fmla="val 9091"/>
              </a:avLst>
            </a:prstGeom>
            <a:solidFill>
              <a:srgbClr val="111827"/>
            </a:solidFill>
            <a:ln w="9525">
              <a:solidFill>
                <a:srgbClr val="F59E0B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Freeform 51"/>
            <p:cNvSpPr/>
            <p:nvPr/>
          </p:nvSpPr>
          <p:spPr>
            <a:xfrm>
              <a:off x="3755289" y="5431255"/>
              <a:ext cx="300038" cy="342900"/>
            </a:xfrm>
            <a:custGeom>
              <a:avLst/>
              <a:gdLst/>
              <a:ahLst/>
              <a:cxnLst/>
              <a:rect l="l" t="t" r="r" b="b"/>
              <a:pathLst>
                <a:path w="300038" h="342900">
                  <a:moveTo>
                    <a:pt x="150019" y="342900"/>
                  </a:moveTo>
                  <a:lnTo>
                    <a:pt x="71797" y="287027"/>
                  </a:lnTo>
                  <a:cubicBezTo>
                    <a:pt x="26740" y="254843"/>
                    <a:pt x="0" y="202883"/>
                    <a:pt x="0" y="147513"/>
                  </a:cubicBezTo>
                  <a:lnTo>
                    <a:pt x="0" y="64294"/>
                  </a:lnTo>
                  <a:lnTo>
                    <a:pt x="150019" y="0"/>
                  </a:lnTo>
                  <a:lnTo>
                    <a:pt x="300038" y="64294"/>
                  </a:lnTo>
                  <a:lnTo>
                    <a:pt x="300038" y="147513"/>
                  </a:lnTo>
                  <a:cubicBezTo>
                    <a:pt x="300038" y="202883"/>
                    <a:pt x="273298" y="254843"/>
                    <a:pt x="228241" y="287027"/>
                  </a:cubicBezTo>
                  <a:lnTo>
                    <a:pt x="150019" y="342900"/>
                  </a:lnTo>
                  <a:close/>
                  <a:moveTo>
                    <a:pt x="240182" y="122311"/>
                  </a:moveTo>
                  <a:lnTo>
                    <a:pt x="209874" y="92002"/>
                  </a:lnTo>
                  <a:lnTo>
                    <a:pt x="128588" y="173289"/>
                  </a:lnTo>
                  <a:lnTo>
                    <a:pt x="90164" y="134864"/>
                  </a:lnTo>
                  <a:lnTo>
                    <a:pt x="59855" y="165173"/>
                  </a:lnTo>
                  <a:lnTo>
                    <a:pt x="128588" y="233905"/>
                  </a:lnTo>
                  <a:lnTo>
                    <a:pt x="240182" y="122311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120097" y="5431255"/>
              <a:ext cx="65871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高风险动作不自动执行：邮件发送前进入 HITL 确认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527304" y="6309360"/>
            <a:ext cx="64947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F8EA3"/>
                </a:solidFill>
                <a:latin typeface="Arial"/>
                <a:ea typeface="Microsoft YaHei"/>
                <a:cs typeface="Arial"/>
              </a:rPr>
              <a:t>P12 · client-server flow adaptation · Source: Agent 系统介绍演讲稿 + 验收说明文档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3" grpId="0"/>
      <p:bldP spid="31" grpId="0"/>
      <p:bldP spid="36" grpId="0"/>
      <p:bldP spid="43" grpId="0"/>
      <p:bldP spid="49" grpId="0"/>
      <p:bldP spid="5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5070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Freeform 3"/>
            <p:cNvSpPr/>
            <p:nvPr/>
          </p:nvSpPr>
          <p:spPr>
            <a:xfrm>
              <a:off x="533400" y="1314450"/>
              <a:ext cx="11125200" cy="4572000"/>
            </a:xfrm>
            <a:custGeom>
              <a:avLst/>
              <a:gdLst/>
              <a:ahLst/>
              <a:cxnLst/>
              <a:rect l="l" t="t" r="r" b="b"/>
              <a:pathLst>
                <a:path w="11125200" h="4572000">
                  <a:moveTo>
                    <a:pt x="0" y="0"/>
                  </a:moveTo>
                  <a:lnTo>
                    <a:pt x="11125200" y="0"/>
                  </a:lnTo>
                  <a:moveTo>
                    <a:pt x="0" y="914400"/>
                  </a:moveTo>
                  <a:lnTo>
                    <a:pt x="11125200" y="914400"/>
                  </a:lnTo>
                  <a:moveTo>
                    <a:pt x="0" y="1828800"/>
                  </a:moveTo>
                  <a:lnTo>
                    <a:pt x="11125200" y="1828800"/>
                  </a:lnTo>
                  <a:moveTo>
                    <a:pt x="0" y="2743200"/>
                  </a:moveTo>
                  <a:lnTo>
                    <a:pt x="11125200" y="2743200"/>
                  </a:lnTo>
                  <a:moveTo>
                    <a:pt x="0" y="3657600"/>
                  </a:moveTo>
                  <a:lnTo>
                    <a:pt x="11125200" y="3657600"/>
                  </a:lnTo>
                  <a:moveTo>
                    <a:pt x="0" y="4572000"/>
                  </a:moveTo>
                  <a:lnTo>
                    <a:pt x="11125200" y="4572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1C2A3D"/>
              </a:solidFill>
              <a:prstDash val="lgDash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14350" y="264795"/>
            <a:ext cx="10512209" cy="946594"/>
            <a:chOff x="514350" y="264795"/>
            <a:chExt cx="10512209" cy="946594"/>
          </a:xfrm>
        </p:grpSpPr>
        <p:sp>
          <p:nvSpPr>
            <p:cNvPr id="5" name="TextBox 5"/>
            <p:cNvSpPr txBox="1"/>
            <p:nvPr/>
          </p:nvSpPr>
          <p:spPr>
            <a:xfrm>
              <a:off x="514350" y="264795"/>
              <a:ext cx="10512209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文档、接口、模型和测试沉淀让交付可复查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44068" y="888682"/>
              <a:ext cx="82353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交付物覆盖需求、设计、模型、接口、迭代计划、测试和协议规范，验收证据链完整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52450" y="1428750"/>
            <a:ext cx="11087100" cy="4095750"/>
            <a:chOff x="552450" y="1428750"/>
            <a:chExt cx="11087100" cy="4095750"/>
          </a:xfrm>
        </p:grpSpPr>
        <p:sp>
          <p:nvSpPr>
            <p:cNvPr id="8" name="Rectangle 8"/>
            <p:cNvSpPr/>
            <p:nvPr/>
          </p:nvSpPr>
          <p:spPr>
            <a:xfrm>
              <a:off x="552450" y="1428750"/>
              <a:ext cx="11087100" cy="4095750"/>
            </a:xfrm>
            <a:prstGeom prst="roundRect">
              <a:avLst>
                <a:gd name="adj" fmla="val 1395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1428750"/>
              <a:ext cx="11087100" cy="533400"/>
            </a:xfrm>
            <a:prstGeom prst="roundRect">
              <a:avLst>
                <a:gd name="adj" fmla="val 10714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9056" y="15773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7DD3FC"/>
                  </a:solidFill>
                  <a:latin typeface="Arial"/>
                  <a:ea typeface="Microsoft YaHei"/>
                  <a:cs typeface="Arial"/>
                </a:rPr>
                <a:t>交付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619756" y="15773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7DD3FC"/>
                  </a:solidFill>
                  <a:latin typeface="Arial"/>
                  <a:ea typeface="Microsoft YaHei"/>
                  <a:cs typeface="Arial"/>
                </a:rPr>
                <a:t>核心资产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48956" y="15773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7DD3FC"/>
                  </a:solidFill>
                  <a:latin typeface="Arial"/>
                  <a:ea typeface="Microsoft YaHei"/>
                  <a:cs typeface="Arial"/>
                </a:rPr>
                <a:t>验收价值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732637" y="1591113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7DD3FC"/>
                  </a:solidFill>
                  <a:latin typeface="Arial"/>
                  <a:ea typeface="Microsoft YaHei"/>
                  <a:cs typeface="Arial"/>
                </a:rPr>
                <a:t>状态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2362200" y="1428750"/>
              <a:ext cx="9525" cy="4095750"/>
            </a:xfrm>
            <a:custGeom>
              <a:avLst/>
              <a:gdLst/>
              <a:ahLst/>
              <a:cxnLst/>
              <a:rect l="l" t="t" r="r" b="b"/>
              <a:pathLst>
                <a:path w="9525" h="4095750">
                  <a:moveTo>
                    <a:pt x="0" y="0"/>
                  </a:moveTo>
                  <a:lnTo>
                    <a:pt x="0" y="4095750"/>
                  </a:lnTo>
                </a:path>
              </a:pathLst>
            </a:custGeom>
            <a:noFill/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5"/>
            <p:cNvSpPr/>
            <p:nvPr/>
          </p:nvSpPr>
          <p:spPr>
            <a:xfrm>
              <a:off x="7391400" y="1428750"/>
              <a:ext cx="9525" cy="4095750"/>
            </a:xfrm>
            <a:custGeom>
              <a:avLst/>
              <a:gdLst/>
              <a:ahLst/>
              <a:cxnLst/>
              <a:rect l="l" t="t" r="r" b="b"/>
              <a:pathLst>
                <a:path w="9525" h="4095750">
                  <a:moveTo>
                    <a:pt x="0" y="0"/>
                  </a:moveTo>
                  <a:lnTo>
                    <a:pt x="0" y="4095750"/>
                  </a:lnTo>
                </a:path>
              </a:pathLst>
            </a:custGeom>
            <a:noFill/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6"/>
            <p:cNvSpPr/>
            <p:nvPr/>
          </p:nvSpPr>
          <p:spPr>
            <a:xfrm>
              <a:off x="10325100" y="1428750"/>
              <a:ext cx="9525" cy="4095750"/>
            </a:xfrm>
            <a:custGeom>
              <a:avLst/>
              <a:gdLst/>
              <a:ahLst/>
              <a:cxnLst/>
              <a:rect l="l" t="t" r="r" b="b"/>
              <a:pathLst>
                <a:path w="9525" h="4095750">
                  <a:moveTo>
                    <a:pt x="0" y="0"/>
                  </a:moveTo>
                  <a:lnTo>
                    <a:pt x="0" y="4095750"/>
                  </a:lnTo>
                </a:path>
              </a:pathLst>
            </a:custGeom>
            <a:noFill/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552450" y="2552700"/>
              <a:ext cx="11087100" cy="2362200"/>
            </a:xfrm>
            <a:custGeom>
              <a:avLst/>
              <a:gdLst/>
              <a:ahLst/>
              <a:cxnLst/>
              <a:rect l="l" t="t" r="r" b="b"/>
              <a:pathLst>
                <a:path w="11087100" h="2362200">
                  <a:moveTo>
                    <a:pt x="0" y="0"/>
                  </a:moveTo>
                  <a:lnTo>
                    <a:pt x="11087100" y="0"/>
                  </a:lnTo>
                  <a:moveTo>
                    <a:pt x="0" y="590550"/>
                  </a:moveTo>
                  <a:lnTo>
                    <a:pt x="11087100" y="590550"/>
                  </a:lnTo>
                  <a:moveTo>
                    <a:pt x="0" y="1181100"/>
                  </a:moveTo>
                  <a:lnTo>
                    <a:pt x="11087100" y="1181100"/>
                  </a:lnTo>
                  <a:moveTo>
                    <a:pt x="0" y="1771650"/>
                  </a:moveTo>
                  <a:lnTo>
                    <a:pt x="11087100" y="1771650"/>
                  </a:lnTo>
                  <a:moveTo>
                    <a:pt x="0" y="2362200"/>
                  </a:moveTo>
                  <a:lnTo>
                    <a:pt x="11087100" y="23622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38200" y="2007312"/>
            <a:ext cx="10283876" cy="525767"/>
            <a:chOff x="838200" y="2007312"/>
            <a:chExt cx="10283876" cy="525767"/>
          </a:xfrm>
        </p:grpSpPr>
        <p:sp>
          <p:nvSpPr>
            <p:cNvPr id="19" name="Freeform 19"/>
            <p:cNvSpPr/>
            <p:nvPr/>
          </p:nvSpPr>
          <p:spPr>
            <a:xfrm>
              <a:off x="838200" y="2155031"/>
              <a:ext cx="323850" cy="263128"/>
            </a:xfrm>
            <a:custGeom>
              <a:avLst/>
              <a:gdLst/>
              <a:ahLst/>
              <a:cxnLst/>
              <a:rect l="l" t="t" r="r" b="b"/>
              <a:pathLst>
                <a:path w="323850" h="263128">
                  <a:moveTo>
                    <a:pt x="0" y="0"/>
                  </a:moveTo>
                  <a:lnTo>
                    <a:pt x="72579" y="0"/>
                  </a:lnTo>
                  <a:cubicBezTo>
                    <a:pt x="90907" y="0"/>
                    <a:pt x="108484" y="7281"/>
                    <a:pt x="121444" y="20241"/>
                  </a:cubicBezTo>
                  <a:cubicBezTo>
                    <a:pt x="134404" y="33200"/>
                    <a:pt x="141684" y="50778"/>
                    <a:pt x="141684" y="69106"/>
                  </a:cubicBezTo>
                  <a:lnTo>
                    <a:pt x="141684" y="182166"/>
                  </a:lnTo>
                  <a:lnTo>
                    <a:pt x="182166" y="182166"/>
                  </a:lnTo>
                  <a:lnTo>
                    <a:pt x="182166" y="69106"/>
                  </a:lnTo>
                  <a:cubicBezTo>
                    <a:pt x="182166" y="50778"/>
                    <a:pt x="189446" y="33200"/>
                    <a:pt x="202406" y="20241"/>
                  </a:cubicBezTo>
                  <a:cubicBezTo>
                    <a:pt x="215366" y="7281"/>
                    <a:pt x="232943" y="0"/>
                    <a:pt x="251271" y="0"/>
                  </a:cubicBezTo>
                  <a:lnTo>
                    <a:pt x="323850" y="0"/>
                  </a:lnTo>
                  <a:lnTo>
                    <a:pt x="323850" y="222647"/>
                  </a:lnTo>
                  <a:lnTo>
                    <a:pt x="222647" y="222647"/>
                  </a:lnTo>
                  <a:lnTo>
                    <a:pt x="182166" y="263128"/>
                  </a:lnTo>
                  <a:lnTo>
                    <a:pt x="141684" y="263128"/>
                  </a:lnTo>
                  <a:lnTo>
                    <a:pt x="101203" y="222647"/>
                  </a:lnTo>
                  <a:lnTo>
                    <a:pt x="0" y="2226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DD3F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85494" y="2151698"/>
              <a:ext cx="13979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需求与迭代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20518" y="2184082"/>
              <a:ext cx="47924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v1.0 - v2.3 需求/架构说明/迭代总结/下版规划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49718" y="2007312"/>
              <a:ext cx="2266005" cy="5078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证明范围边界清晰，</a:t>
              </a:r>
              <a:endParaRPr lang="en-US" altLang="zh-CN" sz="1650" dirty="0">
                <a:solidFill>
                  <a:srgbClr val="B6C2D2"/>
                </a:solidFill>
                <a:latin typeface="Arial"/>
                <a:ea typeface="Microsoft YaHei"/>
                <a:cs typeface="Arial"/>
              </a:endParaRPr>
            </a:p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不把 MVP 写成通用平台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594924" y="216789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完成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78681" y="2588083"/>
            <a:ext cx="10243395" cy="535546"/>
            <a:chOff x="878681" y="2588083"/>
            <a:chExt cx="10243395" cy="535546"/>
          </a:xfrm>
        </p:grpSpPr>
        <p:grpSp>
          <p:nvGrpSpPr>
            <p:cNvPr id="28" name="Group 28"/>
            <p:cNvGrpSpPr/>
            <p:nvPr/>
          </p:nvGrpSpPr>
          <p:grpSpPr>
            <a:xfrm>
              <a:off x="878681" y="2705100"/>
              <a:ext cx="242888" cy="323850"/>
              <a:chOff x="878681" y="2705100"/>
              <a:chExt cx="242888" cy="32385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878681" y="2834640"/>
                <a:ext cx="242888" cy="93107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93107">
                    <a:moveTo>
                      <a:pt x="225422" y="10326"/>
                    </a:moveTo>
                    <a:cubicBezTo>
                      <a:pt x="231116" y="7479"/>
                      <a:pt x="237064" y="4044"/>
                      <a:pt x="242888" y="0"/>
                    </a:cubicBezTo>
                    <a:lnTo>
                      <a:pt x="242888" y="32385"/>
                    </a:lnTo>
                    <a:cubicBezTo>
                      <a:pt x="242888" y="65920"/>
                      <a:pt x="188515" y="93107"/>
                      <a:pt x="121444" y="93107"/>
                    </a:cubicBezTo>
                    <a:cubicBezTo>
                      <a:pt x="54372" y="93107"/>
                      <a:pt x="0" y="65920"/>
                      <a:pt x="0" y="32385"/>
                    </a:cubicBezTo>
                    <a:lnTo>
                      <a:pt x="0" y="0"/>
                    </a:lnTo>
                    <a:cubicBezTo>
                      <a:pt x="5824" y="4044"/>
                      <a:pt x="11772" y="7479"/>
                      <a:pt x="17466" y="10326"/>
                    </a:cubicBezTo>
                    <a:cubicBezTo>
                      <a:pt x="46168" y="24677"/>
                      <a:pt x="82986" y="32385"/>
                      <a:pt x="121444" y="32385"/>
                    </a:cubicBezTo>
                    <a:cubicBezTo>
                      <a:pt x="159901" y="32385"/>
                      <a:pt x="196719" y="24677"/>
                      <a:pt x="225422" y="10326"/>
                    </a:cubicBez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Freeform 26"/>
              <p:cNvSpPr/>
              <p:nvPr/>
            </p:nvSpPr>
            <p:spPr>
              <a:xfrm>
                <a:off x="878681" y="2935843"/>
                <a:ext cx="242888" cy="93107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93107">
                    <a:moveTo>
                      <a:pt x="0" y="0"/>
                    </a:moveTo>
                    <a:lnTo>
                      <a:pt x="0" y="32385"/>
                    </a:lnTo>
                    <a:cubicBezTo>
                      <a:pt x="0" y="65922"/>
                      <a:pt x="54372" y="93107"/>
                      <a:pt x="121444" y="93107"/>
                    </a:cubicBezTo>
                    <a:cubicBezTo>
                      <a:pt x="188515" y="93107"/>
                      <a:pt x="242888" y="65922"/>
                      <a:pt x="242888" y="32385"/>
                    </a:cubicBezTo>
                    <a:lnTo>
                      <a:pt x="242888" y="0"/>
                    </a:lnTo>
                    <a:cubicBezTo>
                      <a:pt x="237064" y="4044"/>
                      <a:pt x="231116" y="7479"/>
                      <a:pt x="225422" y="10327"/>
                    </a:cubicBezTo>
                    <a:cubicBezTo>
                      <a:pt x="196719" y="24677"/>
                      <a:pt x="159901" y="32385"/>
                      <a:pt x="121444" y="32385"/>
                    </a:cubicBezTo>
                    <a:cubicBezTo>
                      <a:pt x="82986" y="32385"/>
                      <a:pt x="46168" y="24677"/>
                      <a:pt x="17466" y="10327"/>
                    </a:cubicBezTo>
                    <a:cubicBezTo>
                      <a:pt x="11772" y="7479"/>
                      <a:pt x="5824" y="4044"/>
                      <a:pt x="0" y="0"/>
                    </a:cubicBez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Freeform 27"/>
              <p:cNvSpPr/>
              <p:nvPr/>
            </p:nvSpPr>
            <p:spPr>
              <a:xfrm>
                <a:off x="878681" y="2705100"/>
                <a:ext cx="242888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21444">
                    <a:moveTo>
                      <a:pt x="121444" y="0"/>
                    </a:moveTo>
                    <a:cubicBezTo>
                      <a:pt x="188515" y="0"/>
                      <a:pt x="242888" y="27186"/>
                      <a:pt x="242888" y="60722"/>
                    </a:cubicBezTo>
                    <a:cubicBezTo>
                      <a:pt x="242888" y="94258"/>
                      <a:pt x="188515" y="121444"/>
                      <a:pt x="121444" y="121444"/>
                    </a:cubicBezTo>
                    <a:cubicBezTo>
                      <a:pt x="54372" y="121444"/>
                      <a:pt x="0" y="94258"/>
                      <a:pt x="0" y="60722"/>
                    </a:cubicBezTo>
                    <a:cubicBezTo>
                      <a:pt x="0" y="27186"/>
                      <a:pt x="54372" y="0"/>
                      <a:pt x="121444" y="0"/>
                    </a:cubicBez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1285494" y="27422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数据模型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19756" y="2621607"/>
              <a:ext cx="4443524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B6C2D2"/>
                  </a:solidFill>
                  <a:latin typeface="Consolas"/>
                  <a:ea typeface="Consolas"/>
                  <a:cs typeface="Consolas"/>
                </a:rPr>
                <a:t>AgentTask / AgentFeedback / TalkSession / </a:t>
              </a:r>
            </a:p>
            <a:p>
              <a:pPr algn="l"/>
              <a:r>
                <a:rPr lang="en-US" sz="1500" dirty="0" err="1">
                  <a:solidFill>
                    <a:srgbClr val="B6C2D2"/>
                  </a:solidFill>
                  <a:latin typeface="Consolas"/>
                  <a:ea typeface="Consolas"/>
                  <a:cs typeface="Consolas"/>
                </a:rPr>
                <a:t>TalkMessage</a:t>
              </a:r>
              <a:endParaRPr lang="en-US" sz="1500" dirty="0">
                <a:solidFill>
                  <a:srgbClr val="B6C2D2"/>
                </a:solidFill>
                <a:latin typeface="Consolas"/>
                <a:ea typeface="Consolas"/>
                <a:cs typeface="Consola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49718" y="2588083"/>
              <a:ext cx="2115964" cy="5078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任务、反馈、历史对话</a:t>
              </a:r>
              <a:endParaRPr lang="en-US" altLang="zh-CN" sz="1650" dirty="0">
                <a:solidFill>
                  <a:srgbClr val="B6C2D2"/>
                </a:solidFill>
                <a:latin typeface="Arial"/>
                <a:ea typeface="Microsoft YaHei"/>
                <a:cs typeface="Arial"/>
              </a:endParaRPr>
            </a:p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可落表、可追踪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594924" y="27584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完成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38200" y="3220560"/>
            <a:ext cx="10283876" cy="510818"/>
            <a:chOff x="838200" y="3220560"/>
            <a:chExt cx="10283876" cy="510818"/>
          </a:xfrm>
        </p:grpSpPr>
        <p:grpSp>
          <p:nvGrpSpPr>
            <p:cNvPr id="36" name="Group 36"/>
            <p:cNvGrpSpPr/>
            <p:nvPr/>
          </p:nvGrpSpPr>
          <p:grpSpPr>
            <a:xfrm>
              <a:off x="838200" y="3336131"/>
              <a:ext cx="323850" cy="242888"/>
              <a:chOff x="838200" y="3336131"/>
              <a:chExt cx="323850" cy="242888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38200" y="3336131"/>
                <a:ext cx="323850" cy="101203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101203">
                    <a:moveTo>
                      <a:pt x="323850" y="0"/>
                    </a:moveTo>
                    <a:lnTo>
                      <a:pt x="0" y="0"/>
                    </a:lnTo>
                    <a:lnTo>
                      <a:pt x="0" y="101203"/>
                    </a:lnTo>
                    <a:lnTo>
                      <a:pt x="323850" y="101203"/>
                    </a:lnTo>
                    <a:lnTo>
                      <a:pt x="323850" y="0"/>
                    </a:lnTo>
                    <a:close/>
                    <a:moveTo>
                      <a:pt x="80962" y="50602"/>
                    </a:moveTo>
                    <a:cubicBezTo>
                      <a:pt x="80962" y="61780"/>
                      <a:pt x="71900" y="70842"/>
                      <a:pt x="60722" y="70842"/>
                    </a:cubicBezTo>
                    <a:cubicBezTo>
                      <a:pt x="49543" y="70842"/>
                      <a:pt x="40481" y="61780"/>
                      <a:pt x="40481" y="50602"/>
                    </a:cubicBezTo>
                    <a:cubicBezTo>
                      <a:pt x="40481" y="39423"/>
                      <a:pt x="49543" y="30361"/>
                      <a:pt x="60722" y="30361"/>
                    </a:cubicBezTo>
                    <a:cubicBezTo>
                      <a:pt x="71900" y="30361"/>
                      <a:pt x="80962" y="39423"/>
                      <a:pt x="80962" y="50602"/>
                    </a:cubicBez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Freeform 35"/>
              <p:cNvSpPr/>
              <p:nvPr/>
            </p:nvSpPr>
            <p:spPr>
              <a:xfrm>
                <a:off x="838200" y="3477816"/>
                <a:ext cx="323850" cy="101203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101203">
                    <a:moveTo>
                      <a:pt x="323850" y="0"/>
                    </a:moveTo>
                    <a:lnTo>
                      <a:pt x="0" y="0"/>
                    </a:lnTo>
                    <a:lnTo>
                      <a:pt x="0" y="101203"/>
                    </a:lnTo>
                    <a:lnTo>
                      <a:pt x="323850" y="101203"/>
                    </a:lnTo>
                    <a:lnTo>
                      <a:pt x="323850" y="0"/>
                    </a:lnTo>
                    <a:close/>
                    <a:moveTo>
                      <a:pt x="60722" y="70842"/>
                    </a:moveTo>
                    <a:cubicBezTo>
                      <a:pt x="71900" y="70842"/>
                      <a:pt x="80962" y="61780"/>
                      <a:pt x="80962" y="50602"/>
                    </a:cubicBezTo>
                    <a:cubicBezTo>
                      <a:pt x="80962" y="39423"/>
                      <a:pt x="71900" y="30361"/>
                      <a:pt x="60722" y="30361"/>
                    </a:cubicBezTo>
                    <a:cubicBezTo>
                      <a:pt x="49543" y="30361"/>
                      <a:pt x="40481" y="39423"/>
                      <a:pt x="40481" y="50602"/>
                    </a:cubicBezTo>
                    <a:cubicBezTo>
                      <a:pt x="40481" y="61780"/>
                      <a:pt x="49543" y="70842"/>
                      <a:pt x="60722" y="70842"/>
                    </a:cubicBez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1285494" y="333279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接口清单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610588" y="3220560"/>
              <a:ext cx="3914533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B6C2D2"/>
                  </a:solidFill>
                  <a:latin typeface="Consolas"/>
                  <a:ea typeface="Consolas"/>
                  <a:cs typeface="Consolas"/>
                </a:rPr>
                <a:t>chat / stream / confirm / feedback / </a:t>
              </a:r>
            </a:p>
            <a:p>
              <a:pPr algn="l"/>
              <a:r>
                <a:rPr lang="en-US" sz="1500" dirty="0">
                  <a:solidFill>
                    <a:srgbClr val="B6C2D2"/>
                  </a:solidFill>
                  <a:latin typeface="Consolas"/>
                  <a:ea typeface="Consolas"/>
                  <a:cs typeface="Consolas"/>
                </a:rPr>
                <a:t>admin / health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49718" y="3223547"/>
              <a:ext cx="2115964" cy="5078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前后端边界和运营入口</a:t>
              </a:r>
              <a:endParaRPr lang="en-US" altLang="zh-CN" sz="1650" dirty="0">
                <a:solidFill>
                  <a:srgbClr val="B6C2D2"/>
                </a:solidFill>
                <a:latin typeface="Arial"/>
                <a:ea typeface="Microsoft YaHei"/>
                <a:cs typeface="Arial"/>
              </a:endParaRPr>
            </a:p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均可复查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594924" y="334899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完成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38200" y="3816519"/>
            <a:ext cx="10283876" cy="507831"/>
            <a:chOff x="838200" y="3816519"/>
            <a:chExt cx="10283876" cy="507831"/>
          </a:xfrm>
        </p:grpSpPr>
        <p:sp>
          <p:nvSpPr>
            <p:cNvPr id="42" name="Freeform 42"/>
            <p:cNvSpPr/>
            <p:nvPr/>
          </p:nvSpPr>
          <p:spPr>
            <a:xfrm>
              <a:off x="838200" y="3886200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161925" y="323850"/>
                  </a:moveTo>
                  <a:cubicBezTo>
                    <a:pt x="251354" y="323850"/>
                    <a:pt x="323850" y="251354"/>
                    <a:pt x="323850" y="161925"/>
                  </a:cubicBezTo>
                  <a:cubicBezTo>
                    <a:pt x="323850" y="72496"/>
                    <a:pt x="251354" y="0"/>
                    <a:pt x="161925" y="0"/>
                  </a:cubicBezTo>
                  <a:cubicBezTo>
                    <a:pt x="72496" y="0"/>
                    <a:pt x="0" y="72496"/>
                    <a:pt x="0" y="161925"/>
                  </a:cubicBezTo>
                  <a:cubicBezTo>
                    <a:pt x="0" y="251354"/>
                    <a:pt x="72496" y="323850"/>
                    <a:pt x="161925" y="323850"/>
                  </a:cubicBezTo>
                  <a:close/>
                  <a:moveTo>
                    <a:pt x="257200" y="115515"/>
                  </a:moveTo>
                  <a:lnTo>
                    <a:pt x="228575" y="86891"/>
                  </a:lnTo>
                  <a:lnTo>
                    <a:pt x="131564" y="183902"/>
                  </a:lnTo>
                  <a:lnTo>
                    <a:pt x="95275" y="147613"/>
                  </a:lnTo>
                  <a:lnTo>
                    <a:pt x="66650" y="176237"/>
                  </a:lnTo>
                  <a:lnTo>
                    <a:pt x="131564" y="241151"/>
                  </a:lnTo>
                  <a:lnTo>
                    <a:pt x="257200" y="115515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285494" y="39233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测试文档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620518" y="3816519"/>
              <a:ext cx="4313681" cy="5078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36 份测试数据与回归说明，覆盖反馈、监控、</a:t>
              </a:r>
              <a:endParaRPr lang="en-US" altLang="zh-CN" sz="1650" dirty="0">
                <a:solidFill>
                  <a:srgbClr val="B6C2D2"/>
                </a:solidFill>
                <a:latin typeface="Arial"/>
                <a:ea typeface="Microsoft YaHei"/>
                <a:cs typeface="Arial"/>
              </a:endParaRPr>
            </a:p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HITL、MCP、Supervisor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02425" y="3901369"/>
              <a:ext cx="296234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从</a:t>
              </a:r>
              <a:r>
                <a:rPr lang="zh-CN" altLang="en-US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“</a:t>
              </a:r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能运行</a:t>
              </a:r>
              <a:r>
                <a:rPr lang="zh-CN" altLang="en-US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”</a:t>
              </a:r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推进到“能回归”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594924" y="39395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完成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58441" y="4367904"/>
            <a:ext cx="10263635" cy="527375"/>
            <a:chOff x="858441" y="4367904"/>
            <a:chExt cx="10263635" cy="527375"/>
          </a:xfrm>
        </p:grpSpPr>
        <p:grpSp>
          <p:nvGrpSpPr>
            <p:cNvPr id="50" name="Group 50"/>
            <p:cNvGrpSpPr/>
            <p:nvPr/>
          </p:nvGrpSpPr>
          <p:grpSpPr>
            <a:xfrm>
              <a:off x="858441" y="4476750"/>
              <a:ext cx="283368" cy="323850"/>
              <a:chOff x="858441" y="4476750"/>
              <a:chExt cx="283368" cy="32385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939403" y="4476750"/>
                <a:ext cx="202406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02406" h="242888">
                    <a:moveTo>
                      <a:pt x="121444" y="0"/>
                    </a:moveTo>
                    <a:lnTo>
                      <a:pt x="0" y="0"/>
                    </a:lnTo>
                    <a:lnTo>
                      <a:pt x="0" y="242888"/>
                    </a:lnTo>
                    <a:lnTo>
                      <a:pt x="202406" y="242888"/>
                    </a:lnTo>
                    <a:lnTo>
                      <a:pt x="202406" y="80962"/>
                    </a:lnTo>
                    <a:lnTo>
                      <a:pt x="121444" y="0"/>
                    </a:ln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" name="Freeform 49"/>
              <p:cNvSpPr/>
              <p:nvPr/>
            </p:nvSpPr>
            <p:spPr>
              <a:xfrm>
                <a:off x="858441" y="4557712"/>
                <a:ext cx="202406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02406" h="242888">
                    <a:moveTo>
                      <a:pt x="0" y="0"/>
                    </a:moveTo>
                    <a:lnTo>
                      <a:pt x="0" y="242888"/>
                    </a:lnTo>
                    <a:lnTo>
                      <a:pt x="202406" y="242888"/>
                    </a:lnTo>
                    <a:lnTo>
                      <a:pt x="202406" y="202406"/>
                    </a:lnTo>
                    <a:lnTo>
                      <a:pt x="40481" y="202406"/>
                    </a:lnTo>
                    <a:lnTo>
                      <a:pt x="4048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DD3FC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1" name="TextBox 51"/>
            <p:cNvSpPr txBox="1"/>
            <p:nvPr/>
          </p:nvSpPr>
          <p:spPr>
            <a:xfrm>
              <a:off x="1285494" y="451389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协议规范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620518" y="4546282"/>
              <a:ext cx="46124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Agent 卡片协议、接入改造设计、AI 执行规范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641590" y="4367904"/>
              <a:ext cx="2115964" cy="5078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结构化展示和工具接入</a:t>
              </a:r>
              <a:endParaRPr lang="en-US" altLang="zh-CN" sz="1650" dirty="0">
                <a:solidFill>
                  <a:srgbClr val="B6C2D2"/>
                </a:solidFill>
                <a:latin typeface="Arial"/>
                <a:ea typeface="Microsoft YaHei"/>
                <a:cs typeface="Arial"/>
              </a:endParaRPr>
            </a:p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具备统一语言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594924" y="453009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完成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878681" y="4966350"/>
            <a:ext cx="10243395" cy="519479"/>
            <a:chOff x="878681" y="4966350"/>
            <a:chExt cx="10243395" cy="519479"/>
          </a:xfrm>
        </p:grpSpPr>
        <p:sp>
          <p:nvSpPr>
            <p:cNvPr id="56" name="Freeform 56"/>
            <p:cNvSpPr/>
            <p:nvPr/>
          </p:nvSpPr>
          <p:spPr>
            <a:xfrm>
              <a:off x="878681" y="5067300"/>
              <a:ext cx="242888" cy="323850"/>
            </a:xfrm>
            <a:custGeom>
              <a:avLst/>
              <a:gdLst/>
              <a:ahLst/>
              <a:cxnLst/>
              <a:rect l="l" t="t" r="r" b="b"/>
              <a:pathLst>
                <a:path w="242888" h="323850">
                  <a:moveTo>
                    <a:pt x="141684" y="141684"/>
                  </a:moveTo>
                  <a:lnTo>
                    <a:pt x="161925" y="0"/>
                  </a:lnTo>
                  <a:lnTo>
                    <a:pt x="121444" y="0"/>
                  </a:lnTo>
                  <a:lnTo>
                    <a:pt x="0" y="141684"/>
                  </a:lnTo>
                  <a:lnTo>
                    <a:pt x="0" y="182166"/>
                  </a:lnTo>
                  <a:lnTo>
                    <a:pt x="101203" y="182166"/>
                  </a:lnTo>
                  <a:lnTo>
                    <a:pt x="80962" y="323850"/>
                  </a:lnTo>
                  <a:lnTo>
                    <a:pt x="121444" y="323850"/>
                  </a:lnTo>
                  <a:lnTo>
                    <a:pt x="242888" y="182166"/>
                  </a:lnTo>
                  <a:lnTo>
                    <a:pt x="242888" y="141684"/>
                  </a:lnTo>
                  <a:lnTo>
                    <a:pt x="141684" y="141684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285494" y="51044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工程验证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610587" y="5017961"/>
              <a:ext cx="3914533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B6C2D2"/>
                  </a:solidFill>
                  <a:latin typeface="Consolas"/>
                  <a:ea typeface="Consolas"/>
                  <a:cs typeface="Consolas"/>
                </a:rPr>
                <a:t>compileall / build / UI regression / </a:t>
              </a:r>
            </a:p>
            <a:p>
              <a:pPr algn="l"/>
              <a:r>
                <a:rPr lang="en-US" sz="1500" dirty="0">
                  <a:solidFill>
                    <a:srgbClr val="B6C2D2"/>
                  </a:solidFill>
                  <a:latin typeface="Consolas"/>
                  <a:ea typeface="Consolas"/>
                  <a:cs typeface="Consolas"/>
                </a:rPr>
                <a:t>Playwright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641590" y="4966350"/>
              <a:ext cx="2115964" cy="5078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编译、构建、静态检查</a:t>
              </a:r>
              <a:endParaRPr lang="en-US" altLang="zh-CN" sz="1650" dirty="0">
                <a:solidFill>
                  <a:srgbClr val="B6C2D2"/>
                </a:solidFill>
                <a:latin typeface="Arial"/>
                <a:ea typeface="Microsoft YaHei"/>
                <a:cs typeface="Arial"/>
              </a:endParaRPr>
            </a:p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与真浏览器回归闭合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594924" y="51206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通过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790700" y="5810250"/>
            <a:ext cx="8610600" cy="502329"/>
            <a:chOff x="1790700" y="5810250"/>
            <a:chExt cx="8610600" cy="502329"/>
          </a:xfrm>
        </p:grpSpPr>
        <p:sp>
          <p:nvSpPr>
            <p:cNvPr id="62" name="Rectangle 62"/>
            <p:cNvSpPr/>
            <p:nvPr/>
          </p:nvSpPr>
          <p:spPr>
            <a:xfrm>
              <a:off x="1790700" y="5810250"/>
              <a:ext cx="8610600" cy="495300"/>
            </a:xfrm>
            <a:prstGeom prst="roundRect">
              <a:avLst>
                <a:gd name="adj" fmla="val 11538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198903" y="5901861"/>
              <a:ext cx="773910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交付不是一组截图，而是一条从需求到回归的可审计证据链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472221" y="6391989"/>
            <a:ext cx="48842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F8EA3"/>
                </a:solidFill>
                <a:latin typeface="Arial"/>
                <a:ea typeface="Microsoft YaHei"/>
                <a:cs typeface="Arial"/>
              </a:rPr>
              <a:t>P13 · basic table adaptation · Source: Agent 系统验收说明文档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4" grpId="0"/>
      <p:bldP spid="33" grpId="0"/>
      <p:bldP spid="41" grpId="0"/>
      <p:bldP spid="47" grpId="0"/>
      <p:bldP spid="55" grpId="0"/>
      <p:bldP spid="61" grpId="0"/>
      <p:bldP spid="6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5070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Freeform 3"/>
            <p:cNvSpPr/>
            <p:nvPr/>
          </p:nvSpPr>
          <p:spPr>
            <a:xfrm>
              <a:off x="762000" y="1428750"/>
              <a:ext cx="10668000" cy="4572000"/>
            </a:xfrm>
            <a:custGeom>
              <a:avLst/>
              <a:gdLst/>
              <a:ahLst/>
              <a:cxnLst/>
              <a:rect l="l" t="t" r="r" b="b"/>
              <a:pathLst>
                <a:path w="10668000" h="4572000">
                  <a:moveTo>
                    <a:pt x="0" y="0"/>
                  </a:moveTo>
                  <a:lnTo>
                    <a:pt x="10668000" y="0"/>
                  </a:lnTo>
                  <a:moveTo>
                    <a:pt x="0" y="1143000"/>
                  </a:moveTo>
                  <a:lnTo>
                    <a:pt x="10668000" y="1143000"/>
                  </a:lnTo>
                  <a:moveTo>
                    <a:pt x="0" y="2286000"/>
                  </a:moveTo>
                  <a:lnTo>
                    <a:pt x="10668000" y="2286000"/>
                  </a:lnTo>
                  <a:moveTo>
                    <a:pt x="0" y="3429000"/>
                  </a:moveTo>
                  <a:lnTo>
                    <a:pt x="10668000" y="3429000"/>
                  </a:lnTo>
                  <a:moveTo>
                    <a:pt x="0" y="4572000"/>
                  </a:moveTo>
                  <a:lnTo>
                    <a:pt x="10668000" y="4572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1C2A3D"/>
              </a:solidFill>
              <a:prstDash val="lg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6096000" y="1409700"/>
              <a:ext cx="9525" cy="4495800"/>
            </a:xfrm>
            <a:custGeom>
              <a:avLst/>
              <a:gdLst/>
              <a:ahLst/>
              <a:cxnLst/>
              <a:rect l="l" t="t" r="r" b="b"/>
              <a:pathLst>
                <a:path w="9525" h="4495800">
                  <a:moveTo>
                    <a:pt x="0" y="0"/>
                  </a:moveTo>
                  <a:lnTo>
                    <a:pt x="0" y="449580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rgbClr val="2A3A52"/>
              </a:solidFill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14350" y="264795"/>
            <a:ext cx="10512209" cy="946594"/>
            <a:chOff x="514350" y="264795"/>
            <a:chExt cx="10512209" cy="946594"/>
          </a:xfrm>
        </p:grpSpPr>
        <p:sp>
          <p:nvSpPr>
            <p:cNvPr id="6" name="TextBox 6"/>
            <p:cNvSpPr txBox="1"/>
            <p:nvPr/>
          </p:nvSpPr>
          <p:spPr>
            <a:xfrm>
              <a:off x="514350" y="264795"/>
              <a:ext cx="10512209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现场演示应先给用户体验，再揭示后台治理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4068" y="888682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最顺的演示路径是先看用户侧，再看运营侧，最后回到架构价值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90600" y="1371600"/>
            <a:ext cx="5353050" cy="895350"/>
            <a:chOff x="990600" y="1371600"/>
            <a:chExt cx="5353050" cy="895350"/>
          </a:xfrm>
        </p:grpSpPr>
        <p:sp>
          <p:nvSpPr>
            <p:cNvPr id="9" name="Ellipse 9"/>
            <p:cNvSpPr/>
            <p:nvPr/>
          </p:nvSpPr>
          <p:spPr>
            <a:xfrm>
              <a:off x="5848350" y="1428750"/>
              <a:ext cx="495300" cy="495300"/>
            </a:xfrm>
            <a:prstGeom prst="ellipse">
              <a:avLst/>
            </a:prstGeom>
            <a:solidFill>
              <a:srgbClr val="7DD3F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46919" y="15678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5070D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90600" y="1371600"/>
              <a:ext cx="4095750" cy="895350"/>
            </a:xfrm>
            <a:prstGeom prst="roundRect">
              <a:avLst>
                <a:gd name="adj" fmla="val 6383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238250" y="1638300"/>
              <a:ext cx="323850" cy="303609"/>
            </a:xfrm>
            <a:custGeom>
              <a:avLst/>
              <a:gdLst/>
              <a:ahLst/>
              <a:cxnLst/>
              <a:rect l="l" t="t" r="r" b="b"/>
              <a:pathLst>
                <a:path w="323850" h="303609">
                  <a:moveTo>
                    <a:pt x="182166" y="0"/>
                  </a:moveTo>
                  <a:lnTo>
                    <a:pt x="182166" y="40481"/>
                  </a:lnTo>
                  <a:lnTo>
                    <a:pt x="263128" y="40481"/>
                  </a:lnTo>
                  <a:lnTo>
                    <a:pt x="323850" y="172045"/>
                  </a:lnTo>
                  <a:lnTo>
                    <a:pt x="263128" y="303609"/>
                  </a:lnTo>
                  <a:lnTo>
                    <a:pt x="60722" y="303609"/>
                  </a:lnTo>
                  <a:lnTo>
                    <a:pt x="0" y="172045"/>
                  </a:lnTo>
                  <a:lnTo>
                    <a:pt x="60722" y="40481"/>
                  </a:lnTo>
                  <a:lnTo>
                    <a:pt x="141684" y="40481"/>
                  </a:lnTo>
                  <a:lnTo>
                    <a:pt x="141684" y="0"/>
                  </a:lnTo>
                  <a:lnTo>
                    <a:pt x="182166" y="0"/>
                  </a:lnTo>
                  <a:close/>
                  <a:moveTo>
                    <a:pt x="93065" y="237593"/>
                  </a:moveTo>
                  <a:lnTo>
                    <a:pt x="161925" y="248186"/>
                  </a:lnTo>
                  <a:lnTo>
                    <a:pt x="230786" y="237593"/>
                  </a:lnTo>
                  <a:lnTo>
                    <a:pt x="224628" y="197581"/>
                  </a:lnTo>
                  <a:lnTo>
                    <a:pt x="161925" y="207228"/>
                  </a:lnTo>
                  <a:lnTo>
                    <a:pt x="99221" y="197581"/>
                  </a:lnTo>
                  <a:lnTo>
                    <a:pt x="93065" y="237593"/>
                  </a:lnTo>
                  <a:close/>
                  <a:moveTo>
                    <a:pt x="141684" y="136624"/>
                  </a:moveTo>
                  <a:cubicBezTo>
                    <a:pt x="141684" y="150598"/>
                    <a:pt x="130357" y="161925"/>
                    <a:pt x="116384" y="161925"/>
                  </a:cubicBezTo>
                  <a:cubicBezTo>
                    <a:pt x="102410" y="161925"/>
                    <a:pt x="91083" y="150598"/>
                    <a:pt x="91083" y="136624"/>
                  </a:cubicBezTo>
                  <a:cubicBezTo>
                    <a:pt x="91083" y="122651"/>
                    <a:pt x="102410" y="111323"/>
                    <a:pt x="116384" y="111323"/>
                  </a:cubicBezTo>
                  <a:cubicBezTo>
                    <a:pt x="130357" y="111323"/>
                    <a:pt x="141684" y="122651"/>
                    <a:pt x="141684" y="136624"/>
                  </a:cubicBezTo>
                  <a:close/>
                  <a:moveTo>
                    <a:pt x="207466" y="161925"/>
                  </a:moveTo>
                  <a:cubicBezTo>
                    <a:pt x="221441" y="161925"/>
                    <a:pt x="232767" y="150598"/>
                    <a:pt x="232767" y="136624"/>
                  </a:cubicBezTo>
                  <a:cubicBezTo>
                    <a:pt x="232767" y="122651"/>
                    <a:pt x="221441" y="111323"/>
                    <a:pt x="207466" y="111323"/>
                  </a:cubicBezTo>
                  <a:cubicBezTo>
                    <a:pt x="193493" y="111323"/>
                    <a:pt x="182166" y="122651"/>
                    <a:pt x="182166" y="136624"/>
                  </a:cubicBezTo>
                  <a:cubicBezTo>
                    <a:pt x="182166" y="150598"/>
                    <a:pt x="193493" y="161925"/>
                    <a:pt x="207466" y="161925"/>
                  </a:cubicBezTo>
                  <a:close/>
                </a:path>
              </a:pathLst>
            </a:custGeom>
            <a:solidFill>
              <a:srgbClr val="7DD3F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84782" y="15640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先讲目标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87830" y="1933575"/>
              <a:ext cx="29457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不是聊天框，是 Agent 工程体系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848350" y="2476500"/>
            <a:ext cx="5560913" cy="1104900"/>
            <a:chOff x="5848350" y="2476500"/>
            <a:chExt cx="5560913" cy="1104900"/>
          </a:xfrm>
        </p:grpSpPr>
        <p:sp>
          <p:nvSpPr>
            <p:cNvPr id="16" name="Ellipse 16"/>
            <p:cNvSpPr/>
            <p:nvPr/>
          </p:nvSpPr>
          <p:spPr>
            <a:xfrm>
              <a:off x="5848350" y="2533650"/>
              <a:ext cx="495300" cy="4953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946919" y="26727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5070D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105650" y="2476500"/>
              <a:ext cx="4095750" cy="1104900"/>
            </a:xfrm>
            <a:prstGeom prst="roundRect">
              <a:avLst>
                <a:gd name="adj" fmla="val 5172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7353300" y="2763441"/>
              <a:ext cx="323850" cy="283368"/>
              <a:chOff x="7353300" y="2763441"/>
              <a:chExt cx="323850" cy="283368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414022" y="2763441"/>
                <a:ext cx="101203" cy="101203"/>
              </a:xfrm>
              <a:custGeom>
                <a:avLst/>
                <a:gdLst/>
                <a:ahLst/>
                <a:cxnLst/>
                <a:rect l="l" t="t" r="r" b="b"/>
                <a:pathLst>
                  <a:path w="101203" h="101203">
                    <a:moveTo>
                      <a:pt x="101203" y="50602"/>
                    </a:moveTo>
                    <a:cubicBezTo>
                      <a:pt x="101203" y="78548"/>
                      <a:pt x="78548" y="101203"/>
                      <a:pt x="50602" y="101203"/>
                    </a:cubicBezTo>
                    <a:cubicBezTo>
                      <a:pt x="22655" y="101203"/>
                      <a:pt x="0" y="78548"/>
                      <a:pt x="0" y="50602"/>
                    </a:cubicBezTo>
                    <a:cubicBezTo>
                      <a:pt x="0" y="22655"/>
                      <a:pt x="22655" y="0"/>
                      <a:pt x="50602" y="0"/>
                    </a:cubicBezTo>
                    <a:cubicBezTo>
                      <a:pt x="78548" y="0"/>
                      <a:pt x="101203" y="22655"/>
                      <a:pt x="101203" y="50602"/>
                    </a:cubicBez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7353300" y="2905125"/>
                <a:ext cx="161925" cy="141684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41684">
                    <a:moveTo>
                      <a:pt x="60722" y="0"/>
                    </a:moveTo>
                    <a:cubicBezTo>
                      <a:pt x="27186" y="0"/>
                      <a:pt x="0" y="27186"/>
                      <a:pt x="0" y="60722"/>
                    </a:cubicBezTo>
                    <a:lnTo>
                      <a:pt x="0" y="141684"/>
                    </a:lnTo>
                    <a:lnTo>
                      <a:pt x="161925" y="141684"/>
                    </a:lnTo>
                    <a:lnTo>
                      <a:pt x="161925" y="0"/>
                    </a:lnTo>
                    <a:lnTo>
                      <a:pt x="60722" y="0"/>
                    </a:ln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7555706" y="2905125"/>
                <a:ext cx="121444" cy="141684"/>
              </a:xfrm>
              <a:custGeom>
                <a:avLst/>
                <a:gdLst/>
                <a:ahLst/>
                <a:cxnLst/>
                <a:rect l="l" t="t" r="r" b="b"/>
                <a:pathLst>
                  <a:path w="121444" h="141684">
                    <a:moveTo>
                      <a:pt x="60722" y="0"/>
                    </a:moveTo>
                    <a:lnTo>
                      <a:pt x="0" y="0"/>
                    </a:lnTo>
                    <a:lnTo>
                      <a:pt x="0" y="141684"/>
                    </a:lnTo>
                    <a:lnTo>
                      <a:pt x="121444" y="141684"/>
                    </a:lnTo>
                    <a:lnTo>
                      <a:pt x="121444" y="60722"/>
                    </a:lnTo>
                    <a:cubicBezTo>
                      <a:pt x="121444" y="27186"/>
                      <a:pt x="94259" y="0"/>
                      <a:pt x="60722" y="0"/>
                    </a:cubicBez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7555706" y="2783681"/>
                <a:ext cx="80962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80962">
                    <a:moveTo>
                      <a:pt x="40481" y="80962"/>
                    </a:moveTo>
                    <a:cubicBezTo>
                      <a:pt x="62839" y="80962"/>
                      <a:pt x="80962" y="62838"/>
                      <a:pt x="80962" y="40481"/>
                    </a:cubicBezTo>
                    <a:cubicBezTo>
                      <a:pt x="80962" y="18124"/>
                      <a:pt x="62839" y="0"/>
                      <a:pt x="40481" y="0"/>
                    </a:cubicBezTo>
                    <a:cubicBezTo>
                      <a:pt x="18123" y="0"/>
                      <a:pt x="0" y="18124"/>
                      <a:pt x="0" y="40481"/>
                    </a:cubicBezTo>
                    <a:cubicBezTo>
                      <a:pt x="0" y="62838"/>
                      <a:pt x="18123" y="80962"/>
                      <a:pt x="40481" y="80962"/>
                    </a:cubicBez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7799832" y="266890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展示用户侧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53300" y="3190256"/>
              <a:ext cx="40559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主对话页、Persona、结构化卡片、快捷工具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90600" y="3752850"/>
            <a:ext cx="5353050" cy="1104900"/>
            <a:chOff x="990600" y="3752850"/>
            <a:chExt cx="5353050" cy="1104900"/>
          </a:xfrm>
        </p:grpSpPr>
        <p:sp>
          <p:nvSpPr>
            <p:cNvPr id="27" name="Ellipse 27"/>
            <p:cNvSpPr/>
            <p:nvPr/>
          </p:nvSpPr>
          <p:spPr>
            <a:xfrm>
              <a:off x="5848350" y="3810000"/>
              <a:ext cx="495300" cy="495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946919" y="39490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5070D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90600" y="3752850"/>
              <a:ext cx="4095750" cy="1104900"/>
            </a:xfrm>
            <a:prstGeom prst="roundRect">
              <a:avLst>
                <a:gd name="adj" fmla="val 5172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1258491" y="4039791"/>
              <a:ext cx="283369" cy="283369"/>
              <a:chOff x="1258491" y="4039791"/>
              <a:chExt cx="283369" cy="283369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1258491" y="4039791"/>
                <a:ext cx="283369" cy="283369"/>
              </a:xfrm>
              <a:custGeom>
                <a:avLst/>
                <a:gdLst/>
                <a:ahLst/>
                <a:cxnLst/>
                <a:rect l="l" t="t" r="r" b="b"/>
                <a:pathLst>
                  <a:path w="283369" h="283369">
                    <a:moveTo>
                      <a:pt x="0" y="0"/>
                    </a:moveTo>
                    <a:lnTo>
                      <a:pt x="0" y="283369"/>
                    </a:lnTo>
                    <a:lnTo>
                      <a:pt x="283369" y="283369"/>
                    </a:lnTo>
                    <a:lnTo>
                      <a:pt x="283369" y="242888"/>
                    </a:lnTo>
                    <a:lnTo>
                      <a:pt x="40481" y="242888"/>
                    </a:lnTo>
                    <a:lnTo>
                      <a:pt x="4048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Freeform 31"/>
              <p:cNvSpPr/>
              <p:nvPr/>
            </p:nvSpPr>
            <p:spPr>
              <a:xfrm>
                <a:off x="1339453" y="4080272"/>
                <a:ext cx="202406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02406" h="161925">
                    <a:moveTo>
                      <a:pt x="0" y="80962"/>
                    </a:moveTo>
                    <a:lnTo>
                      <a:pt x="40481" y="40481"/>
                    </a:lnTo>
                    <a:lnTo>
                      <a:pt x="101203" y="101203"/>
                    </a:lnTo>
                    <a:lnTo>
                      <a:pt x="202406" y="0"/>
                    </a:lnTo>
                    <a:lnTo>
                      <a:pt x="202406" y="161925"/>
                    </a:lnTo>
                    <a:lnTo>
                      <a:pt x="0" y="161925"/>
                    </a:lnTo>
                    <a:lnTo>
                      <a:pt x="0" y="80962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1684782" y="39452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再看运营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232916" y="4484370"/>
              <a:ext cx="4101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反馈闭环、监控面板、任务详情、MCP 健康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848350" y="5029200"/>
            <a:ext cx="5381237" cy="1104900"/>
            <a:chOff x="5848350" y="5029200"/>
            <a:chExt cx="5381237" cy="1104900"/>
          </a:xfrm>
        </p:grpSpPr>
        <p:sp>
          <p:nvSpPr>
            <p:cNvPr id="36" name="Ellipse 36"/>
            <p:cNvSpPr/>
            <p:nvPr/>
          </p:nvSpPr>
          <p:spPr>
            <a:xfrm>
              <a:off x="5848350" y="5086350"/>
              <a:ext cx="495300" cy="4953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946919" y="52254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5070D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105650" y="5029200"/>
              <a:ext cx="4095750" cy="1104900"/>
            </a:xfrm>
            <a:prstGeom prst="roundRect">
              <a:avLst>
                <a:gd name="adj" fmla="val 5172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7373541" y="5295900"/>
              <a:ext cx="283369" cy="323850"/>
              <a:chOff x="7373541" y="5295900"/>
              <a:chExt cx="283369" cy="32385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73541" y="5295900"/>
                <a:ext cx="283369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83369" h="161925">
                    <a:moveTo>
                      <a:pt x="0" y="101203"/>
                    </a:moveTo>
                    <a:lnTo>
                      <a:pt x="0" y="60722"/>
                    </a:lnTo>
                    <a:lnTo>
                      <a:pt x="141684" y="0"/>
                    </a:lnTo>
                    <a:lnTo>
                      <a:pt x="283369" y="60722"/>
                    </a:lnTo>
                    <a:lnTo>
                      <a:pt x="283369" y="101203"/>
                    </a:lnTo>
                    <a:lnTo>
                      <a:pt x="141684" y="161925"/>
                    </a:lnTo>
                    <a:lnTo>
                      <a:pt x="0" y="101203"/>
                    </a:ln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Freeform 40"/>
              <p:cNvSpPr/>
              <p:nvPr/>
            </p:nvSpPr>
            <p:spPr>
              <a:xfrm>
                <a:off x="7373541" y="5518547"/>
                <a:ext cx="283369" cy="101203"/>
              </a:xfrm>
              <a:custGeom>
                <a:avLst/>
                <a:gdLst/>
                <a:ahLst/>
                <a:cxnLst/>
                <a:rect l="l" t="t" r="r" b="b"/>
                <a:pathLst>
                  <a:path w="283369" h="101203">
                    <a:moveTo>
                      <a:pt x="141684" y="101203"/>
                    </a:moveTo>
                    <a:lnTo>
                      <a:pt x="0" y="40481"/>
                    </a:lnTo>
                    <a:lnTo>
                      <a:pt x="0" y="0"/>
                    </a:lnTo>
                    <a:lnTo>
                      <a:pt x="141684" y="60722"/>
                    </a:lnTo>
                    <a:lnTo>
                      <a:pt x="283369" y="0"/>
                    </a:lnTo>
                    <a:lnTo>
                      <a:pt x="283369" y="40481"/>
                    </a:lnTo>
                    <a:lnTo>
                      <a:pt x="141684" y="101203"/>
                    </a:ln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Freeform 41"/>
              <p:cNvSpPr/>
              <p:nvPr/>
            </p:nvSpPr>
            <p:spPr>
              <a:xfrm>
                <a:off x="7373541" y="5437584"/>
                <a:ext cx="283369" cy="101203"/>
              </a:xfrm>
              <a:custGeom>
                <a:avLst/>
                <a:gdLst/>
                <a:ahLst/>
                <a:cxnLst/>
                <a:rect l="l" t="t" r="r" b="b"/>
                <a:pathLst>
                  <a:path w="283369" h="101203">
                    <a:moveTo>
                      <a:pt x="0" y="40481"/>
                    </a:moveTo>
                    <a:lnTo>
                      <a:pt x="141684" y="101203"/>
                    </a:lnTo>
                    <a:lnTo>
                      <a:pt x="283369" y="40481"/>
                    </a:lnTo>
                    <a:lnTo>
                      <a:pt x="283369" y="0"/>
                    </a:lnTo>
                    <a:lnTo>
                      <a:pt x="141684" y="60722"/>
                    </a:lnTo>
                    <a:lnTo>
                      <a:pt x="0" y="0"/>
                    </a:lnTo>
                    <a:lnTo>
                      <a:pt x="0" y="40481"/>
                    </a:ln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7799832" y="522160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回到架构价值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02880" y="5610225"/>
              <a:ext cx="3426707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Planner、BaseTool、HITL、Supervisor </a:t>
              </a:r>
              <a:endParaRPr lang="en-US" altLang="zh-CN" sz="1500" dirty="0">
                <a:solidFill>
                  <a:srgbClr val="B6C2D2"/>
                </a:solidFill>
                <a:latin typeface="Arial"/>
                <a:ea typeface="Microsoft YaHei"/>
                <a:cs typeface="Arial"/>
              </a:endParaRPr>
            </a:p>
            <a:p>
              <a:pPr algn="l"/>
              <a:r>
                <a:rPr lang="zh-CN" sz="150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说明为什么可持续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2953175" y="6290310"/>
            <a:ext cx="6285650" cy="234696"/>
            <a:chOff x="2953175" y="6290310"/>
            <a:chExt cx="6285650" cy="234696"/>
          </a:xfrm>
        </p:grpSpPr>
        <p:sp>
          <p:nvSpPr>
            <p:cNvPr id="46" name="TextBox 46"/>
            <p:cNvSpPr txBox="1"/>
            <p:nvPr/>
          </p:nvSpPr>
          <p:spPr>
            <a:xfrm>
              <a:off x="2953175" y="6290310"/>
              <a:ext cx="6285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F8EA3"/>
                  </a:solidFill>
                  <a:latin typeface="Arial"/>
                  <a:ea typeface="Microsoft YaHei"/>
                  <a:cs typeface="Arial"/>
                </a:rPr>
                <a:t>P14 · roadmap vertical adaptation · 建议演示节奏：体验先行、治理随后、架构收口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6" grpId="0"/>
      <p:bldP spid="35" grpId="0"/>
      <p:bldP spid="45" grpId="0"/>
      <p:bldP spid="4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5070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3"/>
            <a:srcRect t="27" b="2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5070D">
                    <a:alpha val="96000"/>
                  </a:srgbClr>
                </a:gs>
                <a:gs pos="62000">
                  <a:srgbClr val="05070D">
                    <a:alpha val="78000"/>
                  </a:srgbClr>
                </a:gs>
                <a:gs pos="100000">
                  <a:srgbClr val="05070D">
                    <a:alpha val="34000"/>
                  </a:srgb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685800" y="685800"/>
              <a:ext cx="10648950" cy="5486400"/>
            </a:xfrm>
            <a:custGeom>
              <a:avLst/>
              <a:gdLst/>
              <a:ahLst/>
              <a:cxnLst/>
              <a:rect l="l" t="t" r="r" b="b"/>
              <a:pathLst>
                <a:path w="10648950" h="5486400">
                  <a:moveTo>
                    <a:pt x="0" y="304800"/>
                  </a:moveTo>
                  <a:lnTo>
                    <a:pt x="10648950" y="304800"/>
                  </a:lnTo>
                  <a:moveTo>
                    <a:pt x="0" y="5181600"/>
                  </a:moveTo>
                  <a:lnTo>
                    <a:pt x="10648950" y="5181600"/>
                  </a:lnTo>
                  <a:moveTo>
                    <a:pt x="304800" y="0"/>
                  </a:moveTo>
                  <a:lnTo>
                    <a:pt x="304800" y="5486400"/>
                  </a:lnTo>
                  <a:moveTo>
                    <a:pt x="10515600" y="0"/>
                  </a:moveTo>
                  <a:lnTo>
                    <a:pt x="10515600" y="54864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1C2A3D"/>
              </a:solidFill>
              <a:prstDash val="lgDash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04850" y="626745"/>
            <a:ext cx="11063478" cy="1022794"/>
            <a:chOff x="704850" y="626745"/>
            <a:chExt cx="11063478" cy="1022794"/>
          </a:xfrm>
        </p:grpSpPr>
        <p:sp>
          <p:nvSpPr>
            <p:cNvPr id="7" name="TextBox 7"/>
            <p:cNvSpPr txBox="1"/>
            <p:nvPr/>
          </p:nvSpPr>
          <p:spPr>
            <a:xfrm>
              <a:off x="704850" y="626745"/>
              <a:ext cx="11063478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最小闭环已经闭上，下一步重点是治理复杂度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34568" y="1326832"/>
              <a:ext cx="71247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后续优化不应只横向加功能，应提升能力治理、冷启动、观测和回归效率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68096" y="2429828"/>
            <a:ext cx="9178602" cy="2115311"/>
            <a:chOff x="768096" y="2429828"/>
            <a:chExt cx="9178602" cy="2115311"/>
          </a:xfrm>
        </p:grpSpPr>
        <p:sp>
          <p:nvSpPr>
            <p:cNvPr id="10" name="TextBox 10"/>
            <p:cNvSpPr txBox="1"/>
            <p:nvPr/>
          </p:nvSpPr>
          <p:spPr>
            <a:xfrm>
              <a:off x="768096" y="2429828"/>
              <a:ext cx="917860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G_agent = Catalog + Startup + Observe + Regression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800100" y="3009900"/>
              <a:ext cx="8324850" cy="9525"/>
            </a:xfrm>
            <a:custGeom>
              <a:avLst/>
              <a:gdLst/>
              <a:ahLst/>
              <a:cxnLst/>
              <a:rect l="l" t="t" r="r" b="b"/>
              <a:pathLst>
                <a:path w="8324850" h="9525">
                  <a:moveTo>
                    <a:pt x="0" y="0"/>
                  </a:moveTo>
                  <a:lnTo>
                    <a:pt x="832485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7DD3FC"/>
              </a:solidFill>
              <a:prstDash val="lg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7146" y="3287078"/>
              <a:ext cx="79556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治理的目标不是让功能更多，是让复杂度可被管理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1718" y="3879532"/>
              <a:ext cx="6931914" cy="6656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当前系统已经把能力、协议、体验和观测收口下一步要让能力目录、卡片协议、测试数据和监控面板继续沉淀成长期资产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77710" y="5067300"/>
            <a:ext cx="9275940" cy="735139"/>
            <a:chOff x="877710" y="5067300"/>
            <a:chExt cx="9275940" cy="735139"/>
          </a:xfrm>
        </p:grpSpPr>
        <p:sp>
          <p:nvSpPr>
            <p:cNvPr id="15" name="Freeform 15"/>
            <p:cNvSpPr/>
            <p:nvPr/>
          </p:nvSpPr>
          <p:spPr>
            <a:xfrm>
              <a:off x="895350" y="5219700"/>
              <a:ext cx="9258300" cy="9525"/>
            </a:xfrm>
            <a:custGeom>
              <a:avLst/>
              <a:gdLst/>
              <a:ahLst/>
              <a:cxnLst/>
              <a:rect l="l" t="t" r="r" b="b"/>
              <a:pathLst>
                <a:path w="9258300" h="9525">
                  <a:moveTo>
                    <a:pt x="0" y="0"/>
                  </a:moveTo>
                  <a:lnTo>
                    <a:pt x="92583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Ellipse 16"/>
            <p:cNvSpPr/>
            <p:nvPr/>
          </p:nvSpPr>
          <p:spPr>
            <a:xfrm>
              <a:off x="1200150" y="5067300"/>
              <a:ext cx="304800" cy="304800"/>
            </a:xfrm>
            <a:prstGeom prst="ellipse">
              <a:avLst/>
            </a:prstGeom>
            <a:solidFill>
              <a:srgbClr val="7DD3F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7710" y="54797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能力目录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3924300" y="5067300"/>
              <a:ext cx="304800" cy="3048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01860" y="54797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卡片扩展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6648450" y="5067300"/>
              <a:ext cx="304800" cy="3048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26010" y="54797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测试沉淀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9372600" y="5067300"/>
              <a:ext cx="304800" cy="3048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50160" y="54797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辅助决策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620250" y="2095500"/>
            <a:ext cx="1581150" cy="2590800"/>
            <a:chOff x="9620250" y="2095500"/>
            <a:chExt cx="1581150" cy="2590800"/>
          </a:xfrm>
        </p:grpSpPr>
        <p:sp>
          <p:nvSpPr>
            <p:cNvPr id="25" name="Freeform 25"/>
            <p:cNvSpPr/>
            <p:nvPr/>
          </p:nvSpPr>
          <p:spPr>
            <a:xfrm>
              <a:off x="9620250" y="2095500"/>
              <a:ext cx="1581150" cy="2590800"/>
            </a:xfrm>
            <a:custGeom>
              <a:avLst/>
              <a:gdLst/>
              <a:ahLst/>
              <a:cxnLst/>
              <a:rect l="l" t="t" r="r" b="b"/>
              <a:pathLst>
                <a:path w="1581150" h="2590800">
                  <a:moveTo>
                    <a:pt x="0" y="0"/>
                  </a:moveTo>
                  <a:lnTo>
                    <a:pt x="1581150" y="0"/>
                  </a:lnTo>
                  <a:lnTo>
                    <a:pt x="1581150" y="2076450"/>
                  </a:lnTo>
                  <a:lnTo>
                    <a:pt x="762000" y="2590800"/>
                  </a:lnTo>
                  <a:lnTo>
                    <a:pt x="0" y="2076450"/>
                  </a:lnTo>
                  <a:close/>
                </a:path>
              </a:pathLst>
            </a:cu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10232231" y="2457450"/>
              <a:ext cx="357188" cy="476250"/>
            </a:xfrm>
            <a:custGeom>
              <a:avLst/>
              <a:gdLst/>
              <a:ahLst/>
              <a:cxnLst/>
              <a:rect l="l" t="t" r="r" b="b"/>
              <a:pathLst>
                <a:path w="357188" h="476250">
                  <a:moveTo>
                    <a:pt x="208359" y="208359"/>
                  </a:moveTo>
                  <a:lnTo>
                    <a:pt x="238125" y="0"/>
                  </a:lnTo>
                  <a:lnTo>
                    <a:pt x="178594" y="0"/>
                  </a:lnTo>
                  <a:lnTo>
                    <a:pt x="0" y="208359"/>
                  </a:lnTo>
                  <a:lnTo>
                    <a:pt x="0" y="267891"/>
                  </a:lnTo>
                  <a:lnTo>
                    <a:pt x="148828" y="267891"/>
                  </a:lnTo>
                  <a:lnTo>
                    <a:pt x="119062" y="476250"/>
                  </a:lnTo>
                  <a:lnTo>
                    <a:pt x="178594" y="476250"/>
                  </a:lnTo>
                  <a:lnTo>
                    <a:pt x="357188" y="267891"/>
                  </a:lnTo>
                  <a:lnTo>
                    <a:pt x="357188" y="208359"/>
                  </a:lnTo>
                  <a:lnTo>
                    <a:pt x="208359" y="208359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763316" y="3090862"/>
              <a:ext cx="129501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下一阶段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47136" y="35556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从定位问题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736074" y="38604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走向辅助决策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717804" y="6309360"/>
            <a:ext cx="369182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7F8EA3"/>
                </a:solidFill>
                <a:latin typeface="Arial"/>
                <a:ea typeface="Arial"/>
                <a:cs typeface="Arial"/>
              </a:rPr>
              <a:t>P15 · breathing page · Formula + roadmap split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24" grpId="0"/>
      <p:bldP spid="3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5070D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3"/>
            <a:srcRect t="27" b="2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5070D">
                    <a:alpha val="92000"/>
                  </a:srgbClr>
                </a:gs>
                <a:gs pos="54000">
                  <a:srgbClr val="05070D">
                    <a:alpha val="62000"/>
                  </a:srgbClr>
                </a:gs>
                <a:gs pos="100000">
                  <a:srgbClr val="05070D">
                    <a:alpha val="18000"/>
                  </a:srgb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571500" y="457200"/>
              <a:ext cx="10953750" cy="5943600"/>
            </a:xfrm>
            <a:custGeom>
              <a:avLst/>
              <a:gdLst/>
              <a:ahLst/>
              <a:cxnLst/>
              <a:rect l="l" t="t" r="r" b="b"/>
              <a:pathLst>
                <a:path w="10953750" h="5943600">
                  <a:moveTo>
                    <a:pt x="0" y="361950"/>
                  </a:moveTo>
                  <a:lnTo>
                    <a:pt x="10953750" y="361950"/>
                  </a:lnTo>
                  <a:moveTo>
                    <a:pt x="0" y="5600700"/>
                  </a:moveTo>
                  <a:lnTo>
                    <a:pt x="10953750" y="5600700"/>
                  </a:lnTo>
                  <a:moveTo>
                    <a:pt x="361950" y="0"/>
                  </a:moveTo>
                  <a:lnTo>
                    <a:pt x="361950" y="5943600"/>
                  </a:lnTo>
                  <a:moveTo>
                    <a:pt x="10687050" y="0"/>
                  </a:moveTo>
                  <a:lnTo>
                    <a:pt x="10687050" y="59436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1C2A3D"/>
              </a:solidFill>
              <a:prstDash val="lgDash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23900" y="1340168"/>
            <a:ext cx="9849326" cy="2422207"/>
            <a:chOff x="723900" y="1340168"/>
            <a:chExt cx="9849326" cy="2422207"/>
          </a:xfrm>
        </p:grpSpPr>
        <p:sp>
          <p:nvSpPr>
            <p:cNvPr id="7" name="TextBox 7"/>
            <p:cNvSpPr txBox="1"/>
            <p:nvPr/>
          </p:nvSpPr>
          <p:spPr>
            <a:xfrm>
              <a:off x="755142" y="1340168"/>
              <a:ext cx="58747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spc="150" dirty="0">
                  <a:solidFill>
                    <a:srgbClr val="7DD3FC"/>
                  </a:solidFill>
                  <a:latin typeface="Consolas"/>
                  <a:ea typeface="Consolas"/>
                  <a:cs typeface="Consolas"/>
                </a:rPr>
                <a:t>FINAL TAKEAWAY · FROM DEMO TO ENGINEERING SYSTEM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23900" y="2162175"/>
              <a:ext cx="9849326" cy="1600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5700"/>
                </a:lnSpc>
              </a:pPr>
              <a:r>
                <a:rPr lang="zh-CN" sz="45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我们做的不是一个会聊天的功能，</a:t>
              </a:r>
              <a:r>
                <a:rPr lang="zh-CN" sz="4500" b="1" dirty="0">
                  <a:solidFill>
                    <a:srgbClr val="7DD3FC"/>
                  </a:solidFill>
                  <a:latin typeface="Arial"/>
                  <a:ea typeface="Microsoft YaHei"/>
                  <a:cs typeface="Arial"/>
                </a:rPr>
                <a:t>而是一套能长期运行的 Agent 子系统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06260" y="4000500"/>
            <a:ext cx="8818740" cy="716089"/>
            <a:chOff x="706260" y="4000500"/>
            <a:chExt cx="8818740" cy="716089"/>
          </a:xfrm>
        </p:grpSpPr>
        <p:sp>
          <p:nvSpPr>
            <p:cNvPr id="10" name="Freeform 10"/>
            <p:cNvSpPr/>
            <p:nvPr/>
          </p:nvSpPr>
          <p:spPr>
            <a:xfrm>
              <a:off x="800100" y="4095750"/>
              <a:ext cx="8724900" cy="9525"/>
            </a:xfrm>
            <a:custGeom>
              <a:avLst/>
              <a:gdLst/>
              <a:ahLst/>
              <a:cxnLst/>
              <a:rect l="l" t="t" r="r" b="b"/>
              <a:pathLst>
                <a:path w="8724900" h="9525">
                  <a:moveTo>
                    <a:pt x="0" y="0"/>
                  </a:moveTo>
                  <a:lnTo>
                    <a:pt x="87249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7DD3FC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Ellipse 11"/>
            <p:cNvSpPr/>
            <p:nvPr/>
          </p:nvSpPr>
          <p:spPr>
            <a:xfrm>
              <a:off x="1085850" y="4000500"/>
              <a:ext cx="190500" cy="1905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Ellipse 12"/>
            <p:cNvSpPr/>
            <p:nvPr/>
          </p:nvSpPr>
          <p:spPr>
            <a:xfrm>
              <a:off x="3143250" y="4000500"/>
              <a:ext cx="190500" cy="1905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Ellipse 13"/>
            <p:cNvSpPr/>
            <p:nvPr/>
          </p:nvSpPr>
          <p:spPr>
            <a:xfrm>
              <a:off x="5200650" y="4000500"/>
              <a:ext cx="190500" cy="1905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Ellipse 14"/>
            <p:cNvSpPr/>
            <p:nvPr/>
          </p:nvSpPr>
          <p:spPr>
            <a:xfrm>
              <a:off x="7258050" y="4000500"/>
              <a:ext cx="190500" cy="190500"/>
            </a:xfrm>
            <a:prstGeom prst="ellipse">
              <a:avLst/>
            </a:prstGeom>
            <a:solidFill>
              <a:srgbClr val="7DD3F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6260" y="43938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长期运行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763660" y="43938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持续扩展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821060" y="43938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风险治理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78460" y="43938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回归验证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81050" y="5048250"/>
            <a:ext cx="7931782" cy="811339"/>
            <a:chOff x="781050" y="5048250"/>
            <a:chExt cx="7931782" cy="811339"/>
          </a:xfrm>
        </p:grpSpPr>
        <p:sp>
          <p:nvSpPr>
            <p:cNvPr id="20" name="Rectangle 20"/>
            <p:cNvSpPr/>
            <p:nvPr/>
          </p:nvSpPr>
          <p:spPr>
            <a:xfrm>
              <a:off x="781050" y="5048250"/>
              <a:ext cx="7429500" cy="800100"/>
            </a:xfrm>
            <a:prstGeom prst="roundRect">
              <a:avLst>
                <a:gd name="adj" fmla="val 7143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56894" y="51806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验收结论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55081" y="5536882"/>
              <a:ext cx="77577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6C2D2"/>
                  </a:solidFill>
                  <a:latin typeface="Arial"/>
                  <a:ea typeface="Microsoft YaHei"/>
                  <a:cs typeface="Arial"/>
                </a:rPr>
                <a:t>v1.0 - v2.3 已形成可控、可维护、可扩展、可观测、可回归的工程化落地能力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715500" y="4914900"/>
            <a:ext cx="1162050" cy="1166051"/>
            <a:chOff x="9715500" y="4914900"/>
            <a:chExt cx="1162050" cy="1166051"/>
          </a:xfrm>
        </p:grpSpPr>
        <p:sp>
          <p:nvSpPr>
            <p:cNvPr id="24" name="Rectangle 24"/>
            <p:cNvSpPr/>
            <p:nvPr/>
          </p:nvSpPr>
          <p:spPr>
            <a:xfrm>
              <a:off x="9715500" y="4914900"/>
              <a:ext cx="1162050" cy="1162050"/>
            </a:xfrm>
            <a:prstGeom prst="roundRect">
              <a:avLst>
                <a:gd name="adj" fmla="val 4918"/>
              </a:avLst>
            </a:prstGeom>
            <a:solidFill>
              <a:srgbClr val="111827"/>
            </a:solidFill>
            <a:ln w="9525">
              <a:solidFill>
                <a:srgbClr val="2A3A5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9982200" y="5181600"/>
              <a:ext cx="628650" cy="628650"/>
            </a:xfrm>
            <a:custGeom>
              <a:avLst/>
              <a:gdLst/>
              <a:ahLst/>
              <a:cxnLst/>
              <a:rect l="l" t="t" r="r" b="b"/>
              <a:pathLst>
                <a:path w="628650" h="628650">
                  <a:moveTo>
                    <a:pt x="314325" y="628650"/>
                  </a:moveTo>
                  <a:cubicBezTo>
                    <a:pt x="487923" y="628650"/>
                    <a:pt x="628650" y="487923"/>
                    <a:pt x="628650" y="314325"/>
                  </a:cubicBezTo>
                  <a:cubicBezTo>
                    <a:pt x="628650" y="140728"/>
                    <a:pt x="487923" y="0"/>
                    <a:pt x="314325" y="0"/>
                  </a:cubicBezTo>
                  <a:cubicBezTo>
                    <a:pt x="140728" y="0"/>
                    <a:pt x="0" y="140728"/>
                    <a:pt x="0" y="314325"/>
                  </a:cubicBezTo>
                  <a:cubicBezTo>
                    <a:pt x="0" y="487923"/>
                    <a:pt x="140728" y="628650"/>
                    <a:pt x="314325" y="628650"/>
                  </a:cubicBezTo>
                  <a:close/>
                  <a:moveTo>
                    <a:pt x="499270" y="224236"/>
                  </a:moveTo>
                  <a:lnTo>
                    <a:pt x="443705" y="168670"/>
                  </a:lnTo>
                  <a:lnTo>
                    <a:pt x="255389" y="356986"/>
                  </a:lnTo>
                  <a:lnTo>
                    <a:pt x="184945" y="286542"/>
                  </a:lnTo>
                  <a:lnTo>
                    <a:pt x="129380" y="342108"/>
                  </a:lnTo>
                  <a:lnTo>
                    <a:pt x="255389" y="468116"/>
                  </a:lnTo>
                  <a:lnTo>
                    <a:pt x="499270" y="224236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867214" y="5816918"/>
              <a:ext cx="858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ACCEPTED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755904" y="6347460"/>
            <a:ext cx="43222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F8EA3"/>
                </a:solidFill>
                <a:latin typeface="Arial"/>
                <a:ea typeface="Microsoft YaHei"/>
                <a:cs typeface="Arial"/>
              </a:rPr>
              <a:t>Source: Agent 系统介绍演讲稿 + Agent 系统验收说明文档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9" grpId="0"/>
      <p:bldP spid="23" grpId="0"/>
      <p:bldP spid="2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2585</Words>
  <Application>Microsoft Office PowerPoint</Application>
  <PresentationFormat>宽屏</PresentationFormat>
  <Paragraphs>308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Windows</cp:lastModifiedBy>
  <cp:revision>2</cp:revision>
  <dcterms:created xsi:type="dcterms:W3CDTF">2026-06-30T10:00:12Z</dcterms:created>
  <dcterms:modified xsi:type="dcterms:W3CDTF">2026-06-30T10:10:54Z</dcterms:modified>
  <cp:category/>
  <cp:contentStatus/>
  <dc:language/>
</cp:coreProperties>
</file>