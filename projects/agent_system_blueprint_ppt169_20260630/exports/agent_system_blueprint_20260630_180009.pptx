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各位老师好，今天汇报的不是一个会聊天的功能，而是一套嵌入学生管理系统的 Agent 工程化子系统。它从 v1.0 MVP 演进到 v2.3，核心变化是从单点能力走向可控、可扩展、可观测、可回归的长期运行体系。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先给结论：当前交付已经从功能点升级为工程能力矩阵。系统沉淀了 11 类意图、8 个业务工具、3 个 Persona、3 类结构化卡片，并且有验收、测试和回归证据支撑这些能力不是孤立演示。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 Agent 的价值不只看功能数量，而要看四个可验证维度：可控、可扩展、可观测、可回归。Planner、Executor 和 HITL 提供控制力，BaseTool 和卡片协议提供扩展力，AgentTask 与反馈面板提供观测力，UI 回归和 Playwright 提供回归能力。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架构上最重要的判断，是把 `agent_system` 做成独立子系统，而不是侵入原有学生、成绩、班级和就业模块。这样 Agent 能持续迭代，但原业务主干仍保持边界清晰，降低了后续改造的风险。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系统没有让大模型自由拍板调用工具，而是让意图分类、计划生成和注册表驱动执行。这样做的目的，是把“不调用、调错、重复调用”这三类风险收敛到确定链路里，让每一步都可以追踪和降级。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也不是简单接入向量库，而是一条问答质量工程链。它从入库切片、混合召回、CrossEncoder 精排，到 small-to-big 上下文扩展、来源引用和资料不足拒答，都是围绕“答得准，也知道什么时候不能乱答”来设计的。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v2.0 的真正转折不是新增几个工具，而是统一底座。BaseTool、ToolContext、工具注册表和 PlanStep 链式执行，让后续天气、邮件、通勤、周边服务以及 Supervisor 协作都能用同一种方式接入。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v1.0 到 v2.3，系统经历的是一条从可运行到可运营的路线。v1.0 先跑通最小闭环，v2.0 统一底座，v2.1 建立反馈和监控，v2.2 补长期可用能力，v2.3 则把体验、监控和协作进一步收口。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验收结论可以直接给出：21 项验收条目全部通过，通过率为百分之百。这里的通过不是只看演示效果，而是把必须完成、推荐完成、可选扩展和非功能要求都放进同一张证据表里核对。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非功能验收说明，这不是一次性 Demo。稳定性来自独立边界和降级策略，可维护性来自分层目录和独立模型，可扩展性来自统一工具契约，安全性来自权限、白名单和 HITL，用户体验则由流式回复、全局入口和结构化卡片共同支撑。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系统好不好用，不靠主观感觉，而要看任务、反馈、监控和健康状态。AgentTask 记录任务链路，AgentFeedback 收集用户评价，Provider、意图、工具和 MCP 健康状态让问题能从指标回到具体链路。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Supervisor 的价值在于证明多 Agent 协作已经跨域跑通，但它没有急着做大而全的平台。当前用路线规划加邮件通知作为最小闭环，让 Supervisor 负责拆解和汇总，MapAgent 与通信 Agent 复用已有工具，邮件发送前仍由 HITL 兜住风险。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交付物不是一组截图，而是一条可以复查的证据链。需求与迭代文档说明范围，模型和接口说明系统边界，测试文档和协议规范说明能力可以被重复验证和继续扩展。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现场演示建议先从用户体验进入，再切到后台治理，最后回到架构价值。这样观众先看到系统能解决什么问题，再看到为什么它不是偶然能跑通，最后理解 Planner、BaseTool、HITL 和 Supervisor 的工程意义。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当前最小闭环已经闭上，后续重点不应只是继续横向加功能，而是治理复杂度。下一阶段建议继续完善能力目录、扩展结构化卡片、沉淀可复用测试数据，并把监控面板从定位问题推进到辅助决策。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回到最后一句话，我们做的不是一个会聊天的功能，而是一套能在真实业务系统里长期运行、持续扩展，并且可以被管理和优化的 Agent 子系统。它已经具备长期运行、风险治理、观测运维和回归验证的工程化落地能力。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f1464a5c82d4453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77ad635170420ef.jpg"/>
  <Relationship Id="rId3" Type="http://schemas.openxmlformats.org/officeDocument/2006/relationships/image" Target="../media/image_04bb4896db6148d8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b2720c6a0ac7ca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dc2dadf852197e3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77ad635170420ef.jp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ff6f79349fe1c78.jp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70D">
                    <a:alpha val="96000"/>
                  </a:srgbClr>
                </a:gs>
                <a:gs pos="55000">
                  <a:srgbClr val="05070D">
                    <a:alpha val="64000"/>
                  </a:srgbClr>
                </a:gs>
                <a:gs pos="100000">
                  <a:srgbClr val="05070D">
                    <a:alpha val="18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533400" y="381000"/>
              <a:ext cx="10896600" cy="6096000"/>
            </a:xfrm>
            <a:custGeom>
              <a:avLst/>
              <a:gdLst/>
              <a:ahLst/>
              <a:cxnLst/>
              <a:rect l="l" t="t" r="r" b="b"/>
              <a:pathLst>
                <a:path w="10896600" h="6096000">
                  <a:moveTo>
                    <a:pt x="0" y="381000"/>
                  </a:moveTo>
                  <a:lnTo>
                    <a:pt x="10706100" y="381000"/>
                  </a:lnTo>
                  <a:moveTo>
                    <a:pt x="0" y="5715000"/>
                  </a:moveTo>
                  <a:lnTo>
                    <a:pt x="10706100" y="5715000"/>
                  </a:lnTo>
                  <a:moveTo>
                    <a:pt x="381000" y="0"/>
                  </a:moveTo>
                  <a:lnTo>
                    <a:pt x="381000" y="6096000"/>
                  </a:lnTo>
                  <a:moveTo>
                    <a:pt x="10896600" y="0"/>
                  </a:moveTo>
                  <a:lnTo>
                    <a:pt x="10896600" y="6096000"/>
                  </a:lnTo>
                </a:path>
              </a:pathLst>
            </a:custGeom>
            <a:noFill/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66750" y="1168718"/>
            <a:ext cx="9981728" cy="4245863"/>
            <a:chOff x="666750" y="1168718"/>
            <a:chExt cx="9981728" cy="4245863"/>
          </a:xfrm>
        </p:grpSpPr>
        <p:sp>
          <p:nvSpPr>
            <p:cNvPr id="7" name="TextBox 7"/>
            <p:cNvSpPr txBox="1"/>
            <p:nvPr/>
          </p:nvSpPr>
          <p:spPr>
            <a:xfrm>
              <a:off x="697992" y="1168718"/>
              <a:ext cx="486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AGENT SYSTEM BLUEPRINT · v1.0 MVP -&gt; v2.3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1717358"/>
              <a:ext cx="4999720" cy="2943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900"/>
                </a:lnSpc>
              </a:pPr>
              <a:r>
                <a:rPr lang="zh-CN" sz="61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学生管理系统</a:t>
              </a:r>
              <a:r>
                <a:rPr lang="zh-CN" sz="61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Agent 子系统</a:t>
              </a:r>
              <a:r>
                <a:rPr lang="zh-CN" sz="615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工程化蓝图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0946" y="4915852"/>
              <a:ext cx="99375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从“系统里加一个聊天框”到“落地一套可运营的 Agent 工程体系”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850" y="5676900"/>
            <a:ext cx="5429250" cy="438150"/>
            <a:chOff x="704850" y="5676900"/>
            <a:chExt cx="5429250" cy="438150"/>
          </a:xfrm>
        </p:grpSpPr>
        <p:sp>
          <p:nvSpPr>
            <p:cNvPr id="11" name="Rectangle 11"/>
            <p:cNvSpPr/>
            <p:nvPr/>
          </p:nvSpPr>
          <p:spPr>
            <a:xfrm>
              <a:off x="704850" y="5676900"/>
              <a:ext cx="1619250" cy="438150"/>
            </a:xfrm>
            <a:prstGeom prst="roundRect">
              <a:avLst>
                <a:gd name="adj" fmla="val 130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76300" y="57816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3292" y="581691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21项全通过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14600" y="5676900"/>
              <a:ext cx="1619250" cy="438150"/>
            </a:xfrm>
            <a:prstGeom prst="roundRect">
              <a:avLst>
                <a:gd name="adj" fmla="val 130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686050" y="5781675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03042" y="58169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8个业务工具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24350" y="5676900"/>
              <a:ext cx="1809750" cy="438150"/>
            </a:xfrm>
            <a:prstGeom prst="roundRect">
              <a:avLst>
                <a:gd name="adj" fmla="val 130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10088" y="5795962"/>
              <a:ext cx="200025" cy="200025"/>
              <a:chOff x="4510088" y="5795962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510088" y="57959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171450"/>
                    </a:lnTo>
                    <a:lnTo>
                      <a:pt x="28575" y="171450"/>
                    </a:lnTo>
                    <a:lnTo>
                      <a:pt x="285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67238" y="5824538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71438" y="71438"/>
                    </a:lnTo>
                    <a:lnTo>
                      <a:pt x="142875" y="0"/>
                    </a:lnTo>
                    <a:lnTo>
                      <a:pt x="142875" y="114300"/>
                    </a:lnTo>
                    <a:lnTo>
                      <a:pt x="0" y="11430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812792" y="5816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可观测运营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8754" y="6385560"/>
            <a:ext cx="52507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Source: Agent系统介绍演讲稿.html.md + Agent系统验收说明文档.md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715000"/>
                  </a:moveTo>
                  <a:lnTo>
                    <a:pt x="12192000" y="5715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668000" y="0"/>
                  </a:moveTo>
                  <a:lnTo>
                    <a:pt x="10668000" y="6858000"/>
                  </a:lnTo>
                </a:path>
              </a:pathLst>
            </a:custGeom>
            <a:noFill/>
            <a:ln w="9525">
              <a:solidFill>
                <a:srgbClr val="1C2A3D"/>
              </a:solidFill>
              <a:custDash>
                <a:ds d="200000" sp="1000000"/>
              </a:custDash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8307134" cy="946594"/>
            <a:chOff x="514350" y="264795"/>
            <a:chExt cx="8307134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83071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核心交付已经升级为工程能力矩阵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能力、协议、治理、回归四类资产共同证明：这不是单点功能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66850"/>
            <a:ext cx="2476500" cy="1676400"/>
            <a:chOff x="609600" y="1466850"/>
            <a:chExt cx="2476500" cy="1676400"/>
          </a:xfrm>
        </p:grpSpPr>
        <p:sp>
          <p:nvSpPr>
            <p:cNvPr id="8" name="Rectangle 8"/>
            <p:cNvSpPr/>
            <p:nvPr/>
          </p:nvSpPr>
          <p:spPr>
            <a:xfrm>
              <a:off x="60960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07056" y="1571511"/>
              <a:ext cx="323850" cy="303609"/>
            </a:xfrm>
            <a:custGeom>
              <a:avLst/>
              <a:gdLst/>
              <a:ahLst/>
              <a:cxnLst/>
              <a:rect l="l" t="t" r="r" b="b"/>
              <a:pathLst>
                <a:path w="323850" h="303609">
                  <a:moveTo>
                    <a:pt x="182166" y="0"/>
                  </a:moveTo>
                  <a:lnTo>
                    <a:pt x="182166" y="40481"/>
                  </a:lnTo>
                  <a:lnTo>
                    <a:pt x="263128" y="40481"/>
                  </a:lnTo>
                  <a:lnTo>
                    <a:pt x="323850" y="172045"/>
                  </a:lnTo>
                  <a:lnTo>
                    <a:pt x="263128" y="303609"/>
                  </a:lnTo>
                  <a:lnTo>
                    <a:pt x="60722" y="303609"/>
                  </a:lnTo>
                  <a:lnTo>
                    <a:pt x="0" y="172045"/>
                  </a:lnTo>
                  <a:lnTo>
                    <a:pt x="60722" y="40481"/>
                  </a:lnTo>
                  <a:lnTo>
                    <a:pt x="141684" y="40481"/>
                  </a:lnTo>
                  <a:lnTo>
                    <a:pt x="141684" y="0"/>
                  </a:lnTo>
                  <a:lnTo>
                    <a:pt x="182166" y="0"/>
                  </a:lnTo>
                  <a:close/>
                  <a:moveTo>
                    <a:pt x="93065" y="237593"/>
                  </a:moveTo>
                  <a:lnTo>
                    <a:pt x="161925" y="248186"/>
                  </a:lnTo>
                  <a:lnTo>
                    <a:pt x="230786" y="237593"/>
                  </a:lnTo>
                  <a:lnTo>
                    <a:pt x="224628" y="197581"/>
                  </a:lnTo>
                  <a:lnTo>
                    <a:pt x="161925" y="207228"/>
                  </a:lnTo>
                  <a:lnTo>
                    <a:pt x="99221" y="197581"/>
                  </a:lnTo>
                  <a:lnTo>
                    <a:pt x="93065" y="237593"/>
                  </a:lnTo>
                  <a:close/>
                  <a:moveTo>
                    <a:pt x="141684" y="136624"/>
                  </a:moveTo>
                  <a:cubicBezTo>
                    <a:pt x="141684" y="150598"/>
                    <a:pt x="130357" y="161925"/>
                    <a:pt x="116384" y="161925"/>
                  </a:cubicBezTo>
                  <a:cubicBezTo>
                    <a:pt x="102410" y="161925"/>
                    <a:pt x="91083" y="150598"/>
                    <a:pt x="91083" y="136624"/>
                  </a:cubicBezTo>
                  <a:cubicBezTo>
                    <a:pt x="91083" y="122651"/>
                    <a:pt x="102410" y="111323"/>
                    <a:pt x="116384" y="111323"/>
                  </a:cubicBezTo>
                  <a:cubicBezTo>
                    <a:pt x="130357" y="111323"/>
                    <a:pt x="141684" y="122651"/>
                    <a:pt x="141684" y="136624"/>
                  </a:cubicBezTo>
                  <a:close/>
                  <a:moveTo>
                    <a:pt x="207466" y="161925"/>
                  </a:moveTo>
                  <a:cubicBezTo>
                    <a:pt x="221441" y="161925"/>
                    <a:pt x="232767" y="150598"/>
                    <a:pt x="232767" y="136624"/>
                  </a:cubicBezTo>
                  <a:cubicBezTo>
                    <a:pt x="232767" y="122651"/>
                    <a:pt x="221441" y="111323"/>
                    <a:pt x="207466" y="111323"/>
                  </a:cubicBezTo>
                  <a:cubicBezTo>
                    <a:pt x="193493" y="111323"/>
                    <a:pt x="182166" y="122651"/>
                    <a:pt x="182166" y="136624"/>
                  </a:cubicBezTo>
                  <a:cubicBezTo>
                    <a:pt x="182166" y="150598"/>
                    <a:pt x="193493" y="161925"/>
                    <a:pt x="207466" y="161925"/>
                  </a:cubicBez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150" y="1975485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7DD3FC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2739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71850" y="1466850"/>
            <a:ext cx="2476500" cy="1676400"/>
            <a:chOff x="3371850" y="1466850"/>
            <a:chExt cx="2476500" cy="1676400"/>
          </a:xfrm>
        </p:grpSpPr>
        <p:sp>
          <p:nvSpPr>
            <p:cNvPr id="13" name="Rectangle 13"/>
            <p:cNvSpPr/>
            <p:nvPr/>
          </p:nvSpPr>
          <p:spPr>
            <a:xfrm>
              <a:off x="337185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03320" y="1619298"/>
              <a:ext cx="283369" cy="283369"/>
            </a:xfrm>
            <a:custGeom>
              <a:avLst/>
              <a:gdLst/>
              <a:ahLst/>
              <a:cxnLst/>
              <a:rect l="l" t="t" r="r" b="b"/>
              <a:pathLst>
                <a:path w="283369" h="283369">
                  <a:moveTo>
                    <a:pt x="283369" y="0"/>
                  </a:moveTo>
                  <a:lnTo>
                    <a:pt x="0" y="0"/>
                  </a:lnTo>
                  <a:lnTo>
                    <a:pt x="0" y="283369"/>
                  </a:lnTo>
                  <a:lnTo>
                    <a:pt x="283369" y="283369"/>
                  </a:lnTo>
                  <a:lnTo>
                    <a:pt x="283369" y="0"/>
                  </a:lnTo>
                  <a:close/>
                  <a:moveTo>
                    <a:pt x="101203" y="80962"/>
                  </a:moveTo>
                  <a:lnTo>
                    <a:pt x="129828" y="109587"/>
                  </a:lnTo>
                  <a:lnTo>
                    <a:pt x="97730" y="141684"/>
                  </a:lnTo>
                  <a:lnTo>
                    <a:pt x="129828" y="173782"/>
                  </a:lnTo>
                  <a:lnTo>
                    <a:pt x="101203" y="202406"/>
                  </a:lnTo>
                  <a:lnTo>
                    <a:pt x="40481" y="141684"/>
                  </a:lnTo>
                  <a:lnTo>
                    <a:pt x="101203" y="80962"/>
                  </a:lnTo>
                  <a:close/>
                  <a:moveTo>
                    <a:pt x="182166" y="80962"/>
                  </a:moveTo>
                  <a:lnTo>
                    <a:pt x="153541" y="109587"/>
                  </a:lnTo>
                  <a:lnTo>
                    <a:pt x="185639" y="141684"/>
                  </a:lnTo>
                  <a:lnTo>
                    <a:pt x="153541" y="173782"/>
                  </a:lnTo>
                  <a:lnTo>
                    <a:pt x="182166" y="202406"/>
                  </a:lnTo>
                  <a:lnTo>
                    <a:pt x="242888" y="141684"/>
                  </a:lnTo>
                  <a:lnTo>
                    <a:pt x="182166" y="80962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81400" y="19754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8B5CF6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91306" y="2739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业务工具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34100" y="1466850"/>
            <a:ext cx="2476500" cy="1676400"/>
            <a:chOff x="6134100" y="1466850"/>
            <a:chExt cx="2476500" cy="1676400"/>
          </a:xfrm>
        </p:grpSpPr>
        <p:sp>
          <p:nvSpPr>
            <p:cNvPr id="18" name="Rectangle 18"/>
            <p:cNvSpPr/>
            <p:nvPr/>
          </p:nvSpPr>
          <p:spPr>
            <a:xfrm>
              <a:off x="613410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04019" y="1633061"/>
              <a:ext cx="323851" cy="283369"/>
              <a:chOff x="6404019" y="1633061"/>
              <a:chExt cx="323851" cy="28336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464741" y="1633061"/>
                <a:ext cx="101203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101203">
                    <a:moveTo>
                      <a:pt x="101203" y="50602"/>
                    </a:moveTo>
                    <a:cubicBezTo>
                      <a:pt x="101203" y="78548"/>
                      <a:pt x="78548" y="101203"/>
                      <a:pt x="50602" y="101203"/>
                    </a:cubicBezTo>
                    <a:cubicBezTo>
                      <a:pt x="22655" y="101203"/>
                      <a:pt x="0" y="78548"/>
                      <a:pt x="0" y="50602"/>
                    </a:cubicBezTo>
                    <a:cubicBezTo>
                      <a:pt x="0" y="22655"/>
                      <a:pt x="22655" y="0"/>
                      <a:pt x="50602" y="0"/>
                    </a:cubicBezTo>
                    <a:cubicBezTo>
                      <a:pt x="78548" y="0"/>
                      <a:pt x="101203" y="22655"/>
                      <a:pt x="101203" y="5060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404019" y="1774746"/>
                <a:ext cx="161925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41684">
                    <a:moveTo>
                      <a:pt x="60722" y="0"/>
                    </a:moveTo>
                    <a:cubicBezTo>
                      <a:pt x="27186" y="0"/>
                      <a:pt x="0" y="27186"/>
                      <a:pt x="0" y="60722"/>
                    </a:cubicBezTo>
                    <a:lnTo>
                      <a:pt x="0" y="141684"/>
                    </a:lnTo>
                    <a:lnTo>
                      <a:pt x="161925" y="141684"/>
                    </a:lnTo>
                    <a:lnTo>
                      <a:pt x="161925" y="0"/>
                    </a:lnTo>
                    <a:lnTo>
                      <a:pt x="60722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06426" y="1774746"/>
                <a:ext cx="121444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41684">
                    <a:moveTo>
                      <a:pt x="60722" y="0"/>
                    </a:moveTo>
                    <a:lnTo>
                      <a:pt x="0" y="0"/>
                    </a:lnTo>
                    <a:lnTo>
                      <a:pt x="0" y="141684"/>
                    </a:lnTo>
                    <a:lnTo>
                      <a:pt x="121444" y="141684"/>
                    </a:lnTo>
                    <a:lnTo>
                      <a:pt x="121444" y="60722"/>
                    </a:lnTo>
                    <a:cubicBezTo>
                      <a:pt x="121444" y="27186"/>
                      <a:pt x="94259" y="0"/>
                      <a:pt x="60722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06426" y="1653302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40481" y="80962"/>
                    </a:moveTo>
                    <a:cubicBezTo>
                      <a:pt x="62839" y="80962"/>
                      <a:pt x="80962" y="62838"/>
                      <a:pt x="80962" y="40481"/>
                    </a:cubicBezTo>
                    <a:cubicBezTo>
                      <a:pt x="80962" y="18124"/>
                      <a:pt x="62839" y="0"/>
                      <a:pt x="40481" y="0"/>
                    </a:cubicBezTo>
                    <a:cubicBezTo>
                      <a:pt x="18123" y="0"/>
                      <a:pt x="0" y="18124"/>
                      <a:pt x="0" y="40481"/>
                    </a:cubicBezTo>
                    <a:cubicBezTo>
                      <a:pt x="0" y="62838"/>
                      <a:pt x="18123" y="80962"/>
                      <a:pt x="40481" y="8096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343650" y="19754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F59E0B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3556" y="273939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Persona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896350" y="1466850"/>
            <a:ext cx="2476500" cy="1676400"/>
            <a:chOff x="8896350" y="1466850"/>
            <a:chExt cx="2476500" cy="1676400"/>
          </a:xfrm>
        </p:grpSpPr>
        <p:sp>
          <p:nvSpPr>
            <p:cNvPr id="27" name="Rectangle 27"/>
            <p:cNvSpPr/>
            <p:nvPr/>
          </p:nvSpPr>
          <p:spPr>
            <a:xfrm>
              <a:off x="889635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192978" y="1626594"/>
              <a:ext cx="242888" cy="323849"/>
              <a:chOff x="9192978" y="1626594"/>
              <a:chExt cx="242888" cy="32384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192978" y="1626594"/>
                <a:ext cx="242888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80962">
                    <a:moveTo>
                      <a:pt x="242888" y="0"/>
                    </a:moveTo>
                    <a:lnTo>
                      <a:pt x="0" y="0"/>
                    </a:lnTo>
                    <a:lnTo>
                      <a:pt x="0" y="80962"/>
                    </a:lnTo>
                    <a:lnTo>
                      <a:pt x="242888" y="80962"/>
                    </a:lnTo>
                    <a:lnTo>
                      <a:pt x="242888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192978" y="1748038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0" y="0"/>
                    </a:moveTo>
                    <a:lnTo>
                      <a:pt x="101203" y="0"/>
                    </a:lnTo>
                    <a:lnTo>
                      <a:pt x="101203" y="80962"/>
                    </a:lnTo>
                    <a:lnTo>
                      <a:pt x="0" y="809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192978" y="1869481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0" y="0"/>
                    </a:moveTo>
                    <a:lnTo>
                      <a:pt x="101203" y="0"/>
                    </a:lnTo>
                    <a:lnTo>
                      <a:pt x="101203" y="80962"/>
                    </a:lnTo>
                    <a:lnTo>
                      <a:pt x="0" y="809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334662" y="1869481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0" y="0"/>
                    </a:moveTo>
                    <a:lnTo>
                      <a:pt x="101203" y="0"/>
                    </a:lnTo>
                    <a:lnTo>
                      <a:pt x="101203" y="80962"/>
                    </a:lnTo>
                    <a:lnTo>
                      <a:pt x="0" y="809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334662" y="1748038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101203" y="0"/>
                    </a:moveTo>
                    <a:lnTo>
                      <a:pt x="0" y="0"/>
                    </a:lnTo>
                    <a:lnTo>
                      <a:pt x="0" y="80962"/>
                    </a:lnTo>
                    <a:lnTo>
                      <a:pt x="101203" y="80962"/>
                    </a:lnTo>
                    <a:lnTo>
                      <a:pt x="101203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105900" y="19754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15806" y="2739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结构化卡片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3543300"/>
            <a:ext cx="12955439" cy="1916239"/>
            <a:chOff x="609600" y="3543300"/>
            <a:chExt cx="12955439" cy="1916239"/>
          </a:xfrm>
        </p:grpSpPr>
        <p:sp>
          <p:nvSpPr>
            <p:cNvPr id="37" name="Rectangle 37"/>
            <p:cNvSpPr/>
            <p:nvPr/>
          </p:nvSpPr>
          <p:spPr>
            <a:xfrm>
              <a:off x="609600" y="3543300"/>
              <a:ext cx="10763250" cy="1581150"/>
            </a:xfrm>
            <a:prstGeom prst="roundRect">
              <a:avLst>
                <a:gd name="adj" fmla="val 3614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1446" y="378237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验收证据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090" y="4362288"/>
              <a:ext cx="129229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21 项验收条目全部通过 · 36 份测试文档沉淀 · 172/172 UI 静态检查通过 · Playwright 4/4 回归通过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14400" y="4819650"/>
              <a:ext cx="10153650" cy="9525"/>
            </a:xfrm>
            <a:custGeom>
              <a:avLst/>
              <a:gdLst/>
              <a:ahLst/>
              <a:cxnLst/>
              <a:rect l="l" t="t" r="r" b="b"/>
              <a:pathLst>
                <a:path w="10153650" h="9525">
                  <a:moveTo>
                    <a:pt x="0" y="0"/>
                  </a:moveTo>
                  <a:lnTo>
                    <a:pt x="1015365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6018" y="5136832"/>
              <a:ext cx="7992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Capability = Intents + Tools + Personas + Cards + Governance + Regression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27304" y="6309360"/>
            <a:ext cx="41311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F8EA3"/>
                </a:solidFill>
                <a:latin typeface="Arial"/>
                <a:ea typeface="Arial"/>
                <a:cs typeface="Arial"/>
              </a:rPr>
              <a:t>P02 · KPI overview adapted from kpi_cards template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6" grpId="0"/>
      <p:bldP spid="36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11827">
                    <a:alpha val="18000"/>
                  </a:srgbClr>
                </a:gs>
                <a:gs pos="100000">
                  <a:srgbClr val="05070D">
                    <a:alpha val="9200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6750" y="360045"/>
            <a:ext cx="7204596" cy="965644"/>
            <a:chOff x="666750" y="360045"/>
            <a:chExt cx="7204596" cy="965644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360045"/>
              <a:ext cx="72045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工程价值来自四个可验证维度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6468" y="10029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功能数量只是结果；真正的价值是能力能否被控制、扩展、观测和回归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" y="2362200"/>
            <a:ext cx="8763000" cy="1162050"/>
            <a:chOff x="1714500" y="2362200"/>
            <a:chExt cx="8763000" cy="1162050"/>
          </a:xfrm>
        </p:grpSpPr>
        <p:sp>
          <p:nvSpPr>
            <p:cNvPr id="9" name="Rectangle 9"/>
            <p:cNvSpPr/>
            <p:nvPr/>
          </p:nvSpPr>
          <p:spPr>
            <a:xfrm>
              <a:off x="1714500" y="2362200"/>
              <a:ext cx="8763000" cy="1162050"/>
            </a:xfrm>
            <a:prstGeom prst="roundRect">
              <a:avLst>
                <a:gd name="adj" fmla="val 6557"/>
              </a:avLst>
            </a:prstGeom>
            <a:solidFill>
              <a:srgbClr val="05070D">
                <a:alpha val="72000"/>
              </a:srgbClr>
            </a:solidFill>
            <a:ln w="14288">
              <a:solidFill>
                <a:srgbClr val="2A3A52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8390" y="2724150"/>
              <a:ext cx="7475220" cy="38100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1790700" y="4229100"/>
            <a:ext cx="8610600" cy="1066800"/>
            <a:chOff x="1790700" y="4229100"/>
            <a:chExt cx="8610600" cy="1066800"/>
          </a:xfrm>
        </p:grpSpPr>
        <p:sp>
          <p:nvSpPr>
            <p:cNvPr id="12" name="Ellipse 12"/>
            <p:cNvSpPr/>
            <p:nvPr/>
          </p:nvSpPr>
          <p:spPr>
            <a:xfrm>
              <a:off x="17907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7DD3F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41027" y="44824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3595" y="48510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053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8B5CF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55627" y="44824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7134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可扩展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199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F59E0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43343" y="4482465"/>
              <a:ext cx="21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1734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可观测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3345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22C55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84827" y="44824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26334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可回归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45436" y="5706428"/>
            <a:ext cx="8501127" cy="498729"/>
            <a:chOff x="1845436" y="5706428"/>
            <a:chExt cx="8501127" cy="498729"/>
          </a:xfrm>
        </p:grpSpPr>
        <p:sp>
          <p:nvSpPr>
            <p:cNvPr id="25" name="TextBox 25"/>
            <p:cNvSpPr txBox="1"/>
            <p:nvPr/>
          </p:nvSpPr>
          <p:spPr>
            <a:xfrm>
              <a:off x="1845436" y="5706428"/>
              <a:ext cx="8501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Agent 的价值不在“会说话”，而在“能被工程化治理”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1257300"/>
              <a:ext cx="7620000" cy="4572000"/>
            </a:xfrm>
            <a:custGeom>
              <a:avLst/>
              <a:gdLst/>
              <a:ahLst/>
              <a:cxnLst/>
              <a:rect l="l" t="t" r="r" b="b"/>
              <a:pathLst>
                <a:path w="7620000" h="4572000">
                  <a:moveTo>
                    <a:pt x="0" y="0"/>
                  </a:moveTo>
                  <a:lnTo>
                    <a:pt x="7620000" y="0"/>
                  </a:lnTo>
                  <a:moveTo>
                    <a:pt x="0" y="1143000"/>
                  </a:moveTo>
                  <a:lnTo>
                    <a:pt x="7620000" y="1143000"/>
                  </a:lnTo>
                  <a:moveTo>
                    <a:pt x="0" y="2286000"/>
                  </a:moveTo>
                  <a:lnTo>
                    <a:pt x="7620000" y="2286000"/>
                  </a:lnTo>
                  <a:moveTo>
                    <a:pt x="0" y="3429000"/>
                  </a:moveTo>
                  <a:lnTo>
                    <a:pt x="7620000" y="3429000"/>
                  </a:lnTo>
                  <a:moveTo>
                    <a:pt x="0" y="4572000"/>
                  </a:moveTo>
                  <a:lnTo>
                    <a:pt x="7620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0268403" cy="946594"/>
            <a:chOff x="514350" y="264795"/>
            <a:chExt cx="10268403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026840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局部嫁接让 Agent 演进不污染原业务主干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8013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`agent_system/` 与原有 API / service / DAO 平行存在，边界清晰，风险可控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1485900"/>
            <a:ext cx="7620000" cy="4248150"/>
            <a:chOff x="666750" y="1485900"/>
            <a:chExt cx="7620000" cy="4248150"/>
          </a:xfrm>
        </p:grpSpPr>
        <p:sp>
          <p:nvSpPr>
            <p:cNvPr id="8" name="Rectangle 8"/>
            <p:cNvSpPr/>
            <p:nvPr/>
          </p:nvSpPr>
          <p:spPr>
            <a:xfrm>
              <a:off x="666750" y="1485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7DD3F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8680" y="16287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01 · ENTRY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632" y="1887855"/>
              <a:ext cx="5402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FloatingAgent / `/agent` / SSE Stream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2628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8B5CF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8680" y="2771775"/>
              <a:ext cx="2052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02 · ORCHESTRATION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5632" y="3030855"/>
              <a:ext cx="61135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middleware -&gt; intent -&gt; planner -&gt; executor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" y="3771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8680" y="3914775"/>
              <a:ext cx="1562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03 · CAPABILITY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5632" y="4173855"/>
              <a:ext cx="6341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RAG / score / NL2SQL / weather / email / map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" y="4914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22C55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680" y="50577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04 · GOVERNANCE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5316855"/>
              <a:ext cx="67647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memory / HITL / feedback / metrics / regression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69983" y="1485900"/>
            <a:ext cx="2948285" cy="4248150"/>
            <a:chOff x="8669983" y="1485900"/>
            <a:chExt cx="2948285" cy="4248150"/>
          </a:xfrm>
        </p:grpSpPr>
        <p:sp>
          <p:nvSpPr>
            <p:cNvPr id="21" name="Rectangle 21"/>
            <p:cNvSpPr/>
            <p:nvPr/>
          </p:nvSpPr>
          <p:spPr>
            <a:xfrm>
              <a:off x="8858250" y="1485900"/>
              <a:ext cx="2571750" cy="4248150"/>
            </a:xfrm>
            <a:prstGeom prst="roundRect">
              <a:avLst>
                <a:gd name="adj" fmla="val 222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775031" y="1847850"/>
              <a:ext cx="566738" cy="647700"/>
              <a:chOff x="9775031" y="1847850"/>
              <a:chExt cx="566738" cy="647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775031" y="1847850"/>
                <a:ext cx="566738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323850">
                    <a:moveTo>
                      <a:pt x="0" y="202406"/>
                    </a:moveTo>
                    <a:lnTo>
                      <a:pt x="0" y="121444"/>
                    </a:lnTo>
                    <a:lnTo>
                      <a:pt x="283369" y="0"/>
                    </a:lnTo>
                    <a:lnTo>
                      <a:pt x="566738" y="121444"/>
                    </a:lnTo>
                    <a:lnTo>
                      <a:pt x="566738" y="202406"/>
                    </a:lnTo>
                    <a:lnTo>
                      <a:pt x="283369" y="323850"/>
                    </a:lnTo>
                    <a:lnTo>
                      <a:pt x="0" y="202406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75031" y="2293144"/>
                <a:ext cx="56673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202406">
                    <a:moveTo>
                      <a:pt x="283369" y="202406"/>
                    </a:moveTo>
                    <a:lnTo>
                      <a:pt x="0" y="80962"/>
                    </a:lnTo>
                    <a:lnTo>
                      <a:pt x="0" y="0"/>
                    </a:lnTo>
                    <a:lnTo>
                      <a:pt x="283369" y="121444"/>
                    </a:lnTo>
                    <a:lnTo>
                      <a:pt x="566738" y="0"/>
                    </a:lnTo>
                    <a:lnTo>
                      <a:pt x="566738" y="80962"/>
                    </a:lnTo>
                    <a:lnTo>
                      <a:pt x="283369" y="202406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75031" y="2131219"/>
                <a:ext cx="56673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202406">
                    <a:moveTo>
                      <a:pt x="0" y="80962"/>
                    </a:moveTo>
                    <a:lnTo>
                      <a:pt x="283369" y="202406"/>
                    </a:lnTo>
                    <a:lnTo>
                      <a:pt x="566738" y="80962"/>
                    </a:lnTo>
                    <a:lnTo>
                      <a:pt x="566738" y="0"/>
                    </a:lnTo>
                    <a:lnTo>
                      <a:pt x="283369" y="121444"/>
                    </a:lnTo>
                    <a:lnTo>
                      <a:pt x="0" y="0"/>
                    </a:lnTo>
                    <a:lnTo>
                      <a:pt x="0" y="80962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230058" y="2753678"/>
              <a:ext cx="1828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原业务主干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47722" y="32346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学生 / 成绩 / 班级 / 就业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182100" y="3829050"/>
              <a:ext cx="1924050" cy="9525"/>
            </a:xfrm>
            <a:custGeom>
              <a:avLst/>
              <a:gdLst/>
              <a:ahLst/>
              <a:cxnLst/>
              <a:rect l="l" t="t" r="r" b="b"/>
              <a:pathLst>
                <a:path w="1924050" h="9525">
                  <a:moveTo>
                    <a:pt x="0" y="0"/>
                  </a:moveTo>
                  <a:lnTo>
                    <a:pt x="192405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19556" y="406241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零次拖入大重构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69983" y="4584382"/>
              <a:ext cx="2948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Agent 迭代在独立边界内完成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27304" y="6309360"/>
            <a:ext cx="30225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F8EA3"/>
                </a:solidFill>
                <a:latin typeface="Arial"/>
                <a:ea typeface="Arial"/>
                <a:cs typeface="Arial"/>
              </a:rPr>
              <a:t>P04 · layered architecture adaptation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76250" y="1333500"/>
              <a:ext cx="11239500" cy="4667250"/>
            </a:xfrm>
            <a:custGeom>
              <a:avLst/>
              <a:gdLst/>
              <a:ahLst/>
              <a:cxnLst/>
              <a:rect l="l" t="t" r="r" b="b"/>
              <a:pathLst>
                <a:path w="11239500" h="4667250">
                  <a:moveTo>
                    <a:pt x="0" y="0"/>
                  </a:moveTo>
                  <a:lnTo>
                    <a:pt x="11239500" y="0"/>
                  </a:lnTo>
                  <a:moveTo>
                    <a:pt x="0" y="4667250"/>
                  </a:moveTo>
                  <a:lnTo>
                    <a:pt x="11239500" y="46672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1652786" cy="946594"/>
            <a:chOff x="514350" y="264795"/>
            <a:chExt cx="11652786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165278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Planner 驱动把工具调用风险收敛到确定性链路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6623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LLM 负责理解和计划，真正执行的是结构化步骤和确定性工具链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885950"/>
            <a:ext cx="1809750" cy="1485900"/>
            <a:chOff x="590550" y="1885950"/>
            <a:chExt cx="1809750" cy="1485900"/>
          </a:xfrm>
        </p:grpSpPr>
        <p:sp>
          <p:nvSpPr>
            <p:cNvPr id="8" name="Rectangle 8"/>
            <p:cNvSpPr/>
            <p:nvPr/>
          </p:nvSpPr>
          <p:spPr>
            <a:xfrm>
              <a:off x="59055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229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482" y="2459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意图分类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530" y="2905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只判断任务本身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95550" y="1885950"/>
            <a:ext cx="2628900" cy="1485900"/>
            <a:chOff x="2495550" y="1885950"/>
            <a:chExt cx="2628900" cy="1485900"/>
          </a:xfrm>
        </p:grpSpPr>
        <p:sp>
          <p:nvSpPr>
            <p:cNvPr id="13" name="Line 13"/>
            <p:cNvSpPr/>
            <p:nvPr/>
          </p:nvSpPr>
          <p:spPr>
            <a:xfrm>
              <a:off x="2495550" y="2628900"/>
              <a:ext cx="7048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1470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644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2632" y="2459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计划生成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35680" y="2905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输出结构化步骤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19700" y="1885950"/>
            <a:ext cx="2628900" cy="1485900"/>
            <a:chOff x="5219700" y="1885950"/>
            <a:chExt cx="2628900" cy="1485900"/>
          </a:xfrm>
        </p:grpSpPr>
        <p:sp>
          <p:nvSpPr>
            <p:cNvPr id="19" name="Line 19"/>
            <p:cNvSpPr/>
            <p:nvPr/>
          </p:nvSpPr>
          <p:spPr>
            <a:xfrm>
              <a:off x="5219700" y="2628900"/>
              <a:ext cx="7048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3885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6059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56782" y="2459355"/>
              <a:ext cx="13366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Executor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59830" y="290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按计划执行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43850" y="1885950"/>
            <a:ext cx="2628900" cy="1485900"/>
            <a:chOff x="7943850" y="1885950"/>
            <a:chExt cx="2628900" cy="1485900"/>
          </a:xfrm>
        </p:grpSpPr>
        <p:sp>
          <p:nvSpPr>
            <p:cNvPr id="25" name="Line 25"/>
            <p:cNvSpPr/>
            <p:nvPr/>
          </p:nvSpPr>
          <p:spPr>
            <a:xfrm>
              <a:off x="7943850" y="2628900"/>
              <a:ext cx="7048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76300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8474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80932" y="24593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83980" y="2905125"/>
              <a:ext cx="1336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统一 BaseTool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0" y="3371850"/>
            <a:ext cx="1850972" cy="1657350"/>
            <a:chOff x="9525000" y="3371850"/>
            <a:chExt cx="1850972" cy="1657350"/>
          </a:xfrm>
        </p:grpSpPr>
        <p:sp>
          <p:nvSpPr>
            <p:cNvPr id="31" name="Rectangle 31"/>
            <p:cNvSpPr/>
            <p:nvPr/>
          </p:nvSpPr>
          <p:spPr>
            <a:xfrm>
              <a:off x="9525000" y="3905250"/>
              <a:ext cx="1809750" cy="1123950"/>
            </a:xfrm>
            <a:prstGeom prst="roundRect">
              <a:avLst>
                <a:gd name="adj" fmla="val 5085"/>
              </a:avLst>
            </a:prstGeom>
            <a:solidFill>
              <a:srgbClr val="111827"/>
            </a:solidFill>
            <a:ln w="9525">
              <a:solidFill>
                <a:srgbClr val="8B5CF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47301" y="4089521"/>
              <a:ext cx="17286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Persona 回复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5980" y="4486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只影响怎么说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667875" y="33718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8B5CF6"/>
              </a:solidFill>
              <a:tailEnd type="triangle" w="lg" len="lg"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93420" y="4095750"/>
            <a:ext cx="9213609" cy="1568767"/>
            <a:chOff x="693420" y="4095750"/>
            <a:chExt cx="9213609" cy="1568767"/>
          </a:xfrm>
        </p:grpSpPr>
        <p:sp>
          <p:nvSpPr>
            <p:cNvPr id="36" name="Rectangle 36"/>
            <p:cNvSpPr/>
            <p:nvPr/>
          </p:nvSpPr>
          <p:spPr>
            <a:xfrm>
              <a:off x="704850" y="4095750"/>
              <a:ext cx="7524750" cy="914400"/>
            </a:xfrm>
            <a:prstGeom prst="roundRect">
              <a:avLst>
                <a:gd name="adj" fmla="val 6250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8421" y="4371975"/>
              <a:ext cx="6472809" cy="40005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93420" y="5224462"/>
              <a:ext cx="92136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系统要降低的不是“AI 不会说话”，而是“不调、调错、重复调”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5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66750" y="1562100"/>
              <a:ext cx="10858500" cy="4248150"/>
            </a:xfrm>
            <a:custGeom>
              <a:avLst/>
              <a:gdLst/>
              <a:ahLst/>
              <a:cxnLst/>
              <a:rect l="l" t="t" r="r" b="b"/>
              <a:pathLst>
                <a:path w="10858500" h="4248150">
                  <a:moveTo>
                    <a:pt x="0" y="0"/>
                  </a:moveTo>
                  <a:lnTo>
                    <a:pt x="10858500" y="0"/>
                  </a:lnTo>
                  <a:moveTo>
                    <a:pt x="0" y="4248150"/>
                  </a:moveTo>
                  <a:lnTo>
                    <a:pt x="10858500" y="42481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2240905" cy="946594"/>
            <a:chOff x="514350" y="264795"/>
            <a:chExt cx="12240905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224090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RAG 不是向量库接入，而是一条问答质量工程链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73690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从切片、召回、精排到拒答，每一段都服务于“答得准，也知道何时不该答”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7700" y="2038350"/>
            <a:ext cx="2000250" cy="2381250"/>
            <a:chOff x="647700" y="2038350"/>
            <a:chExt cx="2000250" cy="2381250"/>
          </a:xfrm>
        </p:grpSpPr>
        <p:sp>
          <p:nvSpPr>
            <p:cNvPr id="8" name="Rectangle 8"/>
            <p:cNvSpPr/>
            <p:nvPr/>
          </p:nvSpPr>
          <p:spPr>
            <a:xfrm>
              <a:off x="6477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6781" y="2266950"/>
              <a:ext cx="242888" cy="323850"/>
              <a:chOff x="916781" y="2266950"/>
              <a:chExt cx="242888" cy="3238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16781" y="2396490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225422" y="10326"/>
                    </a:moveTo>
                    <a:cubicBezTo>
                      <a:pt x="231116" y="7479"/>
                      <a:pt x="237064" y="4044"/>
                      <a:pt x="242888" y="0"/>
                    </a:cubicBezTo>
                    <a:lnTo>
                      <a:pt x="242888" y="32385"/>
                    </a:lnTo>
                    <a:cubicBezTo>
                      <a:pt x="242888" y="65920"/>
                      <a:pt x="188515" y="93107"/>
                      <a:pt x="121444" y="93107"/>
                    </a:cubicBezTo>
                    <a:cubicBezTo>
                      <a:pt x="54372" y="93107"/>
                      <a:pt x="0" y="65920"/>
                      <a:pt x="0" y="32385"/>
                    </a:cubicBezTo>
                    <a:lnTo>
                      <a:pt x="0" y="0"/>
                    </a:lnTo>
                    <a:cubicBezTo>
                      <a:pt x="5824" y="4044"/>
                      <a:pt x="11772" y="7479"/>
                      <a:pt x="17466" y="10326"/>
                    </a:cubicBezTo>
                    <a:cubicBezTo>
                      <a:pt x="46168" y="24677"/>
                      <a:pt x="82986" y="32385"/>
                      <a:pt x="121444" y="32385"/>
                    </a:cubicBezTo>
                    <a:cubicBezTo>
                      <a:pt x="159901" y="32385"/>
                      <a:pt x="196719" y="24677"/>
                      <a:pt x="225422" y="10326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6781" y="2497693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0" y="0"/>
                    </a:moveTo>
                    <a:lnTo>
                      <a:pt x="0" y="32385"/>
                    </a:lnTo>
                    <a:cubicBezTo>
                      <a:pt x="0" y="65922"/>
                      <a:pt x="54372" y="93107"/>
                      <a:pt x="121444" y="93107"/>
                    </a:cubicBezTo>
                    <a:cubicBezTo>
                      <a:pt x="188515" y="93107"/>
                      <a:pt x="242888" y="65922"/>
                      <a:pt x="242888" y="32385"/>
                    </a:cubicBezTo>
                    <a:lnTo>
                      <a:pt x="242888" y="0"/>
                    </a:lnTo>
                    <a:cubicBezTo>
                      <a:pt x="237064" y="4044"/>
                      <a:pt x="231116" y="7479"/>
                      <a:pt x="225422" y="10327"/>
                    </a:cubicBezTo>
                    <a:cubicBezTo>
                      <a:pt x="196719" y="24677"/>
                      <a:pt x="159901" y="32385"/>
                      <a:pt x="121444" y="32385"/>
                    </a:cubicBezTo>
                    <a:cubicBezTo>
                      <a:pt x="82986" y="32385"/>
                      <a:pt x="46168" y="24677"/>
                      <a:pt x="17466" y="10327"/>
                    </a:cubicBezTo>
                    <a:cubicBezTo>
                      <a:pt x="11772" y="7479"/>
                      <a:pt x="5824" y="4044"/>
                      <a:pt x="0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6781" y="2266950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121444" y="0"/>
                    </a:moveTo>
                    <a:cubicBezTo>
                      <a:pt x="188515" y="0"/>
                      <a:pt x="242888" y="27186"/>
                      <a:pt x="242888" y="60722"/>
                    </a:cubicBezTo>
                    <a:cubicBezTo>
                      <a:pt x="242888" y="94258"/>
                      <a:pt x="188515" y="121444"/>
                      <a:pt x="121444" y="121444"/>
                    </a:cubicBezTo>
                    <a:cubicBezTo>
                      <a:pt x="54372" y="121444"/>
                      <a:pt x="0" y="94258"/>
                      <a:pt x="0" y="60722"/>
                    </a:cubicBezTo>
                    <a:cubicBezTo>
                      <a:pt x="0" y="27186"/>
                      <a:pt x="54372" y="0"/>
                      <a:pt x="121444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64870" y="2709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入库治理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918" y="3193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标题注入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918" y="3517582"/>
              <a:ext cx="1282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500字 chunk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918" y="3841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多格式统一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24150" y="2038350"/>
            <a:ext cx="2667000" cy="2381250"/>
            <a:chOff x="2724150" y="2038350"/>
            <a:chExt cx="2667000" cy="2381250"/>
          </a:xfrm>
        </p:grpSpPr>
        <p:sp>
          <p:nvSpPr>
            <p:cNvPr id="18" name="Line 18"/>
            <p:cNvSpPr/>
            <p:nvPr/>
          </p:nvSpPr>
          <p:spPr>
            <a:xfrm>
              <a:off x="2724150" y="3238500"/>
              <a:ext cx="5524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909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619500" y="2266950"/>
              <a:ext cx="317922" cy="317922"/>
            </a:xfrm>
            <a:custGeom>
              <a:avLst/>
              <a:gdLst/>
              <a:ahLst/>
              <a:cxnLst/>
              <a:rect l="l" t="t" r="r" b="b"/>
              <a:pathLst>
                <a:path w="317922" h="317922">
                  <a:moveTo>
                    <a:pt x="226537" y="255161"/>
                  </a:moveTo>
                  <a:cubicBezTo>
                    <a:pt x="202884" y="272876"/>
                    <a:pt x="173510" y="283369"/>
                    <a:pt x="141684" y="283369"/>
                  </a:cubicBezTo>
                  <a:cubicBezTo>
                    <a:pt x="63434" y="283369"/>
                    <a:pt x="0" y="219935"/>
                    <a:pt x="0" y="141684"/>
                  </a:cubicBezTo>
                  <a:cubicBezTo>
                    <a:pt x="0" y="63434"/>
                    <a:pt x="63434" y="0"/>
                    <a:pt x="141684" y="0"/>
                  </a:cubicBezTo>
                  <a:cubicBezTo>
                    <a:pt x="219935" y="0"/>
                    <a:pt x="283369" y="63434"/>
                    <a:pt x="283369" y="141684"/>
                  </a:cubicBezTo>
                  <a:cubicBezTo>
                    <a:pt x="283369" y="173510"/>
                    <a:pt x="272876" y="202884"/>
                    <a:pt x="255161" y="226537"/>
                  </a:cubicBezTo>
                  <a:lnTo>
                    <a:pt x="317922" y="289297"/>
                  </a:lnTo>
                  <a:lnTo>
                    <a:pt x="289297" y="317922"/>
                  </a:lnTo>
                  <a:lnTo>
                    <a:pt x="226537" y="255161"/>
                  </a:lnTo>
                  <a:close/>
                  <a:moveTo>
                    <a:pt x="113060" y="170309"/>
                  </a:moveTo>
                  <a:lnTo>
                    <a:pt x="84435" y="198934"/>
                  </a:lnTo>
                  <a:cubicBezTo>
                    <a:pt x="52818" y="167316"/>
                    <a:pt x="52818" y="116053"/>
                    <a:pt x="84435" y="84435"/>
                  </a:cubicBezTo>
                  <a:cubicBezTo>
                    <a:pt x="116053" y="52818"/>
                    <a:pt x="167316" y="52818"/>
                    <a:pt x="198934" y="84435"/>
                  </a:cubicBezTo>
                  <a:lnTo>
                    <a:pt x="170309" y="113060"/>
                  </a:lnTo>
                  <a:cubicBezTo>
                    <a:pt x="154500" y="97251"/>
                    <a:pt x="128869" y="97251"/>
                    <a:pt x="113060" y="113060"/>
                  </a:cubicBezTo>
                  <a:cubicBezTo>
                    <a:pt x="97251" y="128869"/>
                    <a:pt x="97251" y="154500"/>
                    <a:pt x="113060" y="170309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08070" y="2709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混合召回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1118" y="3193732"/>
              <a:ext cx="1441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Dense Vector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1118" y="3517582"/>
              <a:ext cx="13777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BM25 Sparse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1118" y="3841432"/>
              <a:ext cx="943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RRF 融合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67350" y="2038350"/>
            <a:ext cx="2667000" cy="2381250"/>
            <a:chOff x="5467350" y="2038350"/>
            <a:chExt cx="2667000" cy="2381250"/>
          </a:xfrm>
        </p:grpSpPr>
        <p:sp>
          <p:nvSpPr>
            <p:cNvPr id="26" name="Line 26"/>
            <p:cNvSpPr/>
            <p:nvPr/>
          </p:nvSpPr>
          <p:spPr>
            <a:xfrm>
              <a:off x="5467350" y="3238500"/>
              <a:ext cx="5524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341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403181" y="226695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141684" y="141684"/>
                  </a:moveTo>
                  <a:lnTo>
                    <a:pt x="161925" y="0"/>
                  </a:lnTo>
                  <a:lnTo>
                    <a:pt x="121444" y="0"/>
                  </a:lnTo>
                  <a:lnTo>
                    <a:pt x="0" y="141684"/>
                  </a:lnTo>
                  <a:lnTo>
                    <a:pt x="0" y="182166"/>
                  </a:lnTo>
                  <a:lnTo>
                    <a:pt x="101203" y="182166"/>
                  </a:lnTo>
                  <a:lnTo>
                    <a:pt x="80962" y="323850"/>
                  </a:lnTo>
                  <a:lnTo>
                    <a:pt x="121444" y="323850"/>
                  </a:lnTo>
                  <a:lnTo>
                    <a:pt x="242888" y="182166"/>
                  </a:lnTo>
                  <a:lnTo>
                    <a:pt x="242888" y="141684"/>
                  </a:lnTo>
                  <a:lnTo>
                    <a:pt x="141684" y="141684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1270" y="2709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精排校准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4318" y="3193732"/>
              <a:ext cx="1496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CrossEncoder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4318" y="3517582"/>
              <a:ext cx="86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QA 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4318" y="3841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原文回退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10550" y="2038350"/>
            <a:ext cx="2667000" cy="2381250"/>
            <a:chOff x="8210550" y="2038350"/>
            <a:chExt cx="2667000" cy="2381250"/>
          </a:xfrm>
        </p:grpSpPr>
        <p:sp>
          <p:nvSpPr>
            <p:cNvPr id="34" name="Line 34"/>
            <p:cNvSpPr/>
            <p:nvPr/>
          </p:nvSpPr>
          <p:spPr>
            <a:xfrm>
              <a:off x="8210550" y="3238500"/>
              <a:ext cx="5524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8773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105900" y="2307431"/>
              <a:ext cx="323850" cy="263128"/>
            </a:xfrm>
            <a:custGeom>
              <a:avLst/>
              <a:gdLst/>
              <a:ahLst/>
              <a:cxnLst/>
              <a:rect l="l" t="t" r="r" b="b"/>
              <a:pathLst>
                <a:path w="323850" h="263128">
                  <a:moveTo>
                    <a:pt x="0" y="0"/>
                  </a:moveTo>
                  <a:lnTo>
                    <a:pt x="72579" y="0"/>
                  </a:lnTo>
                  <a:cubicBezTo>
                    <a:pt x="90907" y="0"/>
                    <a:pt x="108484" y="7281"/>
                    <a:pt x="121444" y="20241"/>
                  </a:cubicBezTo>
                  <a:cubicBezTo>
                    <a:pt x="134404" y="33200"/>
                    <a:pt x="141684" y="50778"/>
                    <a:pt x="141684" y="69106"/>
                  </a:cubicBezTo>
                  <a:lnTo>
                    <a:pt x="141684" y="182166"/>
                  </a:lnTo>
                  <a:lnTo>
                    <a:pt x="182166" y="182166"/>
                  </a:lnTo>
                  <a:lnTo>
                    <a:pt x="182166" y="69106"/>
                  </a:lnTo>
                  <a:cubicBezTo>
                    <a:pt x="182166" y="50778"/>
                    <a:pt x="189446" y="33200"/>
                    <a:pt x="202406" y="20241"/>
                  </a:cubicBezTo>
                  <a:cubicBezTo>
                    <a:pt x="215366" y="7281"/>
                    <a:pt x="232943" y="0"/>
                    <a:pt x="251271" y="0"/>
                  </a:cubicBezTo>
                  <a:lnTo>
                    <a:pt x="323850" y="0"/>
                  </a:lnTo>
                  <a:lnTo>
                    <a:pt x="323850" y="222647"/>
                  </a:lnTo>
                  <a:lnTo>
                    <a:pt x="222647" y="222647"/>
                  </a:lnTo>
                  <a:lnTo>
                    <a:pt x="182166" y="263128"/>
                  </a:lnTo>
                  <a:lnTo>
                    <a:pt x="141684" y="263128"/>
                  </a:lnTo>
                  <a:lnTo>
                    <a:pt x="101203" y="222647"/>
                  </a:lnTo>
                  <a:lnTo>
                    <a:pt x="0" y="222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94470" y="270986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上下文治理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7518" y="3193732"/>
              <a:ext cx="1360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small-to-big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7518" y="3517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去重预算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7518" y="3841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来源引用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36352" y="5143500"/>
            <a:ext cx="9919297" cy="685800"/>
            <a:chOff x="1136352" y="5143500"/>
            <a:chExt cx="9919297" cy="685800"/>
          </a:xfrm>
        </p:grpSpPr>
        <p:sp>
          <p:nvSpPr>
            <p:cNvPr id="42" name="Rectangle 42"/>
            <p:cNvSpPr/>
            <p:nvPr/>
          </p:nvSpPr>
          <p:spPr>
            <a:xfrm>
              <a:off x="1143000" y="5143500"/>
              <a:ext cx="9906000" cy="685800"/>
            </a:xfrm>
            <a:prstGeom prst="roundRect">
              <a:avLst>
                <a:gd name="adj" fmla="val 833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36352" y="5338762"/>
              <a:ext cx="99192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这套 RAG 的核心不是“搜到”，而是“带着证据回答，并能保守拒答”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3" grpId="0"/>
      <p:bldP spid="41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762000" y="1476375"/>
              <a:ext cx="10668000" cy="4238625"/>
            </a:xfrm>
            <a:custGeom>
              <a:avLst/>
              <a:gdLst/>
              <a:ahLst/>
              <a:cxnLst/>
              <a:rect l="l" t="t" r="r" b="b"/>
              <a:pathLst>
                <a:path w="10668000" h="4238625">
                  <a:moveTo>
                    <a:pt x="0" y="0"/>
                  </a:moveTo>
                  <a:lnTo>
                    <a:pt x="10668000" y="0"/>
                  </a:lnTo>
                  <a:moveTo>
                    <a:pt x="0" y="4238625"/>
                  </a:moveTo>
                  <a:lnTo>
                    <a:pt x="10668000" y="4238625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0787844" cy="946594"/>
            <a:chOff x="514350" y="264795"/>
            <a:chExt cx="10787844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07878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v2.0 的真正转折是统一底座，不是堆新工具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6056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扩展新工具不再改 Executor 主干，而是进入同一套工具契约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714500"/>
            <a:ext cx="2728712" cy="3714750"/>
            <a:chOff x="666750" y="1714500"/>
            <a:chExt cx="2728712" cy="3714750"/>
          </a:xfrm>
        </p:grpSpPr>
        <p:sp>
          <p:nvSpPr>
            <p:cNvPr id="8" name="Rectangle 8"/>
            <p:cNvSpPr/>
            <p:nvPr/>
          </p:nvSpPr>
          <p:spPr>
            <a:xfrm>
              <a:off x="6667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7DD3FC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37022" y="2022872"/>
              <a:ext cx="316706" cy="316706"/>
            </a:xfrm>
            <a:custGeom>
              <a:avLst/>
              <a:gdLst/>
              <a:ahLst/>
              <a:cxnLst/>
              <a:rect l="l" t="t" r="r" b="b"/>
              <a:pathLst>
                <a:path w="316706" h="316706">
                  <a:moveTo>
                    <a:pt x="316706" y="0"/>
                  </a:moveTo>
                  <a:lnTo>
                    <a:pt x="0" y="0"/>
                  </a:lnTo>
                  <a:lnTo>
                    <a:pt x="0" y="316706"/>
                  </a:lnTo>
                  <a:lnTo>
                    <a:pt x="316706" y="316706"/>
                  </a:lnTo>
                  <a:lnTo>
                    <a:pt x="316706" y="0"/>
                  </a:lnTo>
                  <a:close/>
                  <a:moveTo>
                    <a:pt x="113109" y="90488"/>
                  </a:moveTo>
                  <a:lnTo>
                    <a:pt x="145101" y="122480"/>
                  </a:lnTo>
                  <a:lnTo>
                    <a:pt x="109228" y="158353"/>
                  </a:lnTo>
                  <a:lnTo>
                    <a:pt x="145101" y="194227"/>
                  </a:lnTo>
                  <a:lnTo>
                    <a:pt x="113109" y="226219"/>
                  </a:lnTo>
                  <a:lnTo>
                    <a:pt x="45244" y="158353"/>
                  </a:lnTo>
                  <a:lnTo>
                    <a:pt x="113109" y="90488"/>
                  </a:lnTo>
                  <a:close/>
                  <a:moveTo>
                    <a:pt x="203597" y="90488"/>
                  </a:moveTo>
                  <a:lnTo>
                    <a:pt x="171605" y="122480"/>
                  </a:lnTo>
                  <a:lnTo>
                    <a:pt x="207479" y="158353"/>
                  </a:lnTo>
                  <a:lnTo>
                    <a:pt x="171605" y="194227"/>
                  </a:lnTo>
                  <a:lnTo>
                    <a:pt x="203597" y="226219"/>
                  </a:lnTo>
                  <a:lnTo>
                    <a:pt x="271462" y="158353"/>
                  </a:lnTo>
                  <a:lnTo>
                    <a:pt x="203597" y="90488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3732" y="2554605"/>
              <a:ext cx="12706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BaseTool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4494" y="3104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统一入口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3555682"/>
              <a:ext cx="1960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run(ctx, params)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018" y="391763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统一 success/error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222" y="4570609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收益：工具接口零散度下降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48050" y="1714500"/>
            <a:ext cx="2488368" cy="3714750"/>
            <a:chOff x="3448050" y="1714500"/>
            <a:chExt cx="2488368" cy="3714750"/>
          </a:xfrm>
        </p:grpSpPr>
        <p:sp>
          <p:nvSpPr>
            <p:cNvPr id="16" name="Rectangle 16"/>
            <p:cNvSpPr/>
            <p:nvPr/>
          </p:nvSpPr>
          <p:spPr>
            <a:xfrm>
              <a:off x="34480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8B5CF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695700" y="2045494"/>
              <a:ext cx="361950" cy="271462"/>
              <a:chOff x="3695700" y="2045494"/>
              <a:chExt cx="361950" cy="27146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695700" y="2045494"/>
                <a:ext cx="361950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3109">
                    <a:moveTo>
                      <a:pt x="361950" y="0"/>
                    </a:moveTo>
                    <a:lnTo>
                      <a:pt x="0" y="0"/>
                    </a:lnTo>
                    <a:lnTo>
                      <a:pt x="0" y="113109"/>
                    </a:lnTo>
                    <a:lnTo>
                      <a:pt x="361950" y="113109"/>
                    </a:lnTo>
                    <a:lnTo>
                      <a:pt x="361950" y="0"/>
                    </a:lnTo>
                    <a:close/>
                    <a:moveTo>
                      <a:pt x="90488" y="56555"/>
                    </a:moveTo>
                    <a:cubicBezTo>
                      <a:pt x="90488" y="69048"/>
                      <a:pt x="80359" y="79177"/>
                      <a:pt x="67866" y="79177"/>
                    </a:cubicBezTo>
                    <a:cubicBezTo>
                      <a:pt x="55372" y="79177"/>
                      <a:pt x="45244" y="69048"/>
                      <a:pt x="45244" y="56555"/>
                    </a:cubicBezTo>
                    <a:cubicBezTo>
                      <a:pt x="45244" y="44061"/>
                      <a:pt x="55372" y="33933"/>
                      <a:pt x="67866" y="33933"/>
                    </a:cubicBezTo>
                    <a:cubicBezTo>
                      <a:pt x="80359" y="33933"/>
                      <a:pt x="90488" y="44061"/>
                      <a:pt x="90488" y="56555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695700" y="2203847"/>
                <a:ext cx="361950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3109">
                    <a:moveTo>
                      <a:pt x="361950" y="0"/>
                    </a:moveTo>
                    <a:lnTo>
                      <a:pt x="0" y="0"/>
                    </a:lnTo>
                    <a:lnTo>
                      <a:pt x="0" y="113109"/>
                    </a:lnTo>
                    <a:lnTo>
                      <a:pt x="361950" y="113109"/>
                    </a:lnTo>
                    <a:lnTo>
                      <a:pt x="361950" y="0"/>
                    </a:lnTo>
                    <a:close/>
                    <a:moveTo>
                      <a:pt x="67866" y="79177"/>
                    </a:moveTo>
                    <a:cubicBezTo>
                      <a:pt x="80359" y="79177"/>
                      <a:pt x="90488" y="69049"/>
                      <a:pt x="90488" y="56555"/>
                    </a:cubicBezTo>
                    <a:cubicBezTo>
                      <a:pt x="90488" y="44061"/>
                      <a:pt x="80359" y="33933"/>
                      <a:pt x="67866" y="33933"/>
                    </a:cubicBezTo>
                    <a:cubicBezTo>
                      <a:pt x="55372" y="33933"/>
                      <a:pt x="45244" y="44061"/>
                      <a:pt x="45244" y="56555"/>
                    </a:cubicBezTo>
                    <a:cubicBezTo>
                      <a:pt x="45244" y="69049"/>
                      <a:pt x="55372" y="79177"/>
                      <a:pt x="67866" y="79177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685032" y="2554605"/>
              <a:ext cx="17607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ToolContext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85794" y="31041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运行时封装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87318" y="3555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db session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87318" y="391763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user / role / session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0925" y="4556836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收益：依赖传递标准化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29350" y="1714500"/>
            <a:ext cx="2476500" cy="3714750"/>
            <a:chOff x="6229350" y="1714500"/>
            <a:chExt cx="2476500" cy="3714750"/>
          </a:xfrm>
        </p:grpSpPr>
        <p:sp>
          <p:nvSpPr>
            <p:cNvPr id="26" name="Rectangle 26"/>
            <p:cNvSpPr/>
            <p:nvPr/>
          </p:nvSpPr>
          <p:spPr>
            <a:xfrm>
              <a:off x="62293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499622" y="2000250"/>
              <a:ext cx="316706" cy="361950"/>
              <a:chOff x="6499622" y="2000250"/>
              <a:chExt cx="316706" cy="3619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499622" y="2000250"/>
                <a:ext cx="316706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80975">
                    <a:moveTo>
                      <a:pt x="0" y="113109"/>
                    </a:moveTo>
                    <a:lnTo>
                      <a:pt x="0" y="67866"/>
                    </a:lnTo>
                    <a:lnTo>
                      <a:pt x="158353" y="0"/>
                    </a:lnTo>
                    <a:lnTo>
                      <a:pt x="316706" y="67866"/>
                    </a:lnTo>
                    <a:lnTo>
                      <a:pt x="316706" y="113109"/>
                    </a:lnTo>
                    <a:lnTo>
                      <a:pt x="158353" y="180975"/>
                    </a:lnTo>
                    <a:lnTo>
                      <a:pt x="0" y="113109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499622" y="2249091"/>
                <a:ext cx="316706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13109">
                    <a:moveTo>
                      <a:pt x="158353" y="113109"/>
                    </a:moveTo>
                    <a:lnTo>
                      <a:pt x="0" y="45244"/>
                    </a:lnTo>
                    <a:lnTo>
                      <a:pt x="0" y="0"/>
                    </a:lnTo>
                    <a:lnTo>
                      <a:pt x="158353" y="67866"/>
                    </a:lnTo>
                    <a:lnTo>
                      <a:pt x="316706" y="0"/>
                    </a:lnTo>
                    <a:lnTo>
                      <a:pt x="316706" y="45244"/>
                    </a:lnTo>
                    <a:lnTo>
                      <a:pt x="158353" y="113109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499622" y="2158603"/>
                <a:ext cx="316706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13109">
                    <a:moveTo>
                      <a:pt x="0" y="45244"/>
                    </a:moveTo>
                    <a:lnTo>
                      <a:pt x="158353" y="113109"/>
                    </a:lnTo>
                    <a:lnTo>
                      <a:pt x="316706" y="45244"/>
                    </a:lnTo>
                    <a:lnTo>
                      <a:pt x="316706" y="0"/>
                    </a:lnTo>
                    <a:lnTo>
                      <a:pt x="158353" y="67866"/>
                    </a:lnTo>
                    <a:lnTo>
                      <a:pt x="0" y="0"/>
                    </a:lnTo>
                    <a:lnTo>
                      <a:pt x="0" y="45244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466332" y="2554605"/>
              <a:ext cx="12619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Registry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094" y="3104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查表分发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8618" y="3555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替代 if / elif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8618" y="39176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新增工具低改动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5822" y="4584382"/>
              <a:ext cx="2410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收益：Executor 不膨胀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010650" y="1714500"/>
            <a:ext cx="2476500" cy="3714750"/>
            <a:chOff x="9010650" y="1714500"/>
            <a:chExt cx="2476500" cy="3714750"/>
          </a:xfrm>
        </p:grpSpPr>
        <p:sp>
          <p:nvSpPr>
            <p:cNvPr id="37" name="Rectangle 37"/>
            <p:cNvSpPr/>
            <p:nvPr/>
          </p:nvSpPr>
          <p:spPr>
            <a:xfrm>
              <a:off x="90106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22C55E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280922" y="2022872"/>
              <a:ext cx="316707" cy="316707"/>
              <a:chOff x="9280922" y="2022872"/>
              <a:chExt cx="316707" cy="31670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0922" y="2022872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90488" y="45244"/>
                    </a:moveTo>
                    <a:cubicBezTo>
                      <a:pt x="90488" y="70231"/>
                      <a:pt x="70231" y="90488"/>
                      <a:pt x="45244" y="90488"/>
                    </a:cubicBezTo>
                    <a:cubicBezTo>
                      <a:pt x="20256" y="90488"/>
                      <a:pt x="0" y="70231"/>
                      <a:pt x="0" y="45244"/>
                    </a:cubicBez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1" y="0"/>
                      <a:pt x="90488" y="20256"/>
                      <a:pt x="90488" y="45244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507141" y="2249091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90488" y="45244"/>
                    </a:moveTo>
                    <a:cubicBezTo>
                      <a:pt x="90488" y="70232"/>
                      <a:pt x="70232" y="90488"/>
                      <a:pt x="45244" y="90488"/>
                    </a:cubicBezTo>
                    <a:cubicBezTo>
                      <a:pt x="20256" y="90488"/>
                      <a:pt x="0" y="70232"/>
                      <a:pt x="0" y="45244"/>
                    </a:cubicBez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2" y="0"/>
                      <a:pt x="90488" y="20256"/>
                      <a:pt x="90488" y="45244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303544" y="2022872"/>
                <a:ext cx="271462" cy="316706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316706">
                    <a:moveTo>
                      <a:pt x="158353" y="79177"/>
                    </a:moveTo>
                    <a:cubicBezTo>
                      <a:pt x="158353" y="60436"/>
                      <a:pt x="173545" y="45244"/>
                      <a:pt x="192286" y="45244"/>
                    </a:cubicBezTo>
                    <a:cubicBezTo>
                      <a:pt x="211026" y="45244"/>
                      <a:pt x="226219" y="60436"/>
                      <a:pt x="226219" y="79177"/>
                    </a:cubicBezTo>
                    <a:lnTo>
                      <a:pt x="226219" y="180975"/>
                    </a:lnTo>
                    <a:lnTo>
                      <a:pt x="271462" y="180975"/>
                    </a:lnTo>
                    <a:lnTo>
                      <a:pt x="271462" y="79177"/>
                    </a:lnTo>
                    <a:cubicBezTo>
                      <a:pt x="271462" y="35448"/>
                      <a:pt x="236014" y="0"/>
                      <a:pt x="192286" y="0"/>
                    </a:cubicBezTo>
                    <a:cubicBezTo>
                      <a:pt x="148558" y="0"/>
                      <a:pt x="113109" y="35448"/>
                      <a:pt x="113109" y="79177"/>
                    </a:cubicBezTo>
                    <a:lnTo>
                      <a:pt x="113109" y="237530"/>
                    </a:lnTo>
                    <a:cubicBezTo>
                      <a:pt x="113109" y="256270"/>
                      <a:pt x="97917" y="271462"/>
                      <a:pt x="79177" y="271462"/>
                    </a:cubicBezTo>
                    <a:cubicBezTo>
                      <a:pt x="60436" y="271462"/>
                      <a:pt x="45244" y="256270"/>
                      <a:pt x="45244" y="237530"/>
                    </a:cubicBezTo>
                    <a:lnTo>
                      <a:pt x="45244" y="135731"/>
                    </a:lnTo>
                    <a:lnTo>
                      <a:pt x="0" y="135731"/>
                    </a:lnTo>
                    <a:lnTo>
                      <a:pt x="0" y="237530"/>
                    </a:lnTo>
                    <a:cubicBezTo>
                      <a:pt x="0" y="281258"/>
                      <a:pt x="35448" y="316706"/>
                      <a:pt x="79177" y="316706"/>
                    </a:cubicBezTo>
                    <a:cubicBezTo>
                      <a:pt x="122905" y="316706"/>
                      <a:pt x="158353" y="281258"/>
                      <a:pt x="158353" y="237530"/>
                    </a:cubicBezTo>
                    <a:lnTo>
                      <a:pt x="158353" y="79177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9247632" y="2554605"/>
              <a:ext cx="12706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PlanStep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48394" y="3104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链式传值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49918" y="3555682"/>
              <a:ext cx="7941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params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49918" y="3917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inputs_from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53525" y="45843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收益：跨工具协作可控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59461" y="5877878"/>
            <a:ext cx="9073079" cy="498729"/>
            <a:chOff x="1559461" y="5877878"/>
            <a:chExt cx="9073079" cy="498729"/>
          </a:xfrm>
        </p:grpSpPr>
        <p:sp>
          <p:nvSpPr>
            <p:cNvPr id="48" name="TextBox 48"/>
            <p:cNvSpPr txBox="1"/>
            <p:nvPr/>
          </p:nvSpPr>
          <p:spPr>
            <a:xfrm>
              <a:off x="1559461" y="5877878"/>
              <a:ext cx="9073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统一底座让“加工具”变成注册新能力，而不是重写执行器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36" grpId="0"/>
      <p:bldP spid="47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762000" y="3429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A3A52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1524000"/>
              <a:ext cx="10668000" cy="3810000"/>
            </a:xfrm>
            <a:custGeom>
              <a:avLst/>
              <a:gdLst/>
              <a:ahLst/>
              <a:cxnLst/>
              <a:rect l="l" t="t" r="r" b="b"/>
              <a:pathLst>
                <a:path w="10668000" h="3810000">
                  <a:moveTo>
                    <a:pt x="0" y="0"/>
                  </a:moveTo>
                  <a:lnTo>
                    <a:pt x="10668000" y="0"/>
                  </a:lnTo>
                  <a:moveTo>
                    <a:pt x="0" y="3810000"/>
                  </a:moveTo>
                  <a:lnTo>
                    <a:pt x="10668000" y="3810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0071194" cy="946594"/>
            <a:chOff x="514350" y="264795"/>
            <a:chExt cx="10071194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00711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四轮演进让系统从“可运行”走向“可运营”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每一版不是单纯加功能，而是在补一块长期运行所需的工程底座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4612" y="2646998"/>
            <a:ext cx="1636776" cy="1942147"/>
            <a:chOff x="324612" y="2646998"/>
            <a:chExt cx="1636776" cy="1942147"/>
          </a:xfrm>
        </p:grpSpPr>
        <p:sp>
          <p:nvSpPr>
            <p:cNvPr id="9" name="Ellipse 9"/>
            <p:cNvSpPr/>
            <p:nvPr/>
          </p:nvSpPr>
          <p:spPr>
            <a:xfrm>
              <a:off x="933450" y="3219450"/>
              <a:ext cx="419100" cy="4191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v1.0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8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4612" y="4295775"/>
              <a:ext cx="1636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RAG / 多轮 / SSE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59167" y="2646998"/>
            <a:ext cx="1520666" cy="1942147"/>
            <a:chOff x="2859167" y="2646998"/>
            <a:chExt cx="1520666" cy="1942147"/>
          </a:xfrm>
        </p:grpSpPr>
        <p:sp>
          <p:nvSpPr>
            <p:cNvPr id="14" name="Ellipse 14"/>
            <p:cNvSpPr/>
            <p:nvPr/>
          </p:nvSpPr>
          <p:spPr>
            <a:xfrm>
              <a:off x="3409950" y="3219450"/>
              <a:ext cx="419100" cy="4191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063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v2.0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583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统一底座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9167" y="4295775"/>
              <a:ext cx="1520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BaseTool / HITL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8938" y="2646998"/>
            <a:ext cx="1754124" cy="1942147"/>
            <a:chOff x="5218938" y="2646998"/>
            <a:chExt cx="1754124" cy="1942147"/>
          </a:xfrm>
        </p:grpSpPr>
        <p:sp>
          <p:nvSpPr>
            <p:cNvPr id="19" name="Ellipse 19"/>
            <p:cNvSpPr/>
            <p:nvPr/>
          </p:nvSpPr>
          <p:spPr>
            <a:xfrm>
              <a:off x="5886450" y="3219450"/>
              <a:ext cx="419100" cy="4191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828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v2.1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7008" y="38852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可观测运营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18938" y="4295775"/>
              <a:ext cx="175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反馈 / 监控 / MCP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79436" y="2646998"/>
            <a:ext cx="1786128" cy="1942147"/>
            <a:chOff x="7679436" y="2646998"/>
            <a:chExt cx="1786128" cy="1942147"/>
          </a:xfrm>
        </p:grpSpPr>
        <p:sp>
          <p:nvSpPr>
            <p:cNvPr id="24" name="Ellipse 24"/>
            <p:cNvSpPr/>
            <p:nvPr/>
          </p:nvSpPr>
          <p:spPr>
            <a:xfrm>
              <a:off x="8362950" y="32194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593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v2.2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13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长期可用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79436" y="4295775"/>
              <a:ext cx="1786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记忆压缩 / UI 回归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188473" y="2646998"/>
            <a:ext cx="1721053" cy="1942147"/>
            <a:chOff x="10188473" y="2646998"/>
            <a:chExt cx="1721053" cy="1942147"/>
          </a:xfrm>
        </p:grpSpPr>
        <p:sp>
          <p:nvSpPr>
            <p:cNvPr id="29" name="Ellipse 29"/>
            <p:cNvSpPr/>
            <p:nvPr/>
          </p:nvSpPr>
          <p:spPr>
            <a:xfrm>
              <a:off x="10839450" y="3219450"/>
              <a:ext cx="419100" cy="4191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7358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v2.3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878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系统收口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88473" y="4295775"/>
              <a:ext cx="1721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周边 / Supervisor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91033" y="5572125"/>
            <a:ext cx="8609933" cy="609600"/>
            <a:chOff x="1791033" y="5572125"/>
            <a:chExt cx="8609933" cy="609600"/>
          </a:xfrm>
        </p:grpSpPr>
        <p:sp>
          <p:nvSpPr>
            <p:cNvPr id="34" name="Rectangle 34"/>
            <p:cNvSpPr/>
            <p:nvPr/>
          </p:nvSpPr>
          <p:spPr>
            <a:xfrm>
              <a:off x="2381250" y="5572125"/>
              <a:ext cx="7429500" cy="609600"/>
            </a:xfrm>
            <a:prstGeom prst="roundRect">
              <a:avLst>
                <a:gd name="adj" fmla="val 9375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91033" y="5719762"/>
              <a:ext cx="86099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主线：先跑闭环，再统一底座，最后把能力收口为可运营系统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3" grpId="0"/>
      <p:bldP spid="28" grpId="0"/>
      <p:bldP spid="33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33400" y="1257300"/>
              <a:ext cx="11125200" cy="4572000"/>
            </a:xfrm>
            <a:custGeom>
              <a:avLst/>
              <a:gdLst/>
              <a:ahLst/>
              <a:cxnLst/>
              <a:rect l="l" t="t" r="r" b="b"/>
              <a:pathLst>
                <a:path w="11125200" h="4572000">
                  <a:moveTo>
                    <a:pt x="0" y="0"/>
                  </a:moveTo>
                  <a:lnTo>
                    <a:pt x="11125200" y="0"/>
                  </a:lnTo>
                  <a:moveTo>
                    <a:pt x="0" y="914400"/>
                  </a:moveTo>
                  <a:lnTo>
                    <a:pt x="11125200" y="914400"/>
                  </a:lnTo>
                  <a:moveTo>
                    <a:pt x="0" y="1828800"/>
                  </a:moveTo>
                  <a:lnTo>
                    <a:pt x="11125200" y="1828800"/>
                  </a:lnTo>
                  <a:moveTo>
                    <a:pt x="0" y="2743200"/>
                  </a:moveTo>
                  <a:lnTo>
                    <a:pt x="11125200" y="2743200"/>
                  </a:lnTo>
                  <a:moveTo>
                    <a:pt x="0" y="3657600"/>
                  </a:moveTo>
                  <a:lnTo>
                    <a:pt x="11125200" y="3657600"/>
                  </a:lnTo>
                  <a:moveTo>
                    <a:pt x="0" y="4572000"/>
                  </a:moveTo>
                  <a:lnTo>
                    <a:pt x="111252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  <p:sp>
          <p:nvSpPr>
            <p:cNvPr id="4" name="Freeform 4"/>
            <p:cNvSpPr/>
            <p:nvPr/>
          </p:nvSpPr>
          <p:spPr>
            <a:xfrm>
              <a:off x="1047750" y="419100"/>
              <a:ext cx="9525000" cy="6019800"/>
            </a:xfrm>
            <a:custGeom>
              <a:avLst/>
              <a:gdLst/>
              <a:ahLst/>
              <a:cxnLst/>
              <a:rect l="l" t="t" r="r" b="b"/>
              <a:pathLst>
                <a:path w="9525000" h="6019800">
                  <a:moveTo>
                    <a:pt x="0" y="0"/>
                  </a:moveTo>
                  <a:lnTo>
                    <a:pt x="0" y="6019800"/>
                  </a:lnTo>
                  <a:moveTo>
                    <a:pt x="1905000" y="0"/>
                  </a:moveTo>
                  <a:lnTo>
                    <a:pt x="1905000" y="6019800"/>
                  </a:lnTo>
                  <a:moveTo>
                    <a:pt x="3810000" y="0"/>
                  </a:moveTo>
                  <a:lnTo>
                    <a:pt x="3810000" y="6019800"/>
                  </a:lnTo>
                  <a:moveTo>
                    <a:pt x="5715000" y="0"/>
                  </a:moveTo>
                  <a:lnTo>
                    <a:pt x="5715000" y="6019800"/>
                  </a:lnTo>
                  <a:moveTo>
                    <a:pt x="7620000" y="0"/>
                  </a:moveTo>
                  <a:lnTo>
                    <a:pt x="7620000" y="6019800"/>
                  </a:lnTo>
                  <a:moveTo>
                    <a:pt x="9525000" y="0"/>
                  </a:moveTo>
                  <a:lnTo>
                    <a:pt x="9525000" y="60198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>
                  <a:alpha val="48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0181448" cy="946594"/>
            <a:chOff x="514350" y="264795"/>
            <a:chExt cx="10181448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018144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21 项验收条目全部通过，结论可以先给出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功能需求、扩展需求与非功能需求均已达成，验收通过率为百分之百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2450" y="1308735"/>
            <a:ext cx="3028950" cy="1358265"/>
            <a:chOff x="552450" y="1308735"/>
            <a:chExt cx="3028950" cy="1358265"/>
          </a:xfrm>
        </p:grpSpPr>
        <p:sp>
          <p:nvSpPr>
            <p:cNvPr id="9" name="Rectangle 9"/>
            <p:cNvSpPr/>
            <p:nvPr/>
          </p:nvSpPr>
          <p:spPr>
            <a:xfrm>
              <a:off x="552450" y="1409700"/>
              <a:ext cx="3028950" cy="1257300"/>
            </a:xfrm>
            <a:prstGeom prst="roundRect">
              <a:avLst>
                <a:gd name="adj" fmla="val 4545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81050" y="16573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419100"/>
                  </a:moveTo>
                  <a:cubicBezTo>
                    <a:pt x="325282" y="419100"/>
                    <a:pt x="419100" y="325282"/>
                    <a:pt x="419100" y="209550"/>
                  </a:cubicBezTo>
                  <a:cubicBezTo>
                    <a:pt x="419100" y="93819"/>
                    <a:pt x="325282" y="0"/>
                    <a:pt x="209550" y="0"/>
                  </a:cubicBezTo>
                  <a:cubicBezTo>
                    <a:pt x="93819" y="0"/>
                    <a:pt x="0" y="93819"/>
                    <a:pt x="0" y="209550"/>
                  </a:cubicBezTo>
                  <a:cubicBezTo>
                    <a:pt x="0" y="325282"/>
                    <a:pt x="93819" y="419100"/>
                    <a:pt x="209550" y="419100"/>
                  </a:cubicBezTo>
                  <a:close/>
                  <a:moveTo>
                    <a:pt x="332847" y="149491"/>
                  </a:moveTo>
                  <a:lnTo>
                    <a:pt x="295803" y="112447"/>
                  </a:lnTo>
                  <a:lnTo>
                    <a:pt x="170259" y="237991"/>
                  </a:lnTo>
                  <a:lnTo>
                    <a:pt x="123297" y="191028"/>
                  </a:lnTo>
                  <a:lnTo>
                    <a:pt x="86253" y="228072"/>
                  </a:lnTo>
                  <a:lnTo>
                    <a:pt x="170259" y="312078"/>
                  </a:lnTo>
                  <a:lnTo>
                    <a:pt x="332847" y="149491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71600" y="1308735"/>
              <a:ext cx="197178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8670" y="21383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验收通过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9518" y="2203132"/>
              <a:ext cx="760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21 / 21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3009900"/>
            <a:ext cx="7067550" cy="2609850"/>
            <a:chOff x="552450" y="3009900"/>
            <a:chExt cx="7067550" cy="2609850"/>
          </a:xfrm>
        </p:grpSpPr>
        <p:sp>
          <p:nvSpPr>
            <p:cNvPr id="15" name="Rectangle 15"/>
            <p:cNvSpPr/>
            <p:nvPr/>
          </p:nvSpPr>
          <p:spPr>
            <a:xfrm>
              <a:off x="552450" y="3009900"/>
              <a:ext cx="7067550" cy="2609850"/>
            </a:xfrm>
            <a:prstGeom prst="roundRect">
              <a:avLst>
                <a:gd name="adj" fmla="val 2190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52450" y="3009900"/>
              <a:ext cx="7067550" cy="5143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0956" y="31489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验收维度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7456" y="31489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条目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96206" y="31489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达成版本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5824" y="31489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048000" y="30099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381500" y="30099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00750" y="30099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4038600"/>
              <a:ext cx="7067550" cy="1028700"/>
            </a:xfrm>
            <a:custGeom>
              <a:avLst/>
              <a:gdLst/>
              <a:ahLst/>
              <a:cxnLst/>
              <a:rect l="l" t="t" r="r" b="b"/>
              <a:pathLst>
                <a:path w="7067550" h="1028700">
                  <a:moveTo>
                    <a:pt x="0" y="0"/>
                  </a:moveTo>
                  <a:lnTo>
                    <a:pt x="7067550" y="0"/>
                  </a:lnTo>
                  <a:moveTo>
                    <a:pt x="0" y="514350"/>
                  </a:moveTo>
                  <a:lnTo>
                    <a:pt x="7067550" y="514350"/>
                  </a:lnTo>
                  <a:moveTo>
                    <a:pt x="0" y="1028700"/>
                  </a:moveTo>
                  <a:lnTo>
                    <a:pt x="7067550" y="10287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A3A5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9432" y="364998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必须完成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76813" y="363378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5 / 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96968" y="3698558"/>
              <a:ext cx="1024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v1.0 MVP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21895" y="364998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432" y="416433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推荐完成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76813" y="414813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5 / 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96968" y="4212908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v1.0 - v2.3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21895" y="416433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9432" y="467868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可选扩展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76813" y="466248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6 / 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96968" y="4727258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v2.0 - v2.3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1895" y="467868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9432" y="519303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非功能需求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76813" y="517683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5 / 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96968" y="52416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全版本支持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21895" y="519303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020050" y="1409700"/>
            <a:ext cx="5625084" cy="4210050"/>
            <a:chOff x="8020050" y="1409700"/>
            <a:chExt cx="5625084" cy="4210050"/>
          </a:xfrm>
        </p:grpSpPr>
        <p:sp>
          <p:nvSpPr>
            <p:cNvPr id="42" name="Rectangle 42"/>
            <p:cNvSpPr/>
            <p:nvPr/>
          </p:nvSpPr>
          <p:spPr>
            <a:xfrm>
              <a:off x="8020050" y="1409700"/>
              <a:ext cx="3638550" cy="4210050"/>
            </a:xfrm>
            <a:prstGeom prst="roundRect">
              <a:avLst>
                <a:gd name="adj" fmla="val 1571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2846" y="159162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结论公式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97418" y="2060258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所有条目进入同一条证据链，不按演示印象主观判断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77250" y="2686050"/>
              <a:ext cx="2724150" cy="542925"/>
            </a:xfrm>
            <a:prstGeom prst="rect">
              <a:avLst/>
            </a:prstGeom>
          </p:spPr>
        </p:pic>
        <p:sp>
          <p:nvSpPr>
            <p:cNvPr id="46" name="Freeform 46"/>
            <p:cNvSpPr/>
            <p:nvPr/>
          </p:nvSpPr>
          <p:spPr>
            <a:xfrm>
              <a:off x="8477250" y="365760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7DD3FC"/>
              </a:solidFill>
              <a:prstDash val="lgDash"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546306" y="4000500"/>
              <a:ext cx="300038" cy="400050"/>
              <a:chOff x="8546306" y="4000500"/>
              <a:chExt cx="300038" cy="4000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546306" y="4000500"/>
                <a:ext cx="3000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0012">
                    <a:moveTo>
                      <a:pt x="300038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300038" y="100012"/>
                    </a:lnTo>
                    <a:lnTo>
                      <a:pt x="300038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546306" y="4150519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0" y="0"/>
                    </a:moveTo>
                    <a:lnTo>
                      <a:pt x="125016" y="0"/>
                    </a:lnTo>
                    <a:lnTo>
                      <a:pt x="125016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546306" y="4300538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0" y="0"/>
                    </a:moveTo>
                    <a:lnTo>
                      <a:pt x="125016" y="0"/>
                    </a:lnTo>
                    <a:lnTo>
                      <a:pt x="125016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21328" y="4300538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0" y="0"/>
                    </a:moveTo>
                    <a:lnTo>
                      <a:pt x="125016" y="0"/>
                    </a:lnTo>
                    <a:lnTo>
                      <a:pt x="125016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21328" y="4150519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125016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125016" y="100012"/>
                    </a:lnTo>
                    <a:lnTo>
                      <a:pt x="125016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075420" y="40243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需求对照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521303" y="4629150"/>
              <a:ext cx="350044" cy="400050"/>
              <a:chOff x="8521303" y="4629150"/>
              <a:chExt cx="350044" cy="4000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621316" y="4629150"/>
                <a:ext cx="25003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00038">
                    <a:moveTo>
                      <a:pt x="150019" y="0"/>
                    </a:moveTo>
                    <a:lnTo>
                      <a:pt x="0" y="0"/>
                    </a:lnTo>
                    <a:lnTo>
                      <a:pt x="0" y="300038"/>
                    </a:lnTo>
                    <a:lnTo>
                      <a:pt x="250031" y="300038"/>
                    </a:lnTo>
                    <a:lnTo>
                      <a:pt x="250031" y="100012"/>
                    </a:lnTo>
                    <a:lnTo>
                      <a:pt x="150019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521303" y="4729162"/>
                <a:ext cx="25003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250031" y="300038"/>
                    </a:lnTo>
                    <a:lnTo>
                      <a:pt x="250031" y="250031"/>
                    </a:lnTo>
                    <a:lnTo>
                      <a:pt x="50006" y="250031"/>
                    </a:lnTo>
                    <a:lnTo>
                      <a:pt x="500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9075420" y="46529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测试沉淀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97418" y="52130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验收结论：功能、治理、观测、回归四条证据同时闭合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27304" y="6309360"/>
            <a:ext cx="52864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P09 · consulting table adaptation · Source: Agent 系统验收说明文档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1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33400" y="1428750"/>
              <a:ext cx="11125200" cy="4572000"/>
            </a:xfrm>
            <a:custGeom>
              <a:avLst/>
              <a:gdLst/>
              <a:ahLst/>
              <a:cxnLst/>
              <a:rect l="l" t="t" r="r" b="b"/>
              <a:pathLst>
                <a:path w="11125200" h="4572000">
                  <a:moveTo>
                    <a:pt x="0" y="0"/>
                  </a:moveTo>
                  <a:lnTo>
                    <a:pt x="11125200" y="0"/>
                  </a:lnTo>
                  <a:moveTo>
                    <a:pt x="0" y="1143000"/>
                  </a:moveTo>
                  <a:lnTo>
                    <a:pt x="11125200" y="1143000"/>
                  </a:lnTo>
                  <a:moveTo>
                    <a:pt x="0" y="2286000"/>
                  </a:moveTo>
                  <a:lnTo>
                    <a:pt x="11125200" y="2286000"/>
                  </a:lnTo>
                  <a:moveTo>
                    <a:pt x="0" y="3429000"/>
                  </a:moveTo>
                  <a:lnTo>
                    <a:pt x="11125200" y="3429000"/>
                  </a:lnTo>
                  <a:moveTo>
                    <a:pt x="0" y="4572000"/>
                  </a:moveTo>
                  <a:lnTo>
                    <a:pt x="111252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419100"/>
              <a:ext cx="10668000" cy="6019800"/>
            </a:xfrm>
            <a:custGeom>
              <a:avLst/>
              <a:gdLst/>
              <a:ahLst/>
              <a:cxnLst/>
              <a:rect l="l" t="t" r="r" b="b"/>
              <a:pathLst>
                <a:path w="10668000" h="6019800">
                  <a:moveTo>
                    <a:pt x="0" y="0"/>
                  </a:moveTo>
                  <a:lnTo>
                    <a:pt x="0" y="6019800"/>
                  </a:lnTo>
                  <a:moveTo>
                    <a:pt x="2286000" y="0"/>
                  </a:moveTo>
                  <a:lnTo>
                    <a:pt x="2286000" y="6019800"/>
                  </a:lnTo>
                  <a:moveTo>
                    <a:pt x="4572000" y="0"/>
                  </a:moveTo>
                  <a:lnTo>
                    <a:pt x="4572000" y="6019800"/>
                  </a:lnTo>
                  <a:moveTo>
                    <a:pt x="6858000" y="0"/>
                  </a:moveTo>
                  <a:lnTo>
                    <a:pt x="6858000" y="6019800"/>
                  </a:lnTo>
                  <a:moveTo>
                    <a:pt x="9144000" y="0"/>
                  </a:moveTo>
                  <a:lnTo>
                    <a:pt x="9144000" y="6019800"/>
                  </a:lnTo>
                  <a:moveTo>
                    <a:pt x="10668000" y="0"/>
                  </a:moveTo>
                  <a:lnTo>
                    <a:pt x="10668000" y="60198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>
                  <a:alpha val="4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8256427" cy="946594"/>
            <a:chOff x="514350" y="264795"/>
            <a:chExt cx="8256427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825642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非功能验收证明它不是一次 Demo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稳定性、可维护性、可扩展性、安全和用户体验都有对应工程抓手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2450" y="1524000"/>
            <a:ext cx="2038350" cy="3981450"/>
            <a:chOff x="552450" y="1524000"/>
            <a:chExt cx="2038350" cy="3981450"/>
          </a:xfrm>
        </p:grpSpPr>
        <p:sp>
          <p:nvSpPr>
            <p:cNvPr id="9" name="Rectangle 9"/>
            <p:cNvSpPr/>
            <p:nvPr/>
          </p:nvSpPr>
          <p:spPr>
            <a:xfrm>
              <a:off x="55245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1524000"/>
              <a:ext cx="2038350" cy="114300"/>
            </a:xfrm>
            <a:prstGeom prst="rect">
              <a:avLst/>
            </a:prstGeom>
            <a:solidFill>
              <a:srgbClr val="7DD3FC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1050" y="1902619"/>
              <a:ext cx="438150" cy="328612"/>
              <a:chOff x="781050" y="1902619"/>
              <a:chExt cx="438150" cy="32861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81050" y="1902619"/>
                <a:ext cx="438150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136922">
                    <a:moveTo>
                      <a:pt x="438150" y="0"/>
                    </a:moveTo>
                    <a:lnTo>
                      <a:pt x="0" y="0"/>
                    </a:lnTo>
                    <a:lnTo>
                      <a:pt x="0" y="136922"/>
                    </a:lnTo>
                    <a:lnTo>
                      <a:pt x="438150" y="136922"/>
                    </a:lnTo>
                    <a:lnTo>
                      <a:pt x="438150" y="0"/>
                    </a:lnTo>
                    <a:close/>
                    <a:moveTo>
                      <a:pt x="109538" y="68461"/>
                    </a:moveTo>
                    <a:cubicBezTo>
                      <a:pt x="109538" y="83585"/>
                      <a:pt x="97277" y="95845"/>
                      <a:pt x="82153" y="95845"/>
                    </a:cubicBezTo>
                    <a:cubicBezTo>
                      <a:pt x="67029" y="95845"/>
                      <a:pt x="54769" y="83585"/>
                      <a:pt x="54769" y="68461"/>
                    </a:cubicBezTo>
                    <a:cubicBezTo>
                      <a:pt x="54769" y="53337"/>
                      <a:pt x="67029" y="41077"/>
                      <a:pt x="82153" y="41077"/>
                    </a:cubicBezTo>
                    <a:cubicBezTo>
                      <a:pt x="97277" y="41077"/>
                      <a:pt x="109538" y="53337"/>
                      <a:pt x="109538" y="68461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81050" y="2094309"/>
                <a:ext cx="438150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136922">
                    <a:moveTo>
                      <a:pt x="438150" y="0"/>
                    </a:moveTo>
                    <a:lnTo>
                      <a:pt x="0" y="0"/>
                    </a:lnTo>
                    <a:lnTo>
                      <a:pt x="0" y="136922"/>
                    </a:lnTo>
                    <a:lnTo>
                      <a:pt x="438150" y="136922"/>
                    </a:lnTo>
                    <a:lnTo>
                      <a:pt x="438150" y="0"/>
                    </a:lnTo>
                    <a:close/>
                    <a:moveTo>
                      <a:pt x="82153" y="95845"/>
                    </a:moveTo>
                    <a:cubicBezTo>
                      <a:pt x="97277" y="95845"/>
                      <a:pt x="109538" y="83585"/>
                      <a:pt x="109538" y="68461"/>
                    </a:cubicBezTo>
                    <a:cubicBezTo>
                      <a:pt x="109538" y="53337"/>
                      <a:pt x="97277" y="41077"/>
                      <a:pt x="82153" y="41077"/>
                    </a:cubicBezTo>
                    <a:cubicBezTo>
                      <a:pt x="67029" y="41077"/>
                      <a:pt x="54769" y="53337"/>
                      <a:pt x="54769" y="68461"/>
                    </a:cubicBezTo>
                    <a:cubicBezTo>
                      <a:pt x="54769" y="83585"/>
                      <a:pt x="67029" y="95845"/>
                      <a:pt x="82153" y="95845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69620" y="24050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稳定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927032"/>
              <a:ext cx="1693164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独立子系统边界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MCP 不可用回退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输入异常前置拦截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工具链降级策略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19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NFR-01 PASS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19400" y="1524000"/>
            <a:ext cx="2038350" cy="3981450"/>
            <a:chOff x="2819400" y="1524000"/>
            <a:chExt cx="2038350" cy="3981450"/>
          </a:xfrm>
        </p:grpSpPr>
        <p:sp>
          <p:nvSpPr>
            <p:cNvPr id="18" name="Rectangle 18"/>
            <p:cNvSpPr/>
            <p:nvPr/>
          </p:nvSpPr>
          <p:spPr>
            <a:xfrm>
              <a:off x="281940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819400" y="1524000"/>
              <a:ext cx="2038350" cy="1143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075384" y="1847850"/>
              <a:ext cx="383381" cy="438150"/>
              <a:chOff x="3075384" y="1847850"/>
              <a:chExt cx="383381" cy="4381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075384" y="1847850"/>
                <a:ext cx="383381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219075">
                    <a:moveTo>
                      <a:pt x="0" y="136922"/>
                    </a:moveTo>
                    <a:lnTo>
                      <a:pt x="0" y="82153"/>
                    </a:lnTo>
                    <a:lnTo>
                      <a:pt x="191691" y="0"/>
                    </a:lnTo>
                    <a:lnTo>
                      <a:pt x="383381" y="82153"/>
                    </a:lnTo>
                    <a:lnTo>
                      <a:pt x="383381" y="136922"/>
                    </a:lnTo>
                    <a:lnTo>
                      <a:pt x="191691" y="219075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075384" y="2149078"/>
                <a:ext cx="383381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136922">
                    <a:moveTo>
                      <a:pt x="191691" y="136922"/>
                    </a:moveTo>
                    <a:lnTo>
                      <a:pt x="0" y="54769"/>
                    </a:lnTo>
                    <a:lnTo>
                      <a:pt x="0" y="0"/>
                    </a:lnTo>
                    <a:lnTo>
                      <a:pt x="191691" y="82153"/>
                    </a:lnTo>
                    <a:lnTo>
                      <a:pt x="383381" y="0"/>
                    </a:lnTo>
                    <a:lnTo>
                      <a:pt x="383381" y="54769"/>
                    </a:lnTo>
                    <a:lnTo>
                      <a:pt x="191691" y="136922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075384" y="2039541"/>
                <a:ext cx="383381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136922">
                    <a:moveTo>
                      <a:pt x="0" y="54769"/>
                    </a:moveTo>
                    <a:lnTo>
                      <a:pt x="191691" y="136922"/>
                    </a:lnTo>
                    <a:lnTo>
                      <a:pt x="383381" y="54769"/>
                    </a:lnTo>
                    <a:lnTo>
                      <a:pt x="383381" y="0"/>
                    </a:lnTo>
                    <a:lnTo>
                      <a:pt x="191691" y="82153"/>
                    </a:lnTo>
                    <a:lnTo>
                      <a:pt x="0" y="0"/>
                    </a:lnTo>
                    <a:lnTo>
                      <a:pt x="0" y="54769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036570" y="24050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可维护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39618" y="2927032"/>
              <a:ext cx="1274064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分层目录结构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独立数据模型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工具逻辑收敛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协议单独沉淀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114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NFR-02 PASS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86350" y="1524000"/>
            <a:ext cx="2038350" cy="3981450"/>
            <a:chOff x="5086350" y="1524000"/>
            <a:chExt cx="2038350" cy="3981450"/>
          </a:xfrm>
        </p:grpSpPr>
        <p:sp>
          <p:nvSpPr>
            <p:cNvPr id="28" name="Rectangle 28"/>
            <p:cNvSpPr/>
            <p:nvPr/>
          </p:nvSpPr>
          <p:spPr>
            <a:xfrm>
              <a:off x="508635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86350" y="1524000"/>
              <a:ext cx="2038350" cy="114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342334" y="1875234"/>
              <a:ext cx="383381" cy="383381"/>
            </a:xfrm>
            <a:custGeom>
              <a:avLst/>
              <a:gdLst/>
              <a:ahLst/>
              <a:cxnLst/>
              <a:rect l="l" t="t" r="r" b="b"/>
              <a:pathLst>
                <a:path w="383381" h="383381">
                  <a:moveTo>
                    <a:pt x="383381" y="0"/>
                  </a:moveTo>
                  <a:lnTo>
                    <a:pt x="0" y="0"/>
                  </a:lnTo>
                  <a:lnTo>
                    <a:pt x="0" y="383381"/>
                  </a:lnTo>
                  <a:lnTo>
                    <a:pt x="383381" y="383381"/>
                  </a:lnTo>
                  <a:lnTo>
                    <a:pt x="383381" y="0"/>
                  </a:lnTo>
                  <a:close/>
                  <a:moveTo>
                    <a:pt x="136922" y="109538"/>
                  </a:moveTo>
                  <a:lnTo>
                    <a:pt x="175649" y="148265"/>
                  </a:lnTo>
                  <a:lnTo>
                    <a:pt x="132224" y="191691"/>
                  </a:lnTo>
                  <a:lnTo>
                    <a:pt x="175649" y="235116"/>
                  </a:lnTo>
                  <a:lnTo>
                    <a:pt x="136922" y="273844"/>
                  </a:lnTo>
                  <a:lnTo>
                    <a:pt x="54769" y="191691"/>
                  </a:lnTo>
                  <a:lnTo>
                    <a:pt x="136922" y="109538"/>
                  </a:lnTo>
                  <a:close/>
                  <a:moveTo>
                    <a:pt x="246459" y="109538"/>
                  </a:moveTo>
                  <a:lnTo>
                    <a:pt x="207732" y="148265"/>
                  </a:lnTo>
                  <a:lnTo>
                    <a:pt x="251159" y="191691"/>
                  </a:lnTo>
                  <a:lnTo>
                    <a:pt x="207732" y="235116"/>
                  </a:lnTo>
                  <a:lnTo>
                    <a:pt x="246459" y="273844"/>
                  </a:lnTo>
                  <a:lnTo>
                    <a:pt x="328612" y="191691"/>
                  </a:lnTo>
                  <a:lnTo>
                    <a:pt x="246459" y="109538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03520" y="24050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可扩展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06568" y="2927032"/>
              <a:ext cx="136836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BaseTool 契约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Persona 注册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卡片协议版本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知识库可扩域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809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NFR-03 PASS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53300" y="1524000"/>
            <a:ext cx="2038350" cy="3981450"/>
            <a:chOff x="7353300" y="1524000"/>
            <a:chExt cx="2038350" cy="3981450"/>
          </a:xfrm>
        </p:grpSpPr>
        <p:sp>
          <p:nvSpPr>
            <p:cNvPr id="35" name="Rectangle 35"/>
            <p:cNvSpPr/>
            <p:nvPr/>
          </p:nvSpPr>
          <p:spPr>
            <a:xfrm>
              <a:off x="735330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353300" y="1524000"/>
              <a:ext cx="2038350" cy="1143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609284" y="1847850"/>
              <a:ext cx="383381" cy="438150"/>
            </a:xfrm>
            <a:custGeom>
              <a:avLst/>
              <a:gdLst/>
              <a:ahLst/>
              <a:cxnLst/>
              <a:rect l="l" t="t" r="r" b="b"/>
              <a:pathLst>
                <a:path w="383381" h="438150">
                  <a:moveTo>
                    <a:pt x="191691" y="438150"/>
                  </a:moveTo>
                  <a:lnTo>
                    <a:pt x="91740" y="366756"/>
                  </a:lnTo>
                  <a:cubicBezTo>
                    <a:pt x="34168" y="325633"/>
                    <a:pt x="0" y="259239"/>
                    <a:pt x="0" y="188488"/>
                  </a:cubicBezTo>
                  <a:lnTo>
                    <a:pt x="0" y="82153"/>
                  </a:lnTo>
                  <a:lnTo>
                    <a:pt x="191691" y="0"/>
                  </a:lnTo>
                  <a:lnTo>
                    <a:pt x="383381" y="82153"/>
                  </a:lnTo>
                  <a:lnTo>
                    <a:pt x="383381" y="188488"/>
                  </a:lnTo>
                  <a:cubicBezTo>
                    <a:pt x="383381" y="259239"/>
                    <a:pt x="349214" y="325633"/>
                    <a:pt x="291641" y="366756"/>
                  </a:cubicBezTo>
                  <a:lnTo>
                    <a:pt x="191691" y="438150"/>
                  </a:lnTo>
                  <a:close/>
                  <a:moveTo>
                    <a:pt x="306899" y="156286"/>
                  </a:moveTo>
                  <a:lnTo>
                    <a:pt x="268172" y="117558"/>
                  </a:lnTo>
                  <a:lnTo>
                    <a:pt x="164306" y="221424"/>
                  </a:lnTo>
                  <a:lnTo>
                    <a:pt x="115209" y="172327"/>
                  </a:lnTo>
                  <a:lnTo>
                    <a:pt x="76482" y="211054"/>
                  </a:lnTo>
                  <a:lnTo>
                    <a:pt x="164306" y="298879"/>
                  </a:lnTo>
                  <a:lnTo>
                    <a:pt x="306899" y="15628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70470" y="24050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3518" y="2927032"/>
              <a:ext cx="132645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权限映射约束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输入安全网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邮件白名单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HITL 人工确认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504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NFR-04 PASS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20250" y="1524000"/>
            <a:ext cx="2038350" cy="3981450"/>
            <a:chOff x="9620250" y="1524000"/>
            <a:chExt cx="2038350" cy="3981450"/>
          </a:xfrm>
        </p:grpSpPr>
        <p:sp>
          <p:nvSpPr>
            <p:cNvPr id="42" name="Rectangle 42"/>
            <p:cNvSpPr/>
            <p:nvPr/>
          </p:nvSpPr>
          <p:spPr>
            <a:xfrm>
              <a:off x="962025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20250" y="1524000"/>
              <a:ext cx="2038350" cy="114300"/>
            </a:xfrm>
            <a:prstGeom prst="rect">
              <a:avLst/>
            </a:prstGeom>
            <a:solidFill>
              <a:srgbClr val="7DD3F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848850" y="1875234"/>
              <a:ext cx="438150" cy="383382"/>
              <a:chOff x="9848850" y="1875234"/>
              <a:chExt cx="438150" cy="38338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931003" y="1875234"/>
                <a:ext cx="136922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136922">
                    <a:moveTo>
                      <a:pt x="136922" y="68461"/>
                    </a:moveTo>
                    <a:cubicBezTo>
                      <a:pt x="136922" y="106271"/>
                      <a:pt x="106271" y="136922"/>
                      <a:pt x="68461" y="136922"/>
                    </a:cubicBezTo>
                    <a:cubicBezTo>
                      <a:pt x="30651" y="136922"/>
                      <a:pt x="0" y="106271"/>
                      <a:pt x="0" y="68461"/>
                    </a:cubicBezTo>
                    <a:cubicBezTo>
                      <a:pt x="0" y="30651"/>
                      <a:pt x="30651" y="0"/>
                      <a:pt x="68461" y="0"/>
                    </a:cubicBezTo>
                    <a:cubicBezTo>
                      <a:pt x="106271" y="0"/>
                      <a:pt x="136922" y="30651"/>
                      <a:pt x="136922" y="68461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48850" y="2066925"/>
                <a:ext cx="219075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91691">
                    <a:moveTo>
                      <a:pt x="82153" y="0"/>
                    </a:moveTo>
                    <a:cubicBezTo>
                      <a:pt x="36781" y="0"/>
                      <a:pt x="0" y="36781"/>
                      <a:pt x="0" y="82153"/>
                    </a:cubicBezTo>
                    <a:lnTo>
                      <a:pt x="0" y="191691"/>
                    </a:lnTo>
                    <a:lnTo>
                      <a:pt x="219075" y="191691"/>
                    </a:lnTo>
                    <a:lnTo>
                      <a:pt x="219075" y="0"/>
                    </a:lnTo>
                    <a:lnTo>
                      <a:pt x="82153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122694" y="2066925"/>
                <a:ext cx="164306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191691">
                    <a:moveTo>
                      <a:pt x="82153" y="0"/>
                    </a:moveTo>
                    <a:lnTo>
                      <a:pt x="0" y="0"/>
                    </a:lnTo>
                    <a:lnTo>
                      <a:pt x="0" y="191691"/>
                    </a:lnTo>
                    <a:lnTo>
                      <a:pt x="164306" y="191691"/>
                    </a:lnTo>
                    <a:lnTo>
                      <a:pt x="164306" y="82153"/>
                    </a:lnTo>
                    <a:cubicBezTo>
                      <a:pt x="164306" y="36781"/>
                      <a:pt x="127526" y="0"/>
                      <a:pt x="82153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122694" y="1902619"/>
                <a:ext cx="109538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09538">
                    <a:moveTo>
                      <a:pt x="54769" y="109538"/>
                    </a:moveTo>
                    <a:cubicBezTo>
                      <a:pt x="85018" y="109538"/>
                      <a:pt x="109538" y="85017"/>
                      <a:pt x="109538" y="54769"/>
                    </a:cubicBezTo>
                    <a:cubicBezTo>
                      <a:pt x="109538" y="24521"/>
                      <a:pt x="85018" y="0"/>
                      <a:pt x="54769" y="0"/>
                    </a:cubicBezTo>
                    <a:cubicBezTo>
                      <a:pt x="24520" y="0"/>
                      <a:pt x="0" y="24521"/>
                      <a:pt x="0" y="54769"/>
                    </a:cubicBezTo>
                    <a:cubicBezTo>
                      <a:pt x="0" y="85017"/>
                      <a:pt x="24520" y="109538"/>
                      <a:pt x="54769" y="109538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837420" y="24050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用户体验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40468" y="2927032"/>
              <a:ext cx="155695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SSE 流式回复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全局 Agent 入口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结构化卡片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反馈与历史摘要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4199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NFR-05 PASS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95934" y="5791200"/>
            <a:ext cx="10200132" cy="530543"/>
            <a:chOff x="995934" y="5791200"/>
            <a:chExt cx="10200132" cy="530543"/>
          </a:xfrm>
        </p:grpSpPr>
        <p:sp>
          <p:nvSpPr>
            <p:cNvPr id="53" name="Rectangle 53"/>
            <p:cNvSpPr/>
            <p:nvPr/>
          </p:nvSpPr>
          <p:spPr>
            <a:xfrm>
              <a:off x="1485900" y="5791200"/>
              <a:ext cx="9220200" cy="5143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5934" y="5881688"/>
              <a:ext cx="102001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非功能验收的意义：证明系统可以长期运行、持续扩展、被治理和被回归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27304" y="6309360"/>
            <a:ext cx="52053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P10 · vertical pillars adaptation · Source: Agent 系统验收说明文档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4" grpId="0"/>
      <p:bldP spid="41" grpId="0"/>
      <p:bldP spid="52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371600"/>
              <a:ext cx="10972800" cy="4572000"/>
            </a:xfrm>
            <a:custGeom>
              <a:avLst/>
              <a:gdLst/>
              <a:ahLst/>
              <a:cxnLst/>
              <a:rect l="l" t="t" r="r" b="b"/>
              <a:pathLst>
                <a:path w="10972800" h="4572000">
                  <a:moveTo>
                    <a:pt x="0" y="0"/>
                  </a:moveTo>
                  <a:lnTo>
                    <a:pt x="10972800" y="0"/>
                  </a:lnTo>
                  <a:moveTo>
                    <a:pt x="0" y="1143000"/>
                  </a:moveTo>
                  <a:lnTo>
                    <a:pt x="10972800" y="1143000"/>
                  </a:lnTo>
                  <a:moveTo>
                    <a:pt x="0" y="2286000"/>
                  </a:moveTo>
                  <a:lnTo>
                    <a:pt x="10972800" y="2286000"/>
                  </a:lnTo>
                  <a:moveTo>
                    <a:pt x="0" y="3429000"/>
                  </a:moveTo>
                  <a:lnTo>
                    <a:pt x="10972800" y="3429000"/>
                  </a:lnTo>
                  <a:moveTo>
                    <a:pt x="0" y="4572000"/>
                  </a:moveTo>
                  <a:lnTo>
                    <a:pt x="109728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  <p:sp>
          <p:nvSpPr>
            <p:cNvPr id="4" name="Freeform 4"/>
            <p:cNvSpPr/>
            <p:nvPr/>
          </p:nvSpPr>
          <p:spPr>
            <a:xfrm>
              <a:off x="1524000" y="419100"/>
              <a:ext cx="9144000" cy="6019800"/>
            </a:xfrm>
            <a:custGeom>
              <a:avLst/>
              <a:gdLst/>
              <a:ahLst/>
              <a:cxnLst/>
              <a:rect l="l" t="t" r="r" b="b"/>
              <a:pathLst>
                <a:path w="9144000" h="6019800">
                  <a:moveTo>
                    <a:pt x="0" y="0"/>
                  </a:moveTo>
                  <a:lnTo>
                    <a:pt x="0" y="6019800"/>
                  </a:lnTo>
                  <a:moveTo>
                    <a:pt x="1524000" y="0"/>
                  </a:moveTo>
                  <a:lnTo>
                    <a:pt x="1524000" y="6019800"/>
                  </a:lnTo>
                  <a:moveTo>
                    <a:pt x="3048000" y="0"/>
                  </a:moveTo>
                  <a:lnTo>
                    <a:pt x="3048000" y="6019800"/>
                  </a:lnTo>
                  <a:moveTo>
                    <a:pt x="4572000" y="0"/>
                  </a:moveTo>
                  <a:lnTo>
                    <a:pt x="4572000" y="6019800"/>
                  </a:lnTo>
                  <a:moveTo>
                    <a:pt x="6096000" y="0"/>
                  </a:moveTo>
                  <a:lnTo>
                    <a:pt x="6096000" y="6019800"/>
                  </a:lnTo>
                  <a:moveTo>
                    <a:pt x="7620000" y="0"/>
                  </a:moveTo>
                  <a:lnTo>
                    <a:pt x="7620000" y="6019800"/>
                  </a:lnTo>
                  <a:moveTo>
                    <a:pt x="9144000" y="0"/>
                  </a:moveTo>
                  <a:lnTo>
                    <a:pt x="9144000" y="60198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>
                  <a:alpha val="42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1614747" cy="946594"/>
            <a:chOff x="514350" y="264795"/>
            <a:chExt cx="11614747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161474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可运营来自任务、反馈、监控和健康状态的闭环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95414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系统好不好用不靠主观判断，由 AgentTask、AgentFeedback、Provider 与 MCP 健康状态支撑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23341" y="2343150"/>
            <a:ext cx="2595813" cy="2400300"/>
            <a:chOff x="4723341" y="2343150"/>
            <a:chExt cx="2595813" cy="2400300"/>
          </a:xfrm>
        </p:grpSpPr>
        <p:sp>
          <p:nvSpPr>
            <p:cNvPr id="9" name="Ellipse 9"/>
            <p:cNvSpPr/>
            <p:nvPr/>
          </p:nvSpPr>
          <p:spPr>
            <a:xfrm>
              <a:off x="4895850" y="2343150"/>
              <a:ext cx="2400300" cy="24003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7DD3FC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219700" y="2667000"/>
              <a:ext cx="1752600" cy="1752600"/>
            </a:xfrm>
            <a:prstGeom prst="ellipse">
              <a:avLst/>
            </a:prstGeom>
            <a:solidFill>
              <a:srgbClr val="111827"/>
            </a:solidFill>
            <a:ln w="9525">
              <a:solidFill>
                <a:srgbClr val="2A3A52"/>
              </a:solidFill>
              <a:prstDash val="lgDash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795962" y="2862262"/>
              <a:ext cx="600075" cy="600075"/>
              <a:chOff x="5795962" y="2862262"/>
              <a:chExt cx="600075" cy="6000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95962" y="2862262"/>
                <a:ext cx="60007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600075">
                    <a:moveTo>
                      <a:pt x="0" y="0"/>
                    </a:moveTo>
                    <a:lnTo>
                      <a:pt x="0" y="600075"/>
                    </a:lnTo>
                    <a:lnTo>
                      <a:pt x="600075" y="600075"/>
                    </a:lnTo>
                    <a:lnTo>
                      <a:pt x="600075" y="514350"/>
                    </a:lnTo>
                    <a:lnTo>
                      <a:pt x="85725" y="514350"/>
                    </a:lnTo>
                    <a:lnTo>
                      <a:pt x="857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967412" y="2947988"/>
                <a:ext cx="4286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42900">
                    <a:moveTo>
                      <a:pt x="0" y="171450"/>
                    </a:moveTo>
                    <a:lnTo>
                      <a:pt x="85725" y="85725"/>
                    </a:lnTo>
                    <a:lnTo>
                      <a:pt x="214312" y="214312"/>
                    </a:lnTo>
                    <a:lnTo>
                      <a:pt x="428625" y="0"/>
                    </a:lnTo>
                    <a:lnTo>
                      <a:pt x="428625" y="342900"/>
                    </a:lnTo>
                    <a:lnTo>
                      <a:pt x="0" y="34290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4723341" y="3624424"/>
              <a:ext cx="25958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Agent 运营面板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84956" y="41214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dashboard + tasks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47950" y="1657350"/>
            <a:ext cx="6896100" cy="3924300"/>
            <a:chOff x="2647950" y="1657350"/>
            <a:chExt cx="6896100" cy="3924300"/>
          </a:xfrm>
        </p:grpSpPr>
        <p:sp>
          <p:nvSpPr>
            <p:cNvPr id="17" name="Line 17"/>
            <p:cNvSpPr/>
            <p:nvPr/>
          </p:nvSpPr>
          <p:spPr>
            <a:xfrm>
              <a:off x="2857500" y="2038350"/>
              <a:ext cx="2238375" cy="819150"/>
            </a:xfrm>
            <a:custGeom>
              <a:avLst/>
              <a:gdLst/>
              <a:ahLst/>
              <a:cxnLst/>
              <a:rect l="l" t="t" r="r" b="b"/>
              <a:pathLst>
                <a:path w="2238375" h="819150">
                  <a:moveTo>
                    <a:pt x="2238375" y="819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16573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96125" y="2038350"/>
              <a:ext cx="2238375" cy="819150"/>
            </a:xfrm>
            <a:custGeom>
              <a:avLst/>
              <a:gdLst/>
              <a:ahLst/>
              <a:cxnLst/>
              <a:rect l="l" t="t" r="r" b="b"/>
              <a:pathLst>
                <a:path w="2238375" h="819150">
                  <a:moveTo>
                    <a:pt x="0" y="819150"/>
                  </a:moveTo>
                  <a:lnTo>
                    <a:pt x="2238375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647950" y="3714750"/>
              <a:ext cx="2247900" cy="266700"/>
            </a:xfrm>
            <a:custGeom>
              <a:avLst/>
              <a:gdLst/>
              <a:ahLst/>
              <a:cxnLst/>
              <a:rect l="l" t="t" r="r" b="b"/>
              <a:pathLst>
                <a:path w="2247900" h="266700">
                  <a:moveTo>
                    <a:pt x="224790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296150" y="3714750"/>
              <a:ext cx="2247900" cy="266700"/>
            </a:xfrm>
            <a:custGeom>
              <a:avLst/>
              <a:gdLst/>
              <a:ahLst/>
              <a:cxnLst/>
              <a:rect l="l" t="t" r="r" b="b"/>
              <a:pathLst>
                <a:path w="2247900" h="266700">
                  <a:moveTo>
                    <a:pt x="0" y="0"/>
                  </a:moveTo>
                  <a:lnTo>
                    <a:pt x="2247900" y="26670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0" y="47434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90600" y="1504950"/>
            <a:ext cx="2381250" cy="1066800"/>
            <a:chOff x="990600" y="1504950"/>
            <a:chExt cx="2381250" cy="1066800"/>
          </a:xfrm>
        </p:grpSpPr>
        <p:sp>
          <p:nvSpPr>
            <p:cNvPr id="24" name="Rectangle 24"/>
            <p:cNvSpPr/>
            <p:nvPr/>
          </p:nvSpPr>
          <p:spPr>
            <a:xfrm>
              <a:off x="990600" y="15049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243012" y="1771650"/>
              <a:ext cx="257175" cy="342900"/>
              <a:chOff x="1243012" y="1771650"/>
              <a:chExt cx="257175" cy="342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243012" y="1908810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243012" y="2015966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243012" y="1771650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665732" y="1773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任务记录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3292" y="2216468"/>
              <a:ext cx="1872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Consolas"/>
                  <a:ea typeface="Microsoft YaHei"/>
                  <a:cs typeface="Consolas"/>
                </a:rPr>
                <a:t>AgentTask / 最近任务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05375" y="1219200"/>
            <a:ext cx="2381250" cy="1066800"/>
            <a:chOff x="4905375" y="1219200"/>
            <a:chExt cx="2381250" cy="1066800"/>
          </a:xfrm>
        </p:grpSpPr>
        <p:sp>
          <p:nvSpPr>
            <p:cNvPr id="32" name="Rectangle 32"/>
            <p:cNvSpPr/>
            <p:nvPr/>
          </p:nvSpPr>
          <p:spPr>
            <a:xfrm>
              <a:off x="4905375" y="121920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114925" y="1507331"/>
              <a:ext cx="342901" cy="300038"/>
              <a:chOff x="5114925" y="1507331"/>
              <a:chExt cx="342901" cy="3000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179219" y="150733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8"/>
                      <a:pt x="83168" y="107156"/>
                      <a:pt x="53578" y="107156"/>
                    </a:cubicBezTo>
                    <a:cubicBezTo>
                      <a:pt x="23988" y="107156"/>
                      <a:pt x="0" y="83168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8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114925" y="1657350"/>
                <a:ext cx="17145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0019">
                    <a:moveTo>
                      <a:pt x="64294" y="0"/>
                    </a:moveTo>
                    <a:cubicBezTo>
                      <a:pt x="28785" y="0"/>
                      <a:pt x="0" y="28785"/>
                      <a:pt x="0" y="64294"/>
                    </a:cubicBezTo>
                    <a:lnTo>
                      <a:pt x="0" y="150019"/>
                    </a:lnTo>
                    <a:lnTo>
                      <a:pt x="171450" y="150019"/>
                    </a:lnTo>
                    <a:lnTo>
                      <a:pt x="171450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329238" y="1657350"/>
                <a:ext cx="1285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50019">
                    <a:moveTo>
                      <a:pt x="64294" y="0"/>
                    </a:moveTo>
                    <a:lnTo>
                      <a:pt x="0" y="0"/>
                    </a:lnTo>
                    <a:lnTo>
                      <a:pt x="0" y="150019"/>
                    </a:lnTo>
                    <a:lnTo>
                      <a:pt x="128588" y="150019"/>
                    </a:lnTo>
                    <a:lnTo>
                      <a:pt x="128588" y="64294"/>
                    </a:lnTo>
                    <a:cubicBezTo>
                      <a:pt x="128588" y="28785"/>
                      <a:pt x="99803" y="0"/>
                      <a:pt x="64294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329238" y="15287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42862" y="85725"/>
                    </a:move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  <a:cubicBezTo>
                      <a:pt x="0" y="66535"/>
                      <a:pt x="19190" y="85725"/>
                      <a:pt x="42862" y="85725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580507" y="1487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用户反馈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4128" y="1930718"/>
              <a:ext cx="2268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Consolas"/>
                  <a:ea typeface="Microsoft YaHei"/>
                  <a:cs typeface="Consolas"/>
                </a:rPr>
                <a:t>AgentFeedback / 原因聚合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820150" y="1504950"/>
            <a:ext cx="2381250" cy="1066800"/>
            <a:chOff x="8820150" y="1504950"/>
            <a:chExt cx="2381250" cy="1066800"/>
          </a:xfrm>
        </p:grpSpPr>
        <p:sp>
          <p:nvSpPr>
            <p:cNvPr id="41" name="Rectangle 41"/>
            <p:cNvSpPr/>
            <p:nvPr/>
          </p:nvSpPr>
          <p:spPr>
            <a:xfrm>
              <a:off x="8820150" y="15049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051131" y="1793081"/>
              <a:ext cx="300038" cy="300038"/>
              <a:chOff x="9051131" y="1793081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051131" y="1793081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65444" y="2007394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072562" y="1793081"/>
                <a:ext cx="2571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300038">
                    <a:moveTo>
                      <a:pt x="150019" y="75009"/>
                    </a:moveTo>
                    <a:cubicBezTo>
                      <a:pt x="150019" y="57255"/>
                      <a:pt x="164411" y="42862"/>
                      <a:pt x="182166" y="42862"/>
                    </a:cubicBezTo>
                    <a:cubicBezTo>
                      <a:pt x="199919" y="42862"/>
                      <a:pt x="214312" y="57255"/>
                      <a:pt x="214312" y="75009"/>
                    </a:cubicBezTo>
                    <a:lnTo>
                      <a:pt x="214312" y="171450"/>
                    </a:lnTo>
                    <a:lnTo>
                      <a:pt x="257175" y="171450"/>
                    </a:lnTo>
                    <a:lnTo>
                      <a:pt x="257175" y="75009"/>
                    </a:lnTo>
                    <a:cubicBezTo>
                      <a:pt x="257175" y="33583"/>
                      <a:pt x="223592" y="0"/>
                      <a:pt x="182166" y="0"/>
                    </a:cubicBezTo>
                    <a:cubicBezTo>
                      <a:pt x="140739" y="0"/>
                      <a:pt x="107156" y="33583"/>
                      <a:pt x="107156" y="75009"/>
                    </a:cubicBezTo>
                    <a:lnTo>
                      <a:pt x="107156" y="225028"/>
                    </a:lnTo>
                    <a:cubicBezTo>
                      <a:pt x="107156" y="242782"/>
                      <a:pt x="92764" y="257175"/>
                      <a:pt x="75009" y="257175"/>
                    </a:cubicBezTo>
                    <a:cubicBezTo>
                      <a:pt x="57255" y="257175"/>
                      <a:pt x="42862" y="242782"/>
                      <a:pt x="42862" y="225028"/>
                    </a:cubicBezTo>
                    <a:lnTo>
                      <a:pt x="42862" y="128588"/>
                    </a:lnTo>
                    <a:lnTo>
                      <a:pt x="0" y="128588"/>
                    </a:lnTo>
                    <a:lnTo>
                      <a:pt x="0" y="225028"/>
                    </a:lnTo>
                    <a:cubicBezTo>
                      <a:pt x="0" y="266455"/>
                      <a:pt x="33583" y="300038"/>
                      <a:pt x="75009" y="300038"/>
                    </a:cubicBezTo>
                    <a:cubicBezTo>
                      <a:pt x="116436" y="300038"/>
                      <a:pt x="150019" y="266455"/>
                      <a:pt x="150019" y="225028"/>
                    </a:cubicBezTo>
                    <a:lnTo>
                      <a:pt x="150019" y="75009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495282" y="17735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意图与工具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22842" y="22164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intent / tool metrics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59456" y="3676650"/>
            <a:ext cx="2555758" cy="1066800"/>
            <a:chOff x="1059456" y="3676650"/>
            <a:chExt cx="2555758" cy="1066800"/>
          </a:xfrm>
        </p:grpSpPr>
        <p:sp>
          <p:nvSpPr>
            <p:cNvPr id="49" name="Rectangle 49"/>
            <p:cNvSpPr/>
            <p:nvPr/>
          </p:nvSpPr>
          <p:spPr>
            <a:xfrm>
              <a:off x="1059456" y="36766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200150" y="3986212"/>
              <a:ext cx="342900" cy="257175"/>
              <a:chOff x="1200150" y="3986212"/>
              <a:chExt cx="342900" cy="25717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200150" y="3986212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85725" y="53578"/>
                    </a:moveTo>
                    <a:cubicBezTo>
                      <a:pt x="85725" y="65414"/>
                      <a:pt x="76130" y="75009"/>
                      <a:pt x="64294" y="75009"/>
                    </a:cubicBezTo>
                    <a:cubicBezTo>
                      <a:pt x="52458" y="75009"/>
                      <a:pt x="42862" y="65414"/>
                      <a:pt x="42862" y="53578"/>
                    </a:cubicBezTo>
                    <a:cubicBezTo>
                      <a:pt x="42862" y="41742"/>
                      <a:pt x="52458" y="32147"/>
                      <a:pt x="64294" y="32147"/>
                    </a:cubicBezTo>
                    <a:cubicBezTo>
                      <a:pt x="76130" y="32147"/>
                      <a:pt x="85725" y="41742"/>
                      <a:pt x="85725" y="5357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200150" y="4136231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64294" y="75009"/>
                    </a:moveTo>
                    <a:cubicBezTo>
                      <a:pt x="76130" y="75009"/>
                      <a:pt x="85725" y="65415"/>
                      <a:pt x="85725" y="53578"/>
                    </a:cubicBezTo>
                    <a:cubicBezTo>
                      <a:pt x="85725" y="41742"/>
                      <a:pt x="76130" y="32147"/>
                      <a:pt x="64294" y="32147"/>
                    </a:cubicBezTo>
                    <a:cubicBezTo>
                      <a:pt x="52458" y="32147"/>
                      <a:pt x="42862" y="41742"/>
                      <a:pt x="42862" y="53578"/>
                    </a:cubicBezTo>
                    <a:cubicBezTo>
                      <a:pt x="42862" y="65415"/>
                      <a:pt x="52458" y="75009"/>
                      <a:pt x="64294" y="75009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665732" y="3945255"/>
              <a:ext cx="1949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Provider 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93292" y="4388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Consolas"/>
                  <a:ea typeface="Microsoft YaHei"/>
                  <a:cs typeface="Consolas"/>
                </a:rPr>
                <a:t>模型调用与路由状态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820150" y="3676650"/>
            <a:ext cx="2381250" cy="1066800"/>
            <a:chOff x="8820150" y="3676650"/>
            <a:chExt cx="2381250" cy="1066800"/>
          </a:xfrm>
        </p:grpSpPr>
        <p:sp>
          <p:nvSpPr>
            <p:cNvPr id="56" name="Rectangle 56"/>
            <p:cNvSpPr/>
            <p:nvPr/>
          </p:nvSpPr>
          <p:spPr>
            <a:xfrm>
              <a:off x="8820150" y="36766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029700" y="3964781"/>
              <a:ext cx="342900" cy="300038"/>
              <a:chOff x="9029700" y="3964781"/>
              <a:chExt cx="342900" cy="30003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9029700" y="3964781"/>
                <a:ext cx="857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00038">
                    <a:moveTo>
                      <a:pt x="85725" y="21431"/>
                    </a:moveTo>
                    <a:lnTo>
                      <a:pt x="0" y="0"/>
                    </a:lnTo>
                    <a:lnTo>
                      <a:pt x="0" y="278606"/>
                    </a:lnTo>
                    <a:lnTo>
                      <a:pt x="85725" y="300038"/>
                    </a:lnTo>
                    <a:lnTo>
                      <a:pt x="85725" y="21431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286875" y="3964781"/>
                <a:ext cx="857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00038">
                    <a:moveTo>
                      <a:pt x="85725" y="21431"/>
                    </a:moveTo>
                    <a:lnTo>
                      <a:pt x="0" y="0"/>
                    </a:lnTo>
                    <a:lnTo>
                      <a:pt x="0" y="278606"/>
                    </a:lnTo>
                    <a:lnTo>
                      <a:pt x="85725" y="300038"/>
                    </a:lnTo>
                    <a:lnTo>
                      <a:pt x="85725" y="21431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158288" y="3964781"/>
                <a:ext cx="857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00038">
                    <a:moveTo>
                      <a:pt x="85725" y="0"/>
                    </a:moveTo>
                    <a:lnTo>
                      <a:pt x="0" y="21431"/>
                    </a:lnTo>
                    <a:lnTo>
                      <a:pt x="0" y="300038"/>
                    </a:lnTo>
                    <a:lnTo>
                      <a:pt x="85725" y="278606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495282" y="3945255"/>
              <a:ext cx="13229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MCP 健康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22842" y="4388168"/>
              <a:ext cx="1724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Tencent Map health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667250" y="5448300"/>
            <a:ext cx="2980763" cy="855974"/>
            <a:chOff x="4667250" y="5448300"/>
            <a:chExt cx="2980763" cy="855974"/>
          </a:xfrm>
        </p:grpSpPr>
        <p:sp>
          <p:nvSpPr>
            <p:cNvPr id="64" name="Rectangle 64"/>
            <p:cNvSpPr/>
            <p:nvPr/>
          </p:nvSpPr>
          <p:spPr>
            <a:xfrm>
              <a:off x="4667250" y="5448300"/>
              <a:ext cx="28575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4916091" y="5657850"/>
              <a:ext cx="283368" cy="323850"/>
              <a:chOff x="4916091" y="5657850"/>
              <a:chExt cx="283368" cy="3238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4997053" y="5657850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121444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80962"/>
                    </a:lnTo>
                    <a:lnTo>
                      <a:pt x="121444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4916091" y="5738812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202406"/>
                    </a:lnTo>
                    <a:lnTo>
                      <a:pt x="40481" y="202406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5342382" y="56597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任务详情可复盘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726505" y="6040241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从指标回到具体链路，形成定位闭环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527304" y="6309360"/>
            <a:ext cx="4829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P11 · hub-spoke adaptation · Source: Agent 系统验收说明文档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31" grpId="0"/>
      <p:bldP spid="40" grpId="0"/>
      <p:bldP spid="48" grpId="0"/>
      <p:bldP spid="55" grpId="0"/>
      <p:bldP spid="63" grpId="0"/>
      <p:bldP spid="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52450" y="1447800"/>
              <a:ext cx="11087100" cy="4572000"/>
            </a:xfrm>
            <a:custGeom>
              <a:avLst/>
              <a:gdLst/>
              <a:ahLst/>
              <a:cxnLst/>
              <a:rect l="l" t="t" r="r" b="b"/>
              <a:pathLst>
                <a:path w="11087100" h="4572000">
                  <a:moveTo>
                    <a:pt x="0" y="0"/>
                  </a:moveTo>
                  <a:lnTo>
                    <a:pt x="11087100" y="0"/>
                  </a:lnTo>
                  <a:moveTo>
                    <a:pt x="0" y="1143000"/>
                  </a:moveTo>
                  <a:lnTo>
                    <a:pt x="11087100" y="1143000"/>
                  </a:lnTo>
                  <a:moveTo>
                    <a:pt x="0" y="2286000"/>
                  </a:moveTo>
                  <a:lnTo>
                    <a:pt x="11087100" y="2286000"/>
                  </a:lnTo>
                  <a:moveTo>
                    <a:pt x="0" y="3429000"/>
                  </a:moveTo>
                  <a:lnTo>
                    <a:pt x="11087100" y="3429000"/>
                  </a:lnTo>
                  <a:moveTo>
                    <a:pt x="0" y="4572000"/>
                  </a:moveTo>
                  <a:lnTo>
                    <a:pt x="110871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  <p:sp>
          <p:nvSpPr>
            <p:cNvPr id="4" name="Freeform 4"/>
            <p:cNvSpPr/>
            <p:nvPr/>
          </p:nvSpPr>
          <p:spPr>
            <a:xfrm>
              <a:off x="4000500" y="1352550"/>
              <a:ext cx="4191000" cy="4572000"/>
            </a:xfrm>
            <a:custGeom>
              <a:avLst/>
              <a:gdLst/>
              <a:ahLst/>
              <a:cxnLst/>
              <a:rect l="l" t="t" r="r" b="b"/>
              <a:pathLst>
                <a:path w="4191000" h="4572000">
                  <a:moveTo>
                    <a:pt x="0" y="0"/>
                  </a:moveTo>
                  <a:lnTo>
                    <a:pt x="0" y="4572000"/>
                  </a:lnTo>
                  <a:moveTo>
                    <a:pt x="4191000" y="0"/>
                  </a:moveTo>
                  <a:lnTo>
                    <a:pt x="4191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A3A52"/>
              </a:solidFill>
              <a:prstDash val="lgDash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3312863" cy="946594"/>
            <a:chOff x="514350" y="264795"/>
            <a:chExt cx="13312863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331286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Supervisor 最小闭环证明多 Agent 协作已经跨域跑通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它没有追求大而全，而是通过路线规划加邮件通知完成一条可验收的跨域链路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0550" y="1866900"/>
            <a:ext cx="2571750" cy="2933700"/>
            <a:chOff x="590550" y="1866900"/>
            <a:chExt cx="2571750" cy="2933700"/>
          </a:xfrm>
        </p:grpSpPr>
        <p:sp>
          <p:nvSpPr>
            <p:cNvPr id="9" name="Rectangle 9"/>
            <p:cNvSpPr/>
            <p:nvPr/>
          </p:nvSpPr>
          <p:spPr>
            <a:xfrm>
              <a:off x="590550" y="1866900"/>
              <a:ext cx="2571750" cy="2933700"/>
            </a:xfrm>
            <a:prstGeom prst="roundRect">
              <a:avLst>
                <a:gd name="adj" fmla="val 222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76300" y="2240756"/>
              <a:ext cx="495300" cy="433388"/>
              <a:chOff x="876300" y="2240756"/>
              <a:chExt cx="495300" cy="4333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69169" y="2240756"/>
                <a:ext cx="154781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54781">
                    <a:moveTo>
                      <a:pt x="154781" y="77391"/>
                    </a:moveTo>
                    <a:cubicBezTo>
                      <a:pt x="154781" y="120132"/>
                      <a:pt x="120132" y="154781"/>
                      <a:pt x="77391" y="154781"/>
                    </a:cubicBezTo>
                    <a:cubicBezTo>
                      <a:pt x="34649" y="154781"/>
                      <a:pt x="0" y="120132"/>
                      <a:pt x="0" y="77391"/>
                    </a:cubicBezTo>
                    <a:cubicBezTo>
                      <a:pt x="0" y="34649"/>
                      <a:pt x="34649" y="0"/>
                      <a:pt x="77391" y="0"/>
                    </a:cubicBezTo>
                    <a:cubicBezTo>
                      <a:pt x="120132" y="0"/>
                      <a:pt x="154781" y="34649"/>
                      <a:pt x="154781" y="77391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76300" y="2457450"/>
                <a:ext cx="24765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16694">
                    <a:moveTo>
                      <a:pt x="92869" y="0"/>
                    </a:moveTo>
                    <a:cubicBezTo>
                      <a:pt x="41579" y="0"/>
                      <a:pt x="0" y="41579"/>
                      <a:pt x="0" y="92869"/>
                    </a:cubicBezTo>
                    <a:lnTo>
                      <a:pt x="0" y="216694"/>
                    </a:lnTo>
                    <a:lnTo>
                      <a:pt x="247650" y="216694"/>
                    </a:lnTo>
                    <a:lnTo>
                      <a:pt x="247650" y="0"/>
                    </a:ln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85862" y="2457450"/>
                <a:ext cx="185738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16694">
                    <a:moveTo>
                      <a:pt x="92869" y="0"/>
                    </a:moveTo>
                    <a:lnTo>
                      <a:pt x="0" y="0"/>
                    </a:lnTo>
                    <a:lnTo>
                      <a:pt x="0" y="216694"/>
                    </a:lnTo>
                    <a:lnTo>
                      <a:pt x="185738" y="216694"/>
                    </a:lnTo>
                    <a:lnTo>
                      <a:pt x="185738" y="92869"/>
                    </a:lnTo>
                    <a:cubicBezTo>
                      <a:pt x="185738" y="41579"/>
                      <a:pt x="144160" y="0"/>
                      <a:pt x="92869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85862" y="22717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61912" y="123825"/>
                    </a:moveTo>
                    <a:cubicBezTo>
                      <a:pt x="96107" y="123825"/>
                      <a:pt x="123825" y="96106"/>
                      <a:pt x="123825" y="61912"/>
                    </a:cubicBezTo>
                    <a:cubicBezTo>
                      <a:pt x="123825" y="27719"/>
                      <a:pt x="96107" y="0"/>
                      <a:pt x="61912" y="0"/>
                    </a:cubicBezTo>
                    <a:cubicBezTo>
                      <a:pt x="27718" y="0"/>
                      <a:pt x="0" y="27719"/>
                      <a:pt x="0" y="61912"/>
                    </a:cubicBezTo>
                    <a:cubicBezTo>
                      <a:pt x="0" y="96106"/>
                      <a:pt x="27718" y="123825"/>
                      <a:pt x="61912" y="123825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64870" y="28241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用户请求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918" y="3346132"/>
              <a:ext cx="16931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从宝安中心到龙岗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怎么走，并顺手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写邮件通知老师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4350068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8EA3"/>
                  </a:solidFill>
                  <a:latin typeface="Consolas"/>
                  <a:ea typeface="Consolas"/>
                  <a:cs typeface="Consolas"/>
                </a:rPr>
                <a:t>multi-domain task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43400" y="1790700"/>
            <a:ext cx="3796898" cy="1162050"/>
            <a:chOff x="4343400" y="1790700"/>
            <a:chExt cx="3796898" cy="1162050"/>
          </a:xfrm>
        </p:grpSpPr>
        <p:sp>
          <p:nvSpPr>
            <p:cNvPr id="19" name="Rectangle 19"/>
            <p:cNvSpPr/>
            <p:nvPr/>
          </p:nvSpPr>
          <p:spPr>
            <a:xfrm>
              <a:off x="4343400" y="1790700"/>
              <a:ext cx="350520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19050">
              <a:solidFill>
                <a:srgbClr val="7DD3F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10100" y="1949301"/>
              <a:ext cx="457200" cy="428625"/>
            </a:xfrm>
            <a:custGeom>
              <a:avLst/>
              <a:gdLst/>
              <a:ahLst/>
              <a:cxnLst/>
              <a:rect l="l" t="t" r="r" b="b"/>
              <a:pathLst>
                <a:path w="457200" h="428625">
                  <a:moveTo>
                    <a:pt x="257175" y="0"/>
                  </a:moveTo>
                  <a:lnTo>
                    <a:pt x="257175" y="57150"/>
                  </a:lnTo>
                  <a:lnTo>
                    <a:pt x="371475" y="57150"/>
                  </a:lnTo>
                  <a:lnTo>
                    <a:pt x="457200" y="242888"/>
                  </a:lnTo>
                  <a:lnTo>
                    <a:pt x="371475" y="428625"/>
                  </a:lnTo>
                  <a:lnTo>
                    <a:pt x="85725" y="428625"/>
                  </a:lnTo>
                  <a:lnTo>
                    <a:pt x="0" y="242888"/>
                  </a:lnTo>
                  <a:lnTo>
                    <a:pt x="85725" y="57150"/>
                  </a:lnTo>
                  <a:lnTo>
                    <a:pt x="200025" y="57150"/>
                  </a:lnTo>
                  <a:lnTo>
                    <a:pt x="200025" y="0"/>
                  </a:lnTo>
                  <a:lnTo>
                    <a:pt x="257175" y="0"/>
                  </a:lnTo>
                  <a:close/>
                  <a:moveTo>
                    <a:pt x="131386" y="335425"/>
                  </a:moveTo>
                  <a:lnTo>
                    <a:pt x="228600" y="350381"/>
                  </a:lnTo>
                  <a:lnTo>
                    <a:pt x="325815" y="335425"/>
                  </a:lnTo>
                  <a:lnTo>
                    <a:pt x="317122" y="278939"/>
                  </a:lnTo>
                  <a:lnTo>
                    <a:pt x="228600" y="292557"/>
                  </a:lnTo>
                  <a:lnTo>
                    <a:pt x="140076" y="278939"/>
                  </a:lnTo>
                  <a:lnTo>
                    <a:pt x="131386" y="335425"/>
                  </a:lnTo>
                  <a:close/>
                  <a:moveTo>
                    <a:pt x="200025" y="192881"/>
                  </a:moveTo>
                  <a:cubicBezTo>
                    <a:pt x="200025" y="212608"/>
                    <a:pt x="184033" y="228600"/>
                    <a:pt x="164306" y="228600"/>
                  </a:cubicBezTo>
                  <a:cubicBezTo>
                    <a:pt x="144579" y="228600"/>
                    <a:pt x="128588" y="212608"/>
                    <a:pt x="128588" y="192881"/>
                  </a:cubicBezTo>
                  <a:cubicBezTo>
                    <a:pt x="128588" y="173154"/>
                    <a:pt x="144579" y="157162"/>
                    <a:pt x="164306" y="157162"/>
                  </a:cubicBezTo>
                  <a:cubicBezTo>
                    <a:pt x="184033" y="157162"/>
                    <a:pt x="200025" y="173154"/>
                    <a:pt x="200025" y="192881"/>
                  </a:cubicBezTo>
                  <a:close/>
                  <a:moveTo>
                    <a:pt x="292894" y="228600"/>
                  </a:moveTo>
                  <a:cubicBezTo>
                    <a:pt x="312622" y="228600"/>
                    <a:pt x="328612" y="212608"/>
                    <a:pt x="328612" y="192881"/>
                  </a:cubicBezTo>
                  <a:cubicBezTo>
                    <a:pt x="328612" y="173154"/>
                    <a:pt x="312622" y="157162"/>
                    <a:pt x="292894" y="157162"/>
                  </a:cubicBezTo>
                  <a:cubicBezTo>
                    <a:pt x="273167" y="157162"/>
                    <a:pt x="257175" y="173154"/>
                    <a:pt x="257175" y="192881"/>
                  </a:cubicBezTo>
                  <a:cubicBezTo>
                    <a:pt x="257175" y="212608"/>
                    <a:pt x="273167" y="228600"/>
                    <a:pt x="292894" y="22860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44846" y="2048828"/>
              <a:ext cx="19289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Supervisor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0709" y="2535479"/>
              <a:ext cx="36895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任务拆解、状态汇总、跨 Agent 编排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43400" y="3752850"/>
            <a:ext cx="3042333" cy="1162050"/>
            <a:chOff x="4343400" y="3752850"/>
            <a:chExt cx="3042333" cy="1162050"/>
          </a:xfrm>
        </p:grpSpPr>
        <p:sp>
          <p:nvSpPr>
            <p:cNvPr id="24" name="Rectangle 24"/>
            <p:cNvSpPr/>
            <p:nvPr/>
          </p:nvSpPr>
          <p:spPr>
            <a:xfrm>
              <a:off x="4343400" y="3752850"/>
              <a:ext cx="268605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591050" y="4006501"/>
              <a:ext cx="419100" cy="366712"/>
              <a:chOff x="4591050" y="4006501"/>
              <a:chExt cx="419100" cy="36671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91050" y="4006501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26194"/>
                    </a:moveTo>
                    <a:lnTo>
                      <a:pt x="0" y="0"/>
                    </a:lnTo>
                    <a:lnTo>
                      <a:pt x="0" y="340519"/>
                    </a:lnTo>
                    <a:lnTo>
                      <a:pt x="104775" y="366712"/>
                    </a:lnTo>
                    <a:lnTo>
                      <a:pt x="104775" y="26194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905375" y="4006501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26194"/>
                    </a:moveTo>
                    <a:lnTo>
                      <a:pt x="0" y="0"/>
                    </a:lnTo>
                    <a:lnTo>
                      <a:pt x="0" y="340519"/>
                    </a:lnTo>
                    <a:lnTo>
                      <a:pt x="104775" y="366712"/>
                    </a:lnTo>
                    <a:lnTo>
                      <a:pt x="104775" y="26194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748212" y="4006501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0"/>
                    </a:moveTo>
                    <a:lnTo>
                      <a:pt x="0" y="26194"/>
                    </a:lnTo>
                    <a:lnTo>
                      <a:pt x="0" y="366712"/>
                    </a:lnTo>
                    <a:lnTo>
                      <a:pt x="104775" y="340519"/>
                    </a:ln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170170" y="4062412"/>
              <a:ext cx="1506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MapAgent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00801" y="4576248"/>
              <a:ext cx="2884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复用通勤规划和地图 MCP 能力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29500" y="3752850"/>
            <a:ext cx="3050115" cy="1162050"/>
            <a:chOff x="7429500" y="3752850"/>
            <a:chExt cx="3050115" cy="1162050"/>
          </a:xfrm>
        </p:grpSpPr>
        <p:sp>
          <p:nvSpPr>
            <p:cNvPr id="32" name="Rectangle 32"/>
            <p:cNvSpPr/>
            <p:nvPr/>
          </p:nvSpPr>
          <p:spPr>
            <a:xfrm>
              <a:off x="7429500" y="3752850"/>
              <a:ext cx="268605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677150" y="40767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35744" y="0"/>
                  </a:moveTo>
                  <a:lnTo>
                    <a:pt x="235744" y="104775"/>
                  </a:lnTo>
                  <a:lnTo>
                    <a:pt x="163507" y="104775"/>
                  </a:lnTo>
                  <a:cubicBezTo>
                    <a:pt x="176045" y="123505"/>
                    <a:pt x="183356" y="146028"/>
                    <a:pt x="183356" y="170259"/>
                  </a:cubicBezTo>
                  <a:lnTo>
                    <a:pt x="183356" y="288131"/>
                  </a:lnTo>
                  <a:lnTo>
                    <a:pt x="130969" y="288131"/>
                  </a:lnTo>
                  <a:lnTo>
                    <a:pt x="130969" y="170259"/>
                  </a:lnTo>
                  <a:cubicBezTo>
                    <a:pt x="130969" y="134093"/>
                    <a:pt x="101650" y="104775"/>
                    <a:pt x="65484" y="104775"/>
                  </a:cubicBezTo>
                  <a:cubicBezTo>
                    <a:pt x="29318" y="104775"/>
                    <a:pt x="0" y="134093"/>
                    <a:pt x="0" y="170259"/>
                  </a:cubicBezTo>
                  <a:lnTo>
                    <a:pt x="0" y="340519"/>
                  </a:lnTo>
                  <a:lnTo>
                    <a:pt x="183356" y="340519"/>
                  </a:lnTo>
                  <a:lnTo>
                    <a:pt x="183356" y="419100"/>
                  </a:lnTo>
                  <a:lnTo>
                    <a:pt x="235744" y="419100"/>
                  </a:lnTo>
                  <a:lnTo>
                    <a:pt x="235744" y="340519"/>
                  </a:lnTo>
                  <a:lnTo>
                    <a:pt x="419100" y="340519"/>
                  </a:lnTo>
                  <a:lnTo>
                    <a:pt x="419100" y="170259"/>
                  </a:lnTo>
                  <a:cubicBezTo>
                    <a:pt x="419100" y="134093"/>
                    <a:pt x="389781" y="104775"/>
                    <a:pt x="353616" y="104775"/>
                  </a:cubicBezTo>
                  <a:lnTo>
                    <a:pt x="288131" y="104775"/>
                  </a:lnTo>
                  <a:lnTo>
                    <a:pt x="288131" y="52388"/>
                  </a:lnTo>
                  <a:lnTo>
                    <a:pt x="340519" y="52388"/>
                  </a:lnTo>
                  <a:lnTo>
                    <a:pt x="340519" y="0"/>
                  </a:lnTo>
                  <a:lnTo>
                    <a:pt x="235744" y="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56270" y="4062412"/>
              <a:ext cx="16471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通信 Agent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35425" y="457624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复用邮件工具、草稿生成与白名单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572750" y="2076450"/>
            <a:ext cx="1085850" cy="2552700"/>
            <a:chOff x="10572750" y="2076450"/>
            <a:chExt cx="1085850" cy="2552700"/>
          </a:xfrm>
        </p:grpSpPr>
        <p:sp>
          <p:nvSpPr>
            <p:cNvPr id="37" name="Rectangle 37"/>
            <p:cNvSpPr/>
            <p:nvPr/>
          </p:nvSpPr>
          <p:spPr>
            <a:xfrm>
              <a:off x="10572750" y="2076450"/>
              <a:ext cx="1085850" cy="781050"/>
            </a:xfrm>
            <a:prstGeom prst="roundRect">
              <a:avLst>
                <a:gd name="adj" fmla="val 731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874064" y="22221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地图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1693" y="2537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MCP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572750" y="3848100"/>
              <a:ext cx="1085850" cy="781050"/>
            </a:xfrm>
            <a:prstGeom prst="roundRect">
              <a:avLst>
                <a:gd name="adj" fmla="val 731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74064" y="39938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43158" y="4309110"/>
              <a:ext cx="34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HITL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162300" y="2371725"/>
            <a:ext cx="7410450" cy="1962150"/>
            <a:chOff x="3162300" y="2371725"/>
            <a:chExt cx="7410450" cy="1962150"/>
          </a:xfrm>
        </p:grpSpPr>
        <p:sp>
          <p:nvSpPr>
            <p:cNvPr id="44" name="Line 44"/>
            <p:cNvSpPr/>
            <p:nvPr/>
          </p:nvSpPr>
          <p:spPr>
            <a:xfrm flipV="1">
              <a:off x="3162300" y="2371725"/>
              <a:ext cx="1181100" cy="962025"/>
            </a:xfrm>
            <a:prstGeom prst="line">
              <a:avLst/>
            </a:prstGeom>
            <a:noFill/>
            <a:ln w="23812">
              <a:solidFill>
                <a:srgbClr val="7DD3FC"/>
              </a:solidFill>
              <a:tailEnd type="triangle" w="lg" len="lg"/>
            </a:ln>
          </p:spPr>
        </p:sp>
        <p:sp>
          <p:nvSpPr>
            <p:cNvPr id="45" name="Line 45"/>
            <p:cNvSpPr/>
            <p:nvPr/>
          </p:nvSpPr>
          <p:spPr>
            <a:xfrm flipH="1">
              <a:off x="5686425" y="2952750"/>
              <a:ext cx="409575" cy="800100"/>
            </a:xfrm>
            <a:prstGeom prst="line">
              <a:avLst/>
            </a:prstGeom>
            <a:noFill/>
            <a:ln w="23812">
              <a:solidFill>
                <a:srgbClr val="7DD3FC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6648450" y="2952750"/>
              <a:ext cx="1657350" cy="800100"/>
            </a:xfrm>
            <a:prstGeom prst="line">
              <a:avLst/>
            </a:prstGeom>
            <a:noFill/>
            <a:ln w="23812">
              <a:solidFill>
                <a:srgbClr val="F59E0B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 flipV="1">
              <a:off x="7029450" y="2466975"/>
              <a:ext cx="3543300" cy="1866900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prstDash val="lgDash"/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 flipV="1">
              <a:off x="10115550" y="4238625"/>
              <a:ext cx="457200" cy="95250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prstDash val="lgDash"/>
              <a:tailEnd type="triangle" w="lg" len="lg"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3543300" y="5314950"/>
            <a:ext cx="7263087" cy="628650"/>
            <a:chOff x="3543300" y="5314950"/>
            <a:chExt cx="7263087" cy="628650"/>
          </a:xfrm>
        </p:grpSpPr>
        <p:sp>
          <p:nvSpPr>
            <p:cNvPr id="50" name="Rectangle 50"/>
            <p:cNvSpPr/>
            <p:nvPr/>
          </p:nvSpPr>
          <p:spPr>
            <a:xfrm>
              <a:off x="3543300" y="5314950"/>
              <a:ext cx="5105400" cy="628650"/>
            </a:xfrm>
            <a:prstGeom prst="roundRect">
              <a:avLst>
                <a:gd name="adj" fmla="val 9091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3774281" y="545782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219194" y="5494972"/>
              <a:ext cx="65871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高风险动作不自动执行：邮件发送前进入 HITL 确认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27304" y="6309360"/>
            <a:ext cx="64947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P12 · client-server flow adaptation · Source: Agent 系统介绍演讲稿 + 验收说明文档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31" grpId="0"/>
      <p:bldP spid="36" grpId="0"/>
      <p:bldP spid="43" grpId="0"/>
      <p:bldP spid="49" grpId="0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33400" y="1314450"/>
              <a:ext cx="11125200" cy="4572000"/>
            </a:xfrm>
            <a:custGeom>
              <a:avLst/>
              <a:gdLst/>
              <a:ahLst/>
              <a:cxnLst/>
              <a:rect l="l" t="t" r="r" b="b"/>
              <a:pathLst>
                <a:path w="11125200" h="4572000">
                  <a:moveTo>
                    <a:pt x="0" y="0"/>
                  </a:moveTo>
                  <a:lnTo>
                    <a:pt x="11125200" y="0"/>
                  </a:lnTo>
                  <a:moveTo>
                    <a:pt x="0" y="914400"/>
                  </a:moveTo>
                  <a:lnTo>
                    <a:pt x="11125200" y="914400"/>
                  </a:lnTo>
                  <a:moveTo>
                    <a:pt x="0" y="1828800"/>
                  </a:moveTo>
                  <a:lnTo>
                    <a:pt x="11125200" y="1828800"/>
                  </a:lnTo>
                  <a:moveTo>
                    <a:pt x="0" y="2743200"/>
                  </a:moveTo>
                  <a:lnTo>
                    <a:pt x="11125200" y="2743200"/>
                  </a:lnTo>
                  <a:moveTo>
                    <a:pt x="0" y="3657600"/>
                  </a:moveTo>
                  <a:lnTo>
                    <a:pt x="11125200" y="3657600"/>
                  </a:lnTo>
                  <a:moveTo>
                    <a:pt x="0" y="4572000"/>
                  </a:moveTo>
                  <a:lnTo>
                    <a:pt x="111252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0512209" cy="946594"/>
            <a:chOff x="514350" y="264795"/>
            <a:chExt cx="10512209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05122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文档、接口、模型和测试沉淀让交付可复查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交付物覆盖需求、设计、模型、接口、迭代计划、测试和协议规范，验收证据链完整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428750"/>
            <a:ext cx="11087100" cy="4095750"/>
            <a:chOff x="552450" y="1428750"/>
            <a:chExt cx="11087100" cy="4095750"/>
          </a:xfrm>
        </p:grpSpPr>
        <p:sp>
          <p:nvSpPr>
            <p:cNvPr id="8" name="Rectangle 8"/>
            <p:cNvSpPr/>
            <p:nvPr/>
          </p:nvSpPr>
          <p:spPr>
            <a:xfrm>
              <a:off x="552450" y="1428750"/>
              <a:ext cx="11087100" cy="4095750"/>
            </a:xfrm>
            <a:prstGeom prst="roundRect">
              <a:avLst>
                <a:gd name="adj" fmla="val 1395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1428750"/>
              <a:ext cx="11087100" cy="533400"/>
            </a:xfrm>
            <a:prstGeom prst="roundRect">
              <a:avLst>
                <a:gd name="adj" fmla="val 1071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056" y="1577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19756" y="1577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核心资产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48956" y="1577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验收价值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32637" y="1591113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362200" y="1428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91400" y="1428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325100" y="1428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52450" y="2552700"/>
              <a:ext cx="11087100" cy="2362200"/>
            </a:xfrm>
            <a:custGeom>
              <a:avLst/>
              <a:gdLst/>
              <a:ahLst/>
              <a:cxnLst/>
              <a:rect l="l" t="t" r="r" b="b"/>
              <a:pathLst>
                <a:path w="11087100" h="2362200">
                  <a:moveTo>
                    <a:pt x="0" y="0"/>
                  </a:moveTo>
                  <a:lnTo>
                    <a:pt x="11087100" y="0"/>
                  </a:lnTo>
                  <a:moveTo>
                    <a:pt x="0" y="590550"/>
                  </a:moveTo>
                  <a:lnTo>
                    <a:pt x="11087100" y="590550"/>
                  </a:lnTo>
                  <a:moveTo>
                    <a:pt x="0" y="1181100"/>
                  </a:moveTo>
                  <a:lnTo>
                    <a:pt x="11087100" y="1181100"/>
                  </a:lnTo>
                  <a:moveTo>
                    <a:pt x="0" y="1771650"/>
                  </a:moveTo>
                  <a:lnTo>
                    <a:pt x="11087100" y="1771650"/>
                  </a:lnTo>
                  <a:moveTo>
                    <a:pt x="0" y="2362200"/>
                  </a:moveTo>
                  <a:lnTo>
                    <a:pt x="11087100" y="23622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A3A52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38200" y="2151698"/>
            <a:ext cx="11393119" cy="381381"/>
            <a:chOff x="838200" y="2151698"/>
            <a:chExt cx="11393119" cy="381381"/>
          </a:xfrm>
        </p:grpSpPr>
        <p:sp>
          <p:nvSpPr>
            <p:cNvPr id="19" name="Freeform 19"/>
            <p:cNvSpPr/>
            <p:nvPr/>
          </p:nvSpPr>
          <p:spPr>
            <a:xfrm>
              <a:off x="838200" y="2155031"/>
              <a:ext cx="323850" cy="263128"/>
            </a:xfrm>
            <a:custGeom>
              <a:avLst/>
              <a:gdLst/>
              <a:ahLst/>
              <a:cxnLst/>
              <a:rect l="l" t="t" r="r" b="b"/>
              <a:pathLst>
                <a:path w="323850" h="263128">
                  <a:moveTo>
                    <a:pt x="0" y="0"/>
                  </a:moveTo>
                  <a:lnTo>
                    <a:pt x="72579" y="0"/>
                  </a:lnTo>
                  <a:cubicBezTo>
                    <a:pt x="90907" y="0"/>
                    <a:pt x="108484" y="7281"/>
                    <a:pt x="121444" y="20241"/>
                  </a:cubicBezTo>
                  <a:cubicBezTo>
                    <a:pt x="134404" y="33200"/>
                    <a:pt x="141684" y="50778"/>
                    <a:pt x="141684" y="69106"/>
                  </a:cubicBezTo>
                  <a:lnTo>
                    <a:pt x="141684" y="182166"/>
                  </a:lnTo>
                  <a:lnTo>
                    <a:pt x="182166" y="182166"/>
                  </a:lnTo>
                  <a:lnTo>
                    <a:pt x="182166" y="69106"/>
                  </a:lnTo>
                  <a:cubicBezTo>
                    <a:pt x="182166" y="50778"/>
                    <a:pt x="189446" y="33200"/>
                    <a:pt x="202406" y="20241"/>
                  </a:cubicBezTo>
                  <a:cubicBezTo>
                    <a:pt x="215366" y="7281"/>
                    <a:pt x="232943" y="0"/>
                    <a:pt x="251271" y="0"/>
                  </a:cubicBezTo>
                  <a:lnTo>
                    <a:pt x="323850" y="0"/>
                  </a:lnTo>
                  <a:lnTo>
                    <a:pt x="323850" y="222647"/>
                  </a:lnTo>
                  <a:lnTo>
                    <a:pt x="222647" y="222647"/>
                  </a:lnTo>
                  <a:lnTo>
                    <a:pt x="182166" y="263128"/>
                  </a:lnTo>
                  <a:lnTo>
                    <a:pt x="141684" y="263128"/>
                  </a:lnTo>
                  <a:lnTo>
                    <a:pt x="101203" y="222647"/>
                  </a:lnTo>
                  <a:lnTo>
                    <a:pt x="0" y="222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85494" y="21516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需求与迭代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20518" y="2184082"/>
              <a:ext cx="4792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v1.0 - v2.3 需求/架构说明/迭代总结/下版规划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49718" y="2184082"/>
              <a:ext cx="45816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证明范围边界清晰，不把 MVP 写成通用平台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4924" y="21678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8681" y="2705100"/>
            <a:ext cx="10563892" cy="418529"/>
            <a:chOff x="878681" y="2705100"/>
            <a:chExt cx="10563892" cy="418529"/>
          </a:xfrm>
        </p:grpSpPr>
        <p:grpSp>
          <p:nvGrpSpPr>
            <p:cNvPr id="28" name="Group 28"/>
            <p:cNvGrpSpPr/>
            <p:nvPr/>
          </p:nvGrpSpPr>
          <p:grpSpPr>
            <a:xfrm>
              <a:off x="878681" y="2705100"/>
              <a:ext cx="242888" cy="323850"/>
              <a:chOff x="878681" y="2705100"/>
              <a:chExt cx="242888" cy="3238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78681" y="2834640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225422" y="10326"/>
                    </a:moveTo>
                    <a:cubicBezTo>
                      <a:pt x="231116" y="7479"/>
                      <a:pt x="237064" y="4044"/>
                      <a:pt x="242888" y="0"/>
                    </a:cubicBezTo>
                    <a:lnTo>
                      <a:pt x="242888" y="32385"/>
                    </a:lnTo>
                    <a:cubicBezTo>
                      <a:pt x="242888" y="65920"/>
                      <a:pt x="188515" y="93107"/>
                      <a:pt x="121444" y="93107"/>
                    </a:cubicBezTo>
                    <a:cubicBezTo>
                      <a:pt x="54372" y="93107"/>
                      <a:pt x="0" y="65920"/>
                      <a:pt x="0" y="32385"/>
                    </a:cubicBezTo>
                    <a:lnTo>
                      <a:pt x="0" y="0"/>
                    </a:lnTo>
                    <a:cubicBezTo>
                      <a:pt x="5824" y="4044"/>
                      <a:pt x="11772" y="7479"/>
                      <a:pt x="17466" y="10326"/>
                    </a:cubicBezTo>
                    <a:cubicBezTo>
                      <a:pt x="46168" y="24677"/>
                      <a:pt x="82986" y="32385"/>
                      <a:pt x="121444" y="32385"/>
                    </a:cubicBezTo>
                    <a:cubicBezTo>
                      <a:pt x="159901" y="32385"/>
                      <a:pt x="196719" y="24677"/>
                      <a:pt x="225422" y="10326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8681" y="2935843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0" y="0"/>
                    </a:moveTo>
                    <a:lnTo>
                      <a:pt x="0" y="32385"/>
                    </a:lnTo>
                    <a:cubicBezTo>
                      <a:pt x="0" y="65922"/>
                      <a:pt x="54372" y="93107"/>
                      <a:pt x="121444" y="93107"/>
                    </a:cubicBezTo>
                    <a:cubicBezTo>
                      <a:pt x="188515" y="93107"/>
                      <a:pt x="242888" y="65922"/>
                      <a:pt x="242888" y="32385"/>
                    </a:cubicBezTo>
                    <a:lnTo>
                      <a:pt x="242888" y="0"/>
                    </a:lnTo>
                    <a:cubicBezTo>
                      <a:pt x="237064" y="4044"/>
                      <a:pt x="231116" y="7479"/>
                      <a:pt x="225422" y="10327"/>
                    </a:cubicBezTo>
                    <a:cubicBezTo>
                      <a:pt x="196719" y="24677"/>
                      <a:pt x="159901" y="32385"/>
                      <a:pt x="121444" y="32385"/>
                    </a:cubicBezTo>
                    <a:cubicBezTo>
                      <a:pt x="82986" y="32385"/>
                      <a:pt x="46168" y="24677"/>
                      <a:pt x="17466" y="10327"/>
                    </a:cubicBezTo>
                    <a:cubicBezTo>
                      <a:pt x="11772" y="7479"/>
                      <a:pt x="5824" y="4044"/>
                      <a:pt x="0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8681" y="2705100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121444" y="0"/>
                    </a:moveTo>
                    <a:cubicBezTo>
                      <a:pt x="188515" y="0"/>
                      <a:pt x="242888" y="27186"/>
                      <a:pt x="242888" y="60722"/>
                    </a:cubicBezTo>
                    <a:cubicBezTo>
                      <a:pt x="242888" y="94258"/>
                      <a:pt x="188515" y="121444"/>
                      <a:pt x="121444" y="121444"/>
                    </a:cubicBezTo>
                    <a:cubicBezTo>
                      <a:pt x="54372" y="121444"/>
                      <a:pt x="0" y="94258"/>
                      <a:pt x="0" y="60722"/>
                    </a:cubicBezTo>
                    <a:cubicBezTo>
                      <a:pt x="0" y="27186"/>
                      <a:pt x="54372" y="0"/>
                      <a:pt x="121444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85494" y="2742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数据模型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21280" y="2790825"/>
              <a:ext cx="55438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AgentTask / AgentFeedback / TalkSession / TalkMessage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49718" y="27746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任务、反馈、历史对话可落表、可追踪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94924" y="27584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8200" y="3332798"/>
            <a:ext cx="10283876" cy="381381"/>
            <a:chOff x="838200" y="3332798"/>
            <a:chExt cx="10283876" cy="381381"/>
          </a:xfrm>
        </p:grpSpPr>
        <p:grpSp>
          <p:nvGrpSpPr>
            <p:cNvPr id="36" name="Group 36"/>
            <p:cNvGrpSpPr/>
            <p:nvPr/>
          </p:nvGrpSpPr>
          <p:grpSpPr>
            <a:xfrm>
              <a:off x="838200" y="3336131"/>
              <a:ext cx="323850" cy="242888"/>
              <a:chOff x="838200" y="3336131"/>
              <a:chExt cx="323850" cy="24288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3336131"/>
                <a:ext cx="323850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01203">
                    <a:moveTo>
                      <a:pt x="323850" y="0"/>
                    </a:moveTo>
                    <a:lnTo>
                      <a:pt x="0" y="0"/>
                    </a:lnTo>
                    <a:lnTo>
                      <a:pt x="0" y="101203"/>
                    </a:lnTo>
                    <a:lnTo>
                      <a:pt x="323850" y="101203"/>
                    </a:lnTo>
                    <a:lnTo>
                      <a:pt x="323850" y="0"/>
                    </a:lnTo>
                    <a:close/>
                    <a:moveTo>
                      <a:pt x="80962" y="50602"/>
                    </a:moveTo>
                    <a:cubicBezTo>
                      <a:pt x="80962" y="61780"/>
                      <a:pt x="71900" y="70842"/>
                      <a:pt x="60722" y="70842"/>
                    </a:cubicBezTo>
                    <a:cubicBezTo>
                      <a:pt x="49543" y="70842"/>
                      <a:pt x="40481" y="61780"/>
                      <a:pt x="40481" y="50602"/>
                    </a:cubicBezTo>
                    <a:cubicBezTo>
                      <a:pt x="40481" y="39423"/>
                      <a:pt x="49543" y="30361"/>
                      <a:pt x="60722" y="30361"/>
                    </a:cubicBezTo>
                    <a:cubicBezTo>
                      <a:pt x="71900" y="30361"/>
                      <a:pt x="80962" y="39423"/>
                      <a:pt x="80962" y="5060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3477816"/>
                <a:ext cx="323850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01203">
                    <a:moveTo>
                      <a:pt x="323850" y="0"/>
                    </a:moveTo>
                    <a:lnTo>
                      <a:pt x="0" y="0"/>
                    </a:lnTo>
                    <a:lnTo>
                      <a:pt x="0" y="101203"/>
                    </a:lnTo>
                    <a:lnTo>
                      <a:pt x="323850" y="101203"/>
                    </a:lnTo>
                    <a:lnTo>
                      <a:pt x="323850" y="0"/>
                    </a:lnTo>
                    <a:close/>
                    <a:moveTo>
                      <a:pt x="60722" y="70842"/>
                    </a:moveTo>
                    <a:cubicBezTo>
                      <a:pt x="71900" y="70842"/>
                      <a:pt x="80962" y="61780"/>
                      <a:pt x="80962" y="50602"/>
                    </a:cubicBezTo>
                    <a:cubicBezTo>
                      <a:pt x="80962" y="39423"/>
                      <a:pt x="71900" y="30361"/>
                      <a:pt x="60722" y="30361"/>
                    </a:cubicBezTo>
                    <a:cubicBezTo>
                      <a:pt x="49543" y="30361"/>
                      <a:pt x="40481" y="39423"/>
                      <a:pt x="40481" y="50602"/>
                    </a:cubicBezTo>
                    <a:cubicBezTo>
                      <a:pt x="40481" y="61780"/>
                      <a:pt x="49543" y="70842"/>
                      <a:pt x="60722" y="7084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285494" y="33327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接口清单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21280" y="3381375"/>
              <a:ext cx="5144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chat / stream / confirm / feedback / admin / health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49718" y="33651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前后端边界和运营入口均可复查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4924" y="3348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3886200"/>
            <a:ext cx="10283876" cy="418529"/>
            <a:chOff x="838200" y="3886200"/>
            <a:chExt cx="10283876" cy="418529"/>
          </a:xfrm>
        </p:grpSpPr>
        <p:sp>
          <p:nvSpPr>
            <p:cNvPr id="42" name="Freeform 42"/>
            <p:cNvSpPr/>
            <p:nvPr/>
          </p:nvSpPr>
          <p:spPr>
            <a:xfrm>
              <a:off x="838200" y="38862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257200" y="115515"/>
                  </a:moveTo>
                  <a:lnTo>
                    <a:pt x="228575" y="86891"/>
                  </a:lnTo>
                  <a:lnTo>
                    <a:pt x="131564" y="183902"/>
                  </a:lnTo>
                  <a:lnTo>
                    <a:pt x="95275" y="147613"/>
                  </a:lnTo>
                  <a:lnTo>
                    <a:pt x="66650" y="176237"/>
                  </a:lnTo>
                  <a:lnTo>
                    <a:pt x="131564" y="241151"/>
                  </a:lnTo>
                  <a:lnTo>
                    <a:pt x="257200" y="115515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85494" y="39233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测试文档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20518" y="3955732"/>
              <a:ext cx="7188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36 份测试数据与回归说明，覆盖反馈、监控、HITL、MCP、Supervisor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49718" y="3955732"/>
              <a:ext cx="2726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从“能运行”推进到“能回归”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94924" y="39395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8441" y="4476750"/>
            <a:ext cx="10362009" cy="418529"/>
            <a:chOff x="858441" y="4476750"/>
            <a:chExt cx="10362009" cy="418529"/>
          </a:xfrm>
        </p:grpSpPr>
        <p:grpSp>
          <p:nvGrpSpPr>
            <p:cNvPr id="50" name="Group 50"/>
            <p:cNvGrpSpPr/>
            <p:nvPr/>
          </p:nvGrpSpPr>
          <p:grpSpPr>
            <a:xfrm>
              <a:off x="858441" y="4476750"/>
              <a:ext cx="283368" cy="323850"/>
              <a:chOff x="858441" y="4476750"/>
              <a:chExt cx="283368" cy="3238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39403" y="4476750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121444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80962"/>
                    </a:lnTo>
                    <a:lnTo>
                      <a:pt x="121444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58441" y="4557712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202406"/>
                    </a:lnTo>
                    <a:lnTo>
                      <a:pt x="40481" y="202406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285494" y="45138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协议规范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20518" y="4546282"/>
              <a:ext cx="46124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Agent 卡片协议、接入改造设计、AI 执行规范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9718" y="45462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结构化展示和工具接入具备统一语言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94924" y="4530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78681" y="5067300"/>
            <a:ext cx="11008138" cy="418529"/>
            <a:chOff x="878681" y="5067300"/>
            <a:chExt cx="11008138" cy="418529"/>
          </a:xfrm>
        </p:grpSpPr>
        <p:sp>
          <p:nvSpPr>
            <p:cNvPr id="56" name="Freeform 56"/>
            <p:cNvSpPr/>
            <p:nvPr/>
          </p:nvSpPr>
          <p:spPr>
            <a:xfrm>
              <a:off x="878681" y="506730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141684" y="141684"/>
                  </a:moveTo>
                  <a:lnTo>
                    <a:pt x="161925" y="0"/>
                  </a:lnTo>
                  <a:lnTo>
                    <a:pt x="121444" y="0"/>
                  </a:lnTo>
                  <a:lnTo>
                    <a:pt x="0" y="141684"/>
                  </a:lnTo>
                  <a:lnTo>
                    <a:pt x="0" y="182166"/>
                  </a:lnTo>
                  <a:lnTo>
                    <a:pt x="101203" y="182166"/>
                  </a:lnTo>
                  <a:lnTo>
                    <a:pt x="80962" y="323850"/>
                  </a:lnTo>
                  <a:lnTo>
                    <a:pt x="121444" y="323850"/>
                  </a:lnTo>
                  <a:lnTo>
                    <a:pt x="242888" y="182166"/>
                  </a:lnTo>
                  <a:lnTo>
                    <a:pt x="242888" y="141684"/>
                  </a:lnTo>
                  <a:lnTo>
                    <a:pt x="141684" y="141684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85494" y="51044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工程验证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21280" y="5153025"/>
              <a:ext cx="4478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compileall / build / UI regression / Playwright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49718" y="5136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编译、构建、静态检查与真浏览器回归闭合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94924" y="5120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90700" y="5810250"/>
            <a:ext cx="8610600" cy="535419"/>
            <a:chOff x="1790700" y="5810250"/>
            <a:chExt cx="8610600" cy="535419"/>
          </a:xfrm>
        </p:grpSpPr>
        <p:sp>
          <p:nvSpPr>
            <p:cNvPr id="62" name="Rectangle 62"/>
            <p:cNvSpPr/>
            <p:nvPr/>
          </p:nvSpPr>
          <p:spPr>
            <a:xfrm>
              <a:off x="1790700" y="5810250"/>
              <a:ext cx="8610600" cy="495300"/>
            </a:xfrm>
            <a:prstGeom prst="roundRect">
              <a:avLst>
                <a:gd name="adj" fmla="val 1153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198903" y="5934951"/>
              <a:ext cx="77391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交付不是一组截图，而是一条从需求到回归的可审计证据链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472221" y="6391989"/>
            <a:ext cx="4884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P13 · basic table adaptation · Source: Agent 系统验收说明文档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33" grpId="0"/>
      <p:bldP spid="41" grpId="0"/>
      <p:bldP spid="47" grpId="0"/>
      <p:bldP spid="55" grpId="0"/>
      <p:bldP spid="6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762000" y="1428750"/>
              <a:ext cx="10668000" cy="4572000"/>
            </a:xfrm>
            <a:custGeom>
              <a:avLst/>
              <a:gdLst/>
              <a:ahLst/>
              <a:cxnLst/>
              <a:rect l="l" t="t" r="r" b="b"/>
              <a:pathLst>
                <a:path w="10668000" h="4572000">
                  <a:moveTo>
                    <a:pt x="0" y="0"/>
                  </a:moveTo>
                  <a:lnTo>
                    <a:pt x="10668000" y="0"/>
                  </a:lnTo>
                  <a:moveTo>
                    <a:pt x="0" y="1143000"/>
                  </a:moveTo>
                  <a:lnTo>
                    <a:pt x="10668000" y="1143000"/>
                  </a:lnTo>
                  <a:moveTo>
                    <a:pt x="0" y="2286000"/>
                  </a:moveTo>
                  <a:lnTo>
                    <a:pt x="10668000" y="2286000"/>
                  </a:lnTo>
                  <a:moveTo>
                    <a:pt x="0" y="3429000"/>
                  </a:moveTo>
                  <a:lnTo>
                    <a:pt x="10668000" y="3429000"/>
                  </a:lnTo>
                  <a:moveTo>
                    <a:pt x="0" y="4572000"/>
                  </a:moveTo>
                  <a:lnTo>
                    <a:pt x="10668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  <p:sp>
          <p:nvSpPr>
            <p:cNvPr id="4" name="Freeform 4"/>
            <p:cNvSpPr/>
            <p:nvPr/>
          </p:nvSpPr>
          <p:spPr>
            <a:xfrm>
              <a:off x="6096000" y="140970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A3A52"/>
              </a:solidFill>
              <a:tailEnd type="triangle" w="lg" len="lg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0512209" cy="946594"/>
            <a:chOff x="514350" y="264795"/>
            <a:chExt cx="10512209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05122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现场演示应先给用户体验，再揭示后台治理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最顺的演示路径是先看用户侧，再看运营侧，最后回到架构价值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0600" y="1371600"/>
            <a:ext cx="5353050" cy="895350"/>
            <a:chOff x="990600" y="1371600"/>
            <a:chExt cx="5353050" cy="895350"/>
          </a:xfrm>
        </p:grpSpPr>
        <p:sp>
          <p:nvSpPr>
            <p:cNvPr id="9" name="Ellipse 9"/>
            <p:cNvSpPr/>
            <p:nvPr/>
          </p:nvSpPr>
          <p:spPr>
            <a:xfrm>
              <a:off x="5848350" y="1428750"/>
              <a:ext cx="495300" cy="4953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46919" y="15678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90600" y="1371600"/>
              <a:ext cx="4095750" cy="895350"/>
            </a:xfrm>
            <a:prstGeom prst="roundRect">
              <a:avLst>
                <a:gd name="adj" fmla="val 638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38250" y="1638300"/>
              <a:ext cx="323850" cy="303609"/>
            </a:xfrm>
            <a:custGeom>
              <a:avLst/>
              <a:gdLst/>
              <a:ahLst/>
              <a:cxnLst/>
              <a:rect l="l" t="t" r="r" b="b"/>
              <a:pathLst>
                <a:path w="323850" h="303609">
                  <a:moveTo>
                    <a:pt x="182166" y="0"/>
                  </a:moveTo>
                  <a:lnTo>
                    <a:pt x="182166" y="40481"/>
                  </a:lnTo>
                  <a:lnTo>
                    <a:pt x="263128" y="40481"/>
                  </a:lnTo>
                  <a:lnTo>
                    <a:pt x="323850" y="172045"/>
                  </a:lnTo>
                  <a:lnTo>
                    <a:pt x="263128" y="303609"/>
                  </a:lnTo>
                  <a:lnTo>
                    <a:pt x="60722" y="303609"/>
                  </a:lnTo>
                  <a:lnTo>
                    <a:pt x="0" y="172045"/>
                  </a:lnTo>
                  <a:lnTo>
                    <a:pt x="60722" y="40481"/>
                  </a:lnTo>
                  <a:lnTo>
                    <a:pt x="141684" y="40481"/>
                  </a:lnTo>
                  <a:lnTo>
                    <a:pt x="141684" y="0"/>
                  </a:lnTo>
                  <a:lnTo>
                    <a:pt x="182166" y="0"/>
                  </a:lnTo>
                  <a:close/>
                  <a:moveTo>
                    <a:pt x="93065" y="237593"/>
                  </a:moveTo>
                  <a:lnTo>
                    <a:pt x="161925" y="248186"/>
                  </a:lnTo>
                  <a:lnTo>
                    <a:pt x="230786" y="237593"/>
                  </a:lnTo>
                  <a:lnTo>
                    <a:pt x="224628" y="197581"/>
                  </a:lnTo>
                  <a:lnTo>
                    <a:pt x="161925" y="207228"/>
                  </a:lnTo>
                  <a:lnTo>
                    <a:pt x="99221" y="197581"/>
                  </a:lnTo>
                  <a:lnTo>
                    <a:pt x="93065" y="237593"/>
                  </a:lnTo>
                  <a:close/>
                  <a:moveTo>
                    <a:pt x="141684" y="136624"/>
                  </a:moveTo>
                  <a:cubicBezTo>
                    <a:pt x="141684" y="150598"/>
                    <a:pt x="130357" y="161925"/>
                    <a:pt x="116384" y="161925"/>
                  </a:cubicBezTo>
                  <a:cubicBezTo>
                    <a:pt x="102410" y="161925"/>
                    <a:pt x="91083" y="150598"/>
                    <a:pt x="91083" y="136624"/>
                  </a:cubicBezTo>
                  <a:cubicBezTo>
                    <a:pt x="91083" y="122651"/>
                    <a:pt x="102410" y="111323"/>
                    <a:pt x="116384" y="111323"/>
                  </a:cubicBezTo>
                  <a:cubicBezTo>
                    <a:pt x="130357" y="111323"/>
                    <a:pt x="141684" y="122651"/>
                    <a:pt x="141684" y="136624"/>
                  </a:cubicBezTo>
                  <a:close/>
                  <a:moveTo>
                    <a:pt x="207466" y="161925"/>
                  </a:moveTo>
                  <a:cubicBezTo>
                    <a:pt x="221441" y="161925"/>
                    <a:pt x="232767" y="150598"/>
                    <a:pt x="232767" y="136624"/>
                  </a:cubicBezTo>
                  <a:cubicBezTo>
                    <a:pt x="232767" y="122651"/>
                    <a:pt x="221441" y="111323"/>
                    <a:pt x="207466" y="111323"/>
                  </a:cubicBezTo>
                  <a:cubicBezTo>
                    <a:pt x="193493" y="111323"/>
                    <a:pt x="182166" y="122651"/>
                    <a:pt x="182166" y="136624"/>
                  </a:cubicBezTo>
                  <a:cubicBezTo>
                    <a:pt x="182166" y="150598"/>
                    <a:pt x="193493" y="161925"/>
                    <a:pt x="207466" y="161925"/>
                  </a:cubicBez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84782" y="15640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先讲目标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7830" y="1933575"/>
              <a:ext cx="2945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不是聊天框，是 Agent 工程体系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848350" y="2476500"/>
            <a:ext cx="5790161" cy="1104900"/>
            <a:chOff x="5848350" y="2476500"/>
            <a:chExt cx="5790161" cy="1104900"/>
          </a:xfrm>
        </p:grpSpPr>
        <p:sp>
          <p:nvSpPr>
            <p:cNvPr id="16" name="Ellipse 16"/>
            <p:cNvSpPr/>
            <p:nvPr/>
          </p:nvSpPr>
          <p:spPr>
            <a:xfrm>
              <a:off x="5848350" y="2533650"/>
              <a:ext cx="495300" cy="495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6919" y="26727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05650" y="2476500"/>
              <a:ext cx="4095750" cy="1104900"/>
            </a:xfrm>
            <a:prstGeom prst="roundRect">
              <a:avLst>
                <a:gd name="adj" fmla="val 517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53300" y="2763441"/>
              <a:ext cx="323850" cy="283368"/>
              <a:chOff x="7353300" y="2763441"/>
              <a:chExt cx="323850" cy="28336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414022" y="2763441"/>
                <a:ext cx="101203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101203">
                    <a:moveTo>
                      <a:pt x="101203" y="50602"/>
                    </a:moveTo>
                    <a:cubicBezTo>
                      <a:pt x="101203" y="78548"/>
                      <a:pt x="78548" y="101203"/>
                      <a:pt x="50602" y="101203"/>
                    </a:cubicBezTo>
                    <a:cubicBezTo>
                      <a:pt x="22655" y="101203"/>
                      <a:pt x="0" y="78548"/>
                      <a:pt x="0" y="50602"/>
                    </a:cubicBezTo>
                    <a:cubicBezTo>
                      <a:pt x="0" y="22655"/>
                      <a:pt x="22655" y="0"/>
                      <a:pt x="50602" y="0"/>
                    </a:cubicBezTo>
                    <a:cubicBezTo>
                      <a:pt x="78548" y="0"/>
                      <a:pt x="101203" y="22655"/>
                      <a:pt x="101203" y="50602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353300" y="2905125"/>
                <a:ext cx="161925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41684">
                    <a:moveTo>
                      <a:pt x="60722" y="0"/>
                    </a:moveTo>
                    <a:cubicBezTo>
                      <a:pt x="27186" y="0"/>
                      <a:pt x="0" y="27186"/>
                      <a:pt x="0" y="60722"/>
                    </a:cubicBezTo>
                    <a:lnTo>
                      <a:pt x="0" y="141684"/>
                    </a:lnTo>
                    <a:lnTo>
                      <a:pt x="161925" y="141684"/>
                    </a:lnTo>
                    <a:lnTo>
                      <a:pt x="161925" y="0"/>
                    </a:lnTo>
                    <a:lnTo>
                      <a:pt x="60722" y="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555706" y="2905125"/>
                <a:ext cx="121444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41684">
                    <a:moveTo>
                      <a:pt x="60722" y="0"/>
                    </a:moveTo>
                    <a:lnTo>
                      <a:pt x="0" y="0"/>
                    </a:lnTo>
                    <a:lnTo>
                      <a:pt x="0" y="141684"/>
                    </a:lnTo>
                    <a:lnTo>
                      <a:pt x="121444" y="141684"/>
                    </a:lnTo>
                    <a:lnTo>
                      <a:pt x="121444" y="60722"/>
                    </a:lnTo>
                    <a:cubicBezTo>
                      <a:pt x="121444" y="27186"/>
                      <a:pt x="94259" y="0"/>
                      <a:pt x="60722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555706" y="27836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40481" y="80962"/>
                    </a:moveTo>
                    <a:cubicBezTo>
                      <a:pt x="62839" y="80962"/>
                      <a:pt x="80962" y="62838"/>
                      <a:pt x="80962" y="40481"/>
                    </a:cubicBezTo>
                    <a:cubicBezTo>
                      <a:pt x="80962" y="18124"/>
                      <a:pt x="62839" y="0"/>
                      <a:pt x="40481" y="0"/>
                    </a:cubicBezTo>
                    <a:cubicBezTo>
                      <a:pt x="18123" y="0"/>
                      <a:pt x="0" y="18124"/>
                      <a:pt x="0" y="40481"/>
                    </a:cubicBezTo>
                    <a:cubicBezTo>
                      <a:pt x="0" y="62838"/>
                      <a:pt x="18123" y="80962"/>
                      <a:pt x="40481" y="80962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799832" y="2668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展示用户侧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82548" y="3153918"/>
              <a:ext cx="405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主对话页、Persona、结构化卡片、快捷工具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0600" y="3752850"/>
            <a:ext cx="5353050" cy="1104900"/>
            <a:chOff x="990600" y="3752850"/>
            <a:chExt cx="5353050" cy="1104900"/>
          </a:xfrm>
        </p:grpSpPr>
        <p:sp>
          <p:nvSpPr>
            <p:cNvPr id="27" name="Ellipse 27"/>
            <p:cNvSpPr/>
            <p:nvPr/>
          </p:nvSpPr>
          <p:spPr>
            <a:xfrm>
              <a:off x="5848350" y="3810000"/>
              <a:ext cx="495300" cy="495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46919" y="3949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90600" y="3752850"/>
              <a:ext cx="4095750" cy="1104900"/>
            </a:xfrm>
            <a:prstGeom prst="roundRect">
              <a:avLst>
                <a:gd name="adj" fmla="val 517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258491" y="4039791"/>
              <a:ext cx="283369" cy="283369"/>
              <a:chOff x="1258491" y="4039791"/>
              <a:chExt cx="283369" cy="28336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258491" y="4039791"/>
                <a:ext cx="283369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83369">
                    <a:moveTo>
                      <a:pt x="0" y="0"/>
                    </a:moveTo>
                    <a:lnTo>
                      <a:pt x="0" y="283369"/>
                    </a:lnTo>
                    <a:lnTo>
                      <a:pt x="283369" y="283369"/>
                    </a:lnTo>
                    <a:lnTo>
                      <a:pt x="283369" y="242888"/>
                    </a:lnTo>
                    <a:lnTo>
                      <a:pt x="40481" y="242888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39453" y="4080272"/>
                <a:ext cx="202406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61925">
                    <a:moveTo>
                      <a:pt x="0" y="80962"/>
                    </a:moveTo>
                    <a:lnTo>
                      <a:pt x="40481" y="40481"/>
                    </a:lnTo>
                    <a:lnTo>
                      <a:pt x="101203" y="101203"/>
                    </a:lnTo>
                    <a:lnTo>
                      <a:pt x="202406" y="0"/>
                    </a:lnTo>
                    <a:lnTo>
                      <a:pt x="202406" y="161925"/>
                    </a:lnTo>
                    <a:lnTo>
                      <a:pt x="0" y="161925"/>
                    </a:lnTo>
                    <a:lnTo>
                      <a:pt x="0" y="8096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684782" y="3945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再看运营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87830" y="4333875"/>
              <a:ext cx="4101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反馈闭环、监控面板、任务详情、MCP 健康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848350" y="5029200"/>
            <a:ext cx="7353201" cy="1104900"/>
            <a:chOff x="5848350" y="5029200"/>
            <a:chExt cx="7353201" cy="1104900"/>
          </a:xfrm>
        </p:grpSpPr>
        <p:sp>
          <p:nvSpPr>
            <p:cNvPr id="36" name="Ellipse 36"/>
            <p:cNvSpPr/>
            <p:nvPr/>
          </p:nvSpPr>
          <p:spPr>
            <a:xfrm>
              <a:off x="5848350" y="50863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6919" y="52254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05650" y="5029200"/>
              <a:ext cx="4095750" cy="1104900"/>
            </a:xfrm>
            <a:prstGeom prst="roundRect">
              <a:avLst>
                <a:gd name="adj" fmla="val 517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73541" y="5295900"/>
              <a:ext cx="283369" cy="323850"/>
              <a:chOff x="7373541" y="5295900"/>
              <a:chExt cx="283369" cy="3238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73541" y="5295900"/>
                <a:ext cx="283369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61925">
                    <a:moveTo>
                      <a:pt x="0" y="101203"/>
                    </a:moveTo>
                    <a:lnTo>
                      <a:pt x="0" y="60722"/>
                    </a:lnTo>
                    <a:lnTo>
                      <a:pt x="141684" y="0"/>
                    </a:lnTo>
                    <a:lnTo>
                      <a:pt x="283369" y="60722"/>
                    </a:lnTo>
                    <a:lnTo>
                      <a:pt x="283369" y="101203"/>
                    </a:lnTo>
                    <a:lnTo>
                      <a:pt x="141684" y="161925"/>
                    </a:lnTo>
                    <a:lnTo>
                      <a:pt x="0" y="101203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73541" y="5518547"/>
                <a:ext cx="283369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01203">
                    <a:moveTo>
                      <a:pt x="141684" y="101203"/>
                    </a:moveTo>
                    <a:lnTo>
                      <a:pt x="0" y="40481"/>
                    </a:lnTo>
                    <a:lnTo>
                      <a:pt x="0" y="0"/>
                    </a:lnTo>
                    <a:lnTo>
                      <a:pt x="141684" y="60722"/>
                    </a:lnTo>
                    <a:lnTo>
                      <a:pt x="283369" y="0"/>
                    </a:lnTo>
                    <a:lnTo>
                      <a:pt x="283369" y="40481"/>
                    </a:lnTo>
                    <a:lnTo>
                      <a:pt x="141684" y="101203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373541" y="5437584"/>
                <a:ext cx="283369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01203">
                    <a:moveTo>
                      <a:pt x="0" y="40481"/>
                    </a:moveTo>
                    <a:lnTo>
                      <a:pt x="141684" y="101203"/>
                    </a:lnTo>
                    <a:lnTo>
                      <a:pt x="283369" y="40481"/>
                    </a:lnTo>
                    <a:lnTo>
                      <a:pt x="283369" y="0"/>
                    </a:lnTo>
                    <a:lnTo>
                      <a:pt x="141684" y="60722"/>
                    </a:lnTo>
                    <a:lnTo>
                      <a:pt x="0" y="0"/>
                    </a:lnTo>
                    <a:lnTo>
                      <a:pt x="0" y="40481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799832" y="5221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回到架构价值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02880" y="5610225"/>
              <a:ext cx="5398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Planner、BaseTool、HITL、Supervisor 说明为什么可持续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53175" y="6290310"/>
            <a:ext cx="6285650" cy="234696"/>
            <a:chOff x="2953175" y="6290310"/>
            <a:chExt cx="6285650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2953175" y="6290310"/>
              <a:ext cx="6285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EA3"/>
                  </a:solidFill>
                  <a:latin typeface="Arial"/>
                  <a:ea typeface="Microsoft YaHei"/>
                  <a:cs typeface="Arial"/>
                </a:rPr>
                <a:t>P14 · roadmap vertical adaptation · 建议演示节奏：体验先行、治理随后、架构收口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35" grpId="0"/>
      <p:bldP spid="45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70D">
                    <a:alpha val="96000"/>
                  </a:srgbClr>
                </a:gs>
                <a:gs pos="62000">
                  <a:srgbClr val="05070D">
                    <a:alpha val="78000"/>
                  </a:srgbClr>
                </a:gs>
                <a:gs pos="100000">
                  <a:srgbClr val="05070D">
                    <a:alpha val="34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685800" y="685800"/>
              <a:ext cx="10648950" cy="5486400"/>
            </a:xfrm>
            <a:custGeom>
              <a:avLst/>
              <a:gdLst/>
              <a:ahLst/>
              <a:cxnLst/>
              <a:rect l="l" t="t" r="r" b="b"/>
              <a:pathLst>
                <a:path w="10648950" h="5486400">
                  <a:moveTo>
                    <a:pt x="0" y="304800"/>
                  </a:moveTo>
                  <a:lnTo>
                    <a:pt x="10648950" y="304800"/>
                  </a:lnTo>
                  <a:moveTo>
                    <a:pt x="0" y="5181600"/>
                  </a:moveTo>
                  <a:lnTo>
                    <a:pt x="10648950" y="5181600"/>
                  </a:lnTo>
                  <a:moveTo>
                    <a:pt x="304800" y="0"/>
                  </a:moveTo>
                  <a:lnTo>
                    <a:pt x="304800" y="5486400"/>
                  </a:lnTo>
                  <a:moveTo>
                    <a:pt x="10515600" y="0"/>
                  </a:moveTo>
                  <a:lnTo>
                    <a:pt x="10515600" y="54864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04850" y="626745"/>
            <a:ext cx="11063478" cy="1022794"/>
            <a:chOff x="704850" y="626745"/>
            <a:chExt cx="11063478" cy="1022794"/>
          </a:xfrm>
        </p:grpSpPr>
        <p:sp>
          <p:nvSpPr>
            <p:cNvPr id="7" name="TextBox 7"/>
            <p:cNvSpPr txBox="1"/>
            <p:nvPr/>
          </p:nvSpPr>
          <p:spPr>
            <a:xfrm>
              <a:off x="704850" y="626745"/>
              <a:ext cx="110634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最小闭环已经闭上，下一步重点是治理复杂度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4568" y="1326832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后续优化不应只横向加功能，应提升能力治理、冷启动、观测和回归效率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8096" y="2429828"/>
            <a:ext cx="9178602" cy="2115311"/>
            <a:chOff x="768096" y="2429828"/>
            <a:chExt cx="9178602" cy="2115311"/>
          </a:xfrm>
        </p:grpSpPr>
        <p:sp>
          <p:nvSpPr>
            <p:cNvPr id="10" name="TextBox 10"/>
            <p:cNvSpPr txBox="1"/>
            <p:nvPr/>
          </p:nvSpPr>
          <p:spPr>
            <a:xfrm>
              <a:off x="768096" y="2429828"/>
              <a:ext cx="9178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G_agent = Catalog + Startup + Observe + Regression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00100" y="3009900"/>
              <a:ext cx="8324850" cy="9525"/>
            </a:xfrm>
            <a:custGeom>
              <a:avLst/>
              <a:gdLst/>
              <a:ahLst/>
              <a:cxnLst/>
              <a:rect l="l" t="t" r="r" b="b"/>
              <a:pathLst>
                <a:path w="8324850" h="9525">
                  <a:moveTo>
                    <a:pt x="0" y="0"/>
                  </a:moveTo>
                  <a:lnTo>
                    <a:pt x="83248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7DD3FC"/>
              </a:solidFill>
              <a:prstDash val="lg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7146" y="3287078"/>
              <a:ext cx="79556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治理的目标不是让功能更多，是让复杂度可被管理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1718" y="3879532"/>
              <a:ext cx="693191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当前系统已经把能力、协议、体验和观测收口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下一步要让能力目录、卡片协议、测试数据和监控面板继续沉淀成长期资产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7710" y="5067300"/>
            <a:ext cx="9275940" cy="735139"/>
            <a:chOff x="877710" y="5067300"/>
            <a:chExt cx="9275940" cy="735139"/>
          </a:xfrm>
        </p:grpSpPr>
        <p:sp>
          <p:nvSpPr>
            <p:cNvPr id="15" name="Freeform 15"/>
            <p:cNvSpPr/>
            <p:nvPr/>
          </p:nvSpPr>
          <p:spPr>
            <a:xfrm>
              <a:off x="895350" y="5219700"/>
              <a:ext cx="9258300" cy="9525"/>
            </a:xfrm>
            <a:custGeom>
              <a:avLst/>
              <a:gdLst/>
              <a:ahLst/>
              <a:cxnLst/>
              <a:rect l="l" t="t" r="r" b="b"/>
              <a:pathLst>
                <a:path w="9258300" h="9525">
                  <a:moveTo>
                    <a:pt x="0" y="0"/>
                  </a:moveTo>
                  <a:lnTo>
                    <a:pt x="92583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A3A5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200150" y="5067300"/>
              <a:ext cx="304800" cy="3048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771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能力目录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924300" y="5067300"/>
              <a:ext cx="304800" cy="3048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0186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卡片扩展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648450" y="5067300"/>
              <a:ext cx="304800" cy="304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601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测试沉淀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372600" y="5067300"/>
              <a:ext cx="304800" cy="3048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5016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辅助决策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20250" y="2095500"/>
            <a:ext cx="1581150" cy="2590800"/>
            <a:chOff x="9620250" y="2095500"/>
            <a:chExt cx="1581150" cy="2590800"/>
          </a:xfrm>
        </p:grpSpPr>
        <p:sp>
          <p:nvSpPr>
            <p:cNvPr id="25" name="Freeform 25"/>
            <p:cNvSpPr/>
            <p:nvPr/>
          </p:nvSpPr>
          <p:spPr>
            <a:xfrm>
              <a:off x="9620250" y="2095500"/>
              <a:ext cx="1581150" cy="2590800"/>
            </a:xfrm>
            <a:custGeom>
              <a:avLst/>
              <a:gdLst/>
              <a:ahLst/>
              <a:cxnLst/>
              <a:rect l="l" t="t" r="r" b="b"/>
              <a:pathLst>
                <a:path w="1581150" h="2590800">
                  <a:moveTo>
                    <a:pt x="0" y="0"/>
                  </a:moveTo>
                  <a:lnTo>
                    <a:pt x="1581150" y="0"/>
                  </a:lnTo>
                  <a:lnTo>
                    <a:pt x="1581150" y="2076450"/>
                  </a:lnTo>
                  <a:lnTo>
                    <a:pt x="762000" y="259080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232231" y="2457450"/>
              <a:ext cx="357188" cy="476250"/>
            </a:xfrm>
            <a:custGeom>
              <a:avLst/>
              <a:gdLst/>
              <a:ahLst/>
              <a:cxnLst/>
              <a:rect l="l" t="t" r="r" b="b"/>
              <a:pathLst>
                <a:path w="357188" h="476250">
                  <a:moveTo>
                    <a:pt x="208359" y="208359"/>
                  </a:moveTo>
                  <a:lnTo>
                    <a:pt x="238125" y="0"/>
                  </a:lnTo>
                  <a:lnTo>
                    <a:pt x="178594" y="0"/>
                  </a:lnTo>
                  <a:lnTo>
                    <a:pt x="0" y="208359"/>
                  </a:lnTo>
                  <a:lnTo>
                    <a:pt x="0" y="267891"/>
                  </a:lnTo>
                  <a:lnTo>
                    <a:pt x="148828" y="267891"/>
                  </a:lnTo>
                  <a:lnTo>
                    <a:pt x="119062" y="476250"/>
                  </a:lnTo>
                  <a:lnTo>
                    <a:pt x="178594" y="476250"/>
                  </a:lnTo>
                  <a:lnTo>
                    <a:pt x="357188" y="267891"/>
                  </a:lnTo>
                  <a:lnTo>
                    <a:pt x="357188" y="208359"/>
                  </a:lnTo>
                  <a:lnTo>
                    <a:pt x="208359" y="208359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63316" y="3090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下一阶段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47136" y="3555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从定位问题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36074" y="38604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走向辅助决策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17804" y="6309360"/>
            <a:ext cx="3691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F8EA3"/>
                </a:solidFill>
                <a:latin typeface="Arial"/>
                <a:ea typeface="Arial"/>
                <a:cs typeface="Arial"/>
              </a:rPr>
              <a:t>P15 · breathing page · Formula + roadmap split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4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70D">
                    <a:alpha val="92000"/>
                  </a:srgbClr>
                </a:gs>
                <a:gs pos="54000">
                  <a:srgbClr val="05070D">
                    <a:alpha val="62000"/>
                  </a:srgbClr>
                </a:gs>
                <a:gs pos="100000">
                  <a:srgbClr val="05070D">
                    <a:alpha val="18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457200"/>
              <a:ext cx="10953750" cy="5943600"/>
            </a:xfrm>
            <a:custGeom>
              <a:avLst/>
              <a:gdLst/>
              <a:ahLst/>
              <a:cxnLst/>
              <a:rect l="l" t="t" r="r" b="b"/>
              <a:pathLst>
                <a:path w="10953750" h="5943600">
                  <a:moveTo>
                    <a:pt x="0" y="361950"/>
                  </a:moveTo>
                  <a:lnTo>
                    <a:pt x="10953750" y="361950"/>
                  </a:lnTo>
                  <a:moveTo>
                    <a:pt x="0" y="5600700"/>
                  </a:moveTo>
                  <a:lnTo>
                    <a:pt x="10953750" y="5600700"/>
                  </a:lnTo>
                  <a:moveTo>
                    <a:pt x="361950" y="0"/>
                  </a:moveTo>
                  <a:lnTo>
                    <a:pt x="361950" y="5943600"/>
                  </a:lnTo>
                  <a:moveTo>
                    <a:pt x="10687050" y="0"/>
                  </a:moveTo>
                  <a:lnTo>
                    <a:pt x="10687050" y="59436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3900" y="1340168"/>
            <a:ext cx="9849326" cy="2422207"/>
            <a:chOff x="723900" y="1340168"/>
            <a:chExt cx="9849326" cy="2422207"/>
          </a:xfrm>
        </p:grpSpPr>
        <p:sp>
          <p:nvSpPr>
            <p:cNvPr id="7" name="TextBox 7"/>
            <p:cNvSpPr txBox="1"/>
            <p:nvPr/>
          </p:nvSpPr>
          <p:spPr>
            <a:xfrm>
              <a:off x="755142" y="1340168"/>
              <a:ext cx="5874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FINAL TAKEAWAY · FROM DEMO TO ENGINEERING SYSTEM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900" y="2162175"/>
              <a:ext cx="9849326" cy="160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700"/>
                </a:lnSpc>
              </a:pPr>
              <a:r>
                <a:rPr lang="zh-CN" sz="4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我们做的不是一个会聊天的功能，</a:t>
              </a:r>
              <a:r>
                <a:rPr lang="zh-CN" sz="45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而是一套能长期运行的 Agent 子系统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6260" y="4000500"/>
            <a:ext cx="8818740" cy="716089"/>
            <a:chOff x="706260" y="4000500"/>
            <a:chExt cx="8818740" cy="716089"/>
          </a:xfrm>
        </p:grpSpPr>
        <p:sp>
          <p:nvSpPr>
            <p:cNvPr id="10" name="Freeform 10"/>
            <p:cNvSpPr/>
            <p:nvPr/>
          </p:nvSpPr>
          <p:spPr>
            <a:xfrm>
              <a:off x="800100" y="4095750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7DD3F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85850" y="4000500"/>
              <a:ext cx="190500" cy="1905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143250" y="400050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200650" y="4000500"/>
              <a:ext cx="190500" cy="1905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258050" y="400050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62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长期运行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636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持续扩展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210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风险治理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84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回归验证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5048250"/>
            <a:ext cx="8035119" cy="811339"/>
            <a:chOff x="781050" y="5048250"/>
            <a:chExt cx="8035119" cy="811339"/>
          </a:xfrm>
        </p:grpSpPr>
        <p:sp>
          <p:nvSpPr>
            <p:cNvPr id="20" name="Rectangle 20"/>
            <p:cNvSpPr/>
            <p:nvPr/>
          </p:nvSpPr>
          <p:spPr>
            <a:xfrm>
              <a:off x="781050" y="5048250"/>
              <a:ext cx="7429500" cy="800100"/>
            </a:xfrm>
            <a:prstGeom prst="roundRect">
              <a:avLst>
                <a:gd name="adj" fmla="val 71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6894" y="51806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验收结论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8418" y="5536882"/>
              <a:ext cx="77577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v1.0 - v2.3 已形成可控、可维护、可扩展、可观测、可回归的工程化落地能力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15500" y="4914900"/>
            <a:ext cx="1162050" cy="1166051"/>
            <a:chOff x="9715500" y="4914900"/>
            <a:chExt cx="1162050" cy="1166051"/>
          </a:xfrm>
        </p:grpSpPr>
        <p:sp>
          <p:nvSpPr>
            <p:cNvPr id="24" name="Rectangle 24"/>
            <p:cNvSpPr/>
            <p:nvPr/>
          </p:nvSpPr>
          <p:spPr>
            <a:xfrm>
              <a:off x="9715500" y="4914900"/>
              <a:ext cx="116205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982200" y="5181600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325" y="628650"/>
                  </a:moveTo>
                  <a:cubicBezTo>
                    <a:pt x="487923" y="628650"/>
                    <a:pt x="628650" y="487923"/>
                    <a:pt x="628650" y="314325"/>
                  </a:cubicBezTo>
                  <a:cubicBezTo>
                    <a:pt x="628650" y="140728"/>
                    <a:pt x="487923" y="0"/>
                    <a:pt x="314325" y="0"/>
                  </a:cubicBezTo>
                  <a:cubicBezTo>
                    <a:pt x="140728" y="0"/>
                    <a:pt x="0" y="140728"/>
                    <a:pt x="0" y="314325"/>
                  </a:cubicBezTo>
                  <a:cubicBezTo>
                    <a:pt x="0" y="487923"/>
                    <a:pt x="140728" y="628650"/>
                    <a:pt x="314325" y="628650"/>
                  </a:cubicBezTo>
                  <a:close/>
                  <a:moveTo>
                    <a:pt x="499270" y="224236"/>
                  </a:moveTo>
                  <a:lnTo>
                    <a:pt x="443705" y="168670"/>
                  </a:lnTo>
                  <a:lnTo>
                    <a:pt x="255389" y="356986"/>
                  </a:lnTo>
                  <a:lnTo>
                    <a:pt x="184945" y="286542"/>
                  </a:lnTo>
                  <a:lnTo>
                    <a:pt x="129380" y="342108"/>
                  </a:lnTo>
                  <a:lnTo>
                    <a:pt x="255389" y="468116"/>
                  </a:lnTo>
                  <a:lnTo>
                    <a:pt x="499270" y="22423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67214" y="5816918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ACCEPTED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5904" y="6347460"/>
            <a:ext cx="4322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Source: Agent 系统介绍演讲稿 + Agent 系统验收说明文档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3" grpId="0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2026-06-30T10:00:12Z</dcterms:created>
  <dcterms:modified xsi:type="dcterms:W3CDTF">2026-06-30T10:00:12Z</dcterms:modified>
  <cp:category/>
  <cp:contentStatus/>
</cp:coreProperties>
</file>